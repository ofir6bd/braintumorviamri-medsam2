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SUMMARY: Introduces the project: segmenting brain tumours on MRI by combining YOLO and MedSAM2.</a:t>
            </a:r>
          </a:p>
          <a:p/>
          <a:p>
            <a:r>
              <a:t>KEY TAKEAWAY: We combine a fast 2D detector with a 3D-aware promptable model to outline brain tumours.</a:t>
            </a:r>
          </a:p>
          <a:p>
            <a:r>
              <a:t>- The picture shows the whole pipeline on one slice, left to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SUMMARY: Explains the clinical need for automatic tumour outlining.</a:t>
            </a:r>
          </a:p>
          <a:p/>
          <a:p>
            <a:r>
              <a:t>KEY TAKEAWAY: Automatic 3D segmentation saves expert time and makes tumour measurements consistent.</a:t>
            </a:r>
          </a:p>
          <a:p>
            <a:r>
              <a:t>- Manual contouring is the bottleneck; variability between experts limits how 'perfect' any model can look.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SUMMARY: Shows the MRI sequences, the four labelled tumour parts and how results are scored.</a:t>
            </a:r>
          </a:p>
          <a:p/>
          <a:p>
            <a:r>
              <a:t>KEY TAKEAWAY: Different MRI sequences show different tumour parts; we score the whole-tumour outline with 3D Dice.</a:t>
            </a:r>
          </a:p>
          <a:p>
            <a:r>
              <a:t>- 85% of the scans are post-operative (they contain a surgery cavity).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SUMMARY: Introduces the two models and why they complement each other.</a:t>
            </a:r>
          </a:p>
          <a:p/>
          <a:p>
            <a:r>
              <a:t>KEY TAKEAWAY: YOLO is good at finding the tumour on a slice; MedSAM2 can refine it using the slices around it.</a:t>
            </a:r>
          </a:p>
          <a:p>
            <a:r>
              <a:t>- Weight counts measured on the actual checkpoint: 38,962,498 in total.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SUMMARY: States the research question and the rules that keep the comparison fair.</a:t>
            </a:r>
          </a:p>
          <a:p/>
          <a:p>
            <a:r>
              <a:t>KEY TAKEAWAY: A fair two-stage test: does adding MedSAM2 beat the best YOLO we could build?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SUMMARY: Shows how the data was split into five pools and why.</a:t>
            </a:r>
          </a:p>
          <a:p/>
          <a:p>
            <a:r>
              <a:t>KEY TAKEAWAY: Keeping the two models' people apart makes MedSAM2's training hints realistic.</a:t>
            </a:r>
          </a:p>
          <a:p>
            <a:r>
              <a:t>- 221 scans were moved from MedSAM2 train to YOLO train on 2026-09-29 after the learning curves.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SUMMARY: Presents the web app built to explore the dataset and the results.</a:t>
            </a:r>
          </a:p>
          <a:p/>
          <a:p>
            <a:r>
              <a:t>KEY TAKEAWAY: Understanding sizes, sides and pieces explained where the models struggle.</a:t>
            </a:r>
          </a:p>
          <a:p>
            <a:r>
              <a:t>- Heat map: where tumour centres are, seen from above (patient's right on the viewer's left).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SUMMARY: Walks through the full inference pipeline from MRI slices to the final 3D mask.</a:t>
            </a:r>
          </a:p>
          <a:p/>
          <a:p>
            <a:r>
              <a:t>KEY TAKEAWAY: MedSAM2 doesn't search from scratch; it corrects YOLO's guess using the neighbouring slices.</a:t>
            </a:r>
          </a:p>
          <a:p>
            <a:r>
              <a:t>- Start slice = the slice where YOLO is most confident (area × score).</a:t>
            </a:r>
          </a:p>
          <a:p>
            <a:r>
              <a:t>- Mirror check: the mirrored copy runs in the same batch, so it costs almost nothing.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SUMMARY: Describes how YOLO was fine-tuned and how well it does on its own.</a:t>
            </a:r>
          </a:p>
          <a:p/>
          <a:p>
            <a:r>
              <a:t>KEY TAKEAWAY: A strong 2D baseline: 0.883 3D Dice on 324 unseen test patients.</a:t>
            </a:r>
          </a:p>
          <a:p>
            <a:r>
              <a:t>- The confidence chart shows lower confidence = more drawn = better 3D Dice, up to 0.05–0.1.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SUMMARY: Explains how YOLO's output becomes the prompt MedSAM2 reads on every slice.</a:t>
            </a:r>
          </a:p>
          <a:p/>
          <a:p>
            <a:r>
              <a:t>KEY TAKEAWAY: YOLO's soft guess plus 3D memory lets MedSAM2 fix single-slice mistakes.</a:t>
            </a:r>
          </a:p>
          <a:p>
            <a:r>
              <a:t>- Picture (left to right): input picture, YOLO's hint, YOLO's own mask, MedSAM2's answer.</a:t>
            </a:r>
          </a:p>
          <a:p>
            <a:r>
              <a:t>- YOLO's own mask uses only shapes ≥ 0.25 and pixels &gt; 50%; it is only for 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SUMMARY: Explains what parts of MedSAM2 are trained and how training teaches correction.</a:t>
            </a:r>
          </a:p>
          <a:p/>
          <a:p>
            <a:r>
              <a:t>KEY TAKEAWAY: Train only the small parts that read the hint and carry memory; keep the big image encoder frozen.</a:t>
            </a:r>
          </a:p>
          <a:p>
            <a:r>
              <a:t>- Check score levels off around round 10 at about 0.90.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SUMMARY: Presents the final test results against YOLO's best setup.</a:t>
            </a:r>
          </a:p>
          <a:p/>
          <a:p>
            <a:r>
              <a:t>KEY TAKEAWAY: Adding MedSAM2 gives a consistent, statistically clear gain over the best YOLO.</a:t>
            </a:r>
          </a:p>
          <a:p>
            <a:r>
              <a:t>- The fair comparison is against 'YOLO best' (0.8834), not 'YOLO alone' (0.8828).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SUMMARY: Breaks results down by tumour size and side and shows one patient slice by slice.</a:t>
            </a:r>
          </a:p>
          <a:p/>
          <a:p>
            <a:r>
              <a:t>KEY TAKEAWAY: Tiny tumours remain the weak spot, and they are where MedSAM2 helps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SUMMARY: Summarises the experiments: the redesign that worked, tuning results, and where errors remain.</a:t>
            </a:r>
          </a:p>
          <a:p/>
          <a:p>
            <a:r>
              <a:t>KEY TAKEAWAY: Design mattered more than tuning; what's left to win is edge precision.</a:t>
            </a:r>
          </a:p>
          <a:p>
            <a:r>
              <a:t>- The old-design numbers were on the earlier pools, so they are compared within that setup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SUMMARY: Lists the most promising next steps and the wider follow-ups.</a:t>
            </a:r>
          </a:p>
          <a:p/>
          <a:p>
            <a:r>
              <a:t>KEY TAKEAWAY: Next gains come from sharper edges and small tumours, then proving it on outside data.</a:t>
            </a:r>
          </a:p>
          <a:p>
            <a:r>
              <a:t>- Experts themselves don't agree perfectly, so expect small gains from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06A2E"/>
                </a:solidFill>
                <a:latin typeface="Segoe UI"/>
              </a:rPr>
              <a:t>CLASS PROJECT · OCTOBER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1051560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0">
                <a:solidFill>
                  <a:srgbClr val="E8EAF2"/>
                </a:solidFill>
                <a:latin typeface="Segoe UI"/>
              </a:rPr>
              <a:t>Brain Tumour Segmentation on MRI with YOLO + MedSAM2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2743200"/>
            <a:ext cx="1280160" cy="64008"/>
          </a:xfrm>
          <a:prstGeom prst="rect">
            <a:avLst/>
          </a:prstGeom>
          <a:solidFill>
            <a:srgbClr val="E0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92608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9AA0B8"/>
                </a:solidFill>
                <a:latin typeface="Segoe UI"/>
              </a:rPr>
              <a:t>A fast 2D detector finds the tumour; a promptable video model refines it in 3D. BraTS 2024 adult glioma, 1,621 MRI scans.</a:t>
            </a:r>
          </a:p>
        </p:txBody>
      </p:sp>
      <p:pic>
        <p:nvPicPr>
          <p:cNvPr id="6" name="Picture 5" descr="ms_pa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5848" y="3886200"/>
            <a:ext cx="7509824" cy="2194560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325848" y="6117336"/>
            <a:ext cx="7509824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One slice: the MRI picture · YOLO's hint · YOLO's own mask · MedSAM2's answer (green = found, red = extra)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0B8"/>
                </a:solidFill>
                <a:latin typeface="Segoe UI"/>
              </a:rPr>
              <a:t>Presented by: ______________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06A2E"/>
                </a:solidFill>
                <a:latin typeface="Segoe UI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E8EAF2"/>
                </a:solidFill>
                <a:latin typeface="Segoe UI"/>
              </a:rPr>
              <a:t>Why segment brain tumours automatically?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005840" cy="54864"/>
          </a:xfrm>
          <a:prstGeom prst="rect">
            <a:avLst/>
          </a:prstGeom>
          <a:solidFill>
            <a:srgbClr val="E0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2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658368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E8EAF2"/>
                </a:solidFill>
                <a:latin typeface="Segoe UI"/>
              </a:rPr>
              <a:t>•  </a:t>
            </a:r>
            <a:r>
              <a:rPr sz="1800" b="1">
                <a:solidFill>
                  <a:srgbClr val="E8EAF2"/>
                </a:solidFill>
                <a:latin typeface="Segoe UI"/>
              </a:rPr>
              <a:t>Gliomas</a:t>
            </a:r>
            <a:r>
              <a:rPr sz="1800" b="0">
                <a:solidFill>
                  <a:srgbClr val="E8EAF2"/>
                </a:solidFill>
                <a:latin typeface="Segoe UI"/>
              </a:rPr>
              <a:t> are the most common malignant primary brain tumours in adults.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E8EAF2"/>
                </a:solidFill>
                <a:latin typeface="Segoe UI"/>
              </a:rPr>
              <a:t>•  Doctors outline the tumour on MRI to </a:t>
            </a:r>
            <a:r>
              <a:rPr sz="1800" b="1">
                <a:solidFill>
                  <a:srgbClr val="E8EAF2"/>
                </a:solidFill>
                <a:latin typeface="Segoe UI"/>
              </a:rPr>
              <a:t>plan surgery and radiotherapy</a:t>
            </a:r>
            <a:r>
              <a:rPr sz="1800" b="0">
                <a:solidFill>
                  <a:srgbClr val="E8EAF2"/>
                </a:solidFill>
                <a:latin typeface="Segoe UI"/>
              </a:rPr>
              <a:t> and to </a:t>
            </a:r>
            <a:r>
              <a:rPr sz="1800" b="1">
                <a:solidFill>
                  <a:srgbClr val="E8EAF2"/>
                </a:solidFill>
                <a:latin typeface="Segoe UI"/>
              </a:rPr>
              <a:t>track change</a:t>
            </a:r>
            <a:r>
              <a:rPr sz="1800" b="0">
                <a:solidFill>
                  <a:srgbClr val="E8EAF2"/>
                </a:solidFill>
                <a:latin typeface="Segoe UI"/>
              </a:rPr>
              <a:t> between scans.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E8EAF2"/>
                </a:solidFill>
                <a:latin typeface="Segoe UI"/>
              </a:rPr>
              <a:t>•  Outlining by hand is </a:t>
            </a:r>
            <a:r>
              <a:rPr sz="1800" b="1">
                <a:solidFill>
                  <a:srgbClr val="E8EAF2"/>
                </a:solidFill>
                <a:latin typeface="Segoe UI"/>
              </a:rPr>
              <a:t>slow</a:t>
            </a:r>
            <a:r>
              <a:rPr sz="1800" b="0">
                <a:solidFill>
                  <a:srgbClr val="E8EAF2"/>
                </a:solidFill>
                <a:latin typeface="Segoe UI"/>
              </a:rPr>
              <a:t>: a scan has well over a hundred slices, each drawn separately.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E8EAF2"/>
                </a:solidFill>
                <a:latin typeface="Segoe UI"/>
              </a:rPr>
              <a:t>•  Experts </a:t>
            </a:r>
            <a:r>
              <a:rPr sz="1800" b="1">
                <a:solidFill>
                  <a:srgbClr val="E8EAF2"/>
                </a:solidFill>
                <a:latin typeface="Segoe UI"/>
              </a:rPr>
              <a:t>don't agree perfectly</a:t>
            </a:r>
            <a:r>
              <a:rPr sz="1800" b="0">
                <a:solidFill>
                  <a:srgbClr val="E8EAF2"/>
                </a:solidFill>
                <a:latin typeface="Segoe UI"/>
              </a:rPr>
              <a:t> with each other, so outlines vary between readers.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E8EAF2"/>
                </a:solidFill>
                <a:latin typeface="Segoe UI"/>
              </a:rPr>
              <a:t>•  Automation goal: a </a:t>
            </a:r>
            <a:r>
              <a:rPr sz="1800" b="1">
                <a:solidFill>
                  <a:srgbClr val="E8EAF2"/>
                </a:solidFill>
                <a:latin typeface="Segoe UI"/>
              </a:rPr>
              <a:t>fast, consistent 3D outline</a:t>
            </a:r>
            <a:r>
              <a:rPr sz="1800" b="0">
                <a:solidFill>
                  <a:srgbClr val="E8EAF2"/>
                </a:solidFill>
                <a:latin typeface="Segoe UI"/>
              </a:rPr>
              <a:t> a doctor only needs to check.</a:t>
            </a:r>
          </a:p>
        </p:txBody>
      </p:sp>
      <p:pic>
        <p:nvPicPr>
          <p:cNvPr id="7" name="Picture 6" descr="mri_flair_se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840" y="1417320"/>
            <a:ext cx="3466719" cy="4114800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867840" y="5568696"/>
            <a:ext cx="3466719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An expert outline on FLAIR (green = swelling, yellow = surgery cavity)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5806440"/>
            <a:ext cx="73152" cy="566928"/>
          </a:xfrm>
          <a:prstGeom prst="rect">
            <a:avLst/>
          </a:prstGeom>
          <a:solidFill>
            <a:srgbClr val="E0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806440"/>
            <a:ext cx="10744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Key takeaway:</a:t>
            </a:r>
            <a:r>
              <a:rPr sz="1600" b="0">
                <a:solidFill>
                  <a:srgbClr val="E8EAF2"/>
                </a:solidFill>
                <a:latin typeface="Segoe UI"/>
              </a:rPr>
              <a:t> Automatic 3D segmentation saves expert time and makes tumour measurements consistent.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06A2E"/>
                </a:solidFill>
                <a:latin typeface="Segoe UI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E8EAF2"/>
                </a:solidFill>
                <a:latin typeface="Segoe UI"/>
              </a:rPr>
              <a:t>MRI sequences and the BraTS 2024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005840" cy="54864"/>
          </a:xfrm>
          <a:prstGeom prst="rect">
            <a:avLst/>
          </a:prstGeom>
          <a:solidFill>
            <a:srgbClr val="E0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3 / 15</a:t>
            </a:r>
          </a:p>
        </p:txBody>
      </p:sp>
      <p:pic>
        <p:nvPicPr>
          <p:cNvPr id="6" name="Picture 5" descr="mri_t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3526"/>
            <a:ext cx="1737360" cy="2062148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48640" y="3582250"/>
            <a:ext cx="17373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T1C (with contrast)</a:t>
            </a:r>
          </a:p>
        </p:txBody>
      </p:sp>
      <p:pic>
        <p:nvPicPr>
          <p:cNvPr id="8" name="Picture 7" descr="mri_t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1483526"/>
            <a:ext cx="1737360" cy="2062148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2423160" y="3582250"/>
            <a:ext cx="17373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T2</a:t>
            </a:r>
          </a:p>
        </p:txBody>
      </p:sp>
      <p:pic>
        <p:nvPicPr>
          <p:cNvPr id="10" name="Picture 9" descr="mri_flai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9" y="1483526"/>
            <a:ext cx="1737360" cy="2062148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297679" y="3582250"/>
            <a:ext cx="17373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FLAIR</a:t>
            </a:r>
          </a:p>
        </p:txBody>
      </p:sp>
      <p:pic>
        <p:nvPicPr>
          <p:cNvPr id="12" name="Picture 11" descr="mri_flair_se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9" y="1483526"/>
            <a:ext cx="1737360" cy="2062148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172199" y="3582250"/>
            <a:ext cx="17373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FLAIR + expert labels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977639"/>
            <a:ext cx="7498079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Each scan: 4 MRI sequences, 182 × 218 × 182 voxels of 1 mm³ (1,000 voxels = 1 mL).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Experts label 4 parts: </a:t>
            </a:r>
            <a:r>
              <a:rPr sz="1600" b="1">
                <a:solidFill>
                  <a:srgbClr val="E8EAF2"/>
                </a:solidFill>
                <a:latin typeface="Segoe UI"/>
              </a:rPr>
              <a:t>NETC</a:t>
            </a:r>
            <a:r>
              <a:rPr sz="1600" b="0">
                <a:solidFill>
                  <a:srgbClr val="E8EAF2"/>
                </a:solidFill>
                <a:latin typeface="Segoe UI"/>
              </a:rPr>
              <a:t> dead core, </a:t>
            </a:r>
            <a:r>
              <a:rPr sz="1600" b="1">
                <a:solidFill>
                  <a:srgbClr val="E8EAF2"/>
                </a:solidFill>
                <a:latin typeface="Segoe UI"/>
              </a:rPr>
              <a:t>SNFH</a:t>
            </a:r>
            <a:r>
              <a:rPr sz="1600" b="0">
                <a:solidFill>
                  <a:srgbClr val="E8EAF2"/>
                </a:solidFill>
                <a:latin typeface="Segoe UI"/>
              </a:rPr>
              <a:t> swelling, </a:t>
            </a:r>
            <a:r>
              <a:rPr sz="1600" b="1">
                <a:solidFill>
                  <a:srgbClr val="E8EAF2"/>
                </a:solidFill>
                <a:latin typeface="Segoe UI"/>
              </a:rPr>
              <a:t>ET</a:t>
            </a:r>
            <a:r>
              <a:rPr sz="1600" b="0">
                <a:solidFill>
                  <a:srgbClr val="E8EAF2"/>
                </a:solidFill>
                <a:latin typeface="Segoe UI"/>
              </a:rPr>
              <a:t> enhancing tumour, </a:t>
            </a:r>
            <a:r>
              <a:rPr sz="1600" b="1">
                <a:solidFill>
                  <a:srgbClr val="E8EAF2"/>
                </a:solidFill>
                <a:latin typeface="Segoe UI"/>
              </a:rPr>
              <a:t>RC</a:t>
            </a:r>
            <a:r>
              <a:rPr sz="1600" b="0">
                <a:solidFill>
                  <a:srgbClr val="E8EAF2"/>
                </a:solidFill>
                <a:latin typeface="Segoe UI"/>
              </a:rPr>
              <a:t> surgery cavity.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Our target: the </a:t>
            </a:r>
            <a:r>
              <a:rPr sz="1600" b="1">
                <a:solidFill>
                  <a:srgbClr val="E8EAF2"/>
                </a:solidFill>
                <a:latin typeface="Segoe UI"/>
              </a:rPr>
              <a:t>whole tumour</a:t>
            </a:r>
            <a:r>
              <a:rPr sz="1600" b="0">
                <a:solidFill>
                  <a:srgbClr val="E8EAF2"/>
                </a:solidFill>
                <a:latin typeface="Segoe UI"/>
              </a:rPr>
              <a:t> = all labelled parts together.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463040"/>
            <a:ext cx="3383280" cy="4114800"/>
          </a:xfrm>
          <a:prstGeom prst="rect">
            <a:avLst/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600200"/>
            <a:ext cx="310896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E8EAF2"/>
                </a:solidFill>
                <a:latin typeface="Segoe UI"/>
              </a:rPr>
              <a:t>How we score: 3D Dice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Dice = 2 × overlap ÷ (model + expert)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0 = no overlap, 1 = perfect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Computed per patient over the whole 3D volume, then averaged.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Each sequence shows the tumour differently, so we feed three of them (T1C, T2, FLAIR) as one colour picture.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806440"/>
            <a:ext cx="73152" cy="566928"/>
          </a:xfrm>
          <a:prstGeom prst="rect">
            <a:avLst/>
          </a:prstGeom>
          <a:solidFill>
            <a:srgbClr val="E0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806440"/>
            <a:ext cx="10744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Key takeaway:</a:t>
            </a:r>
            <a:r>
              <a:rPr sz="1600" b="0">
                <a:solidFill>
                  <a:srgbClr val="E8EAF2"/>
                </a:solidFill>
                <a:latin typeface="Segoe UI"/>
              </a:rPr>
              <a:t> Different MRI sequences show different tumour parts; we score the whole-tumour outline with 3D Dice.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06A2E"/>
                </a:solidFill>
                <a:latin typeface="Segoe UI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E8EAF2"/>
                </a:solidFill>
                <a:latin typeface="Segoe UI"/>
              </a:rPr>
              <a:t>Two models with different strengths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005840" cy="54864"/>
          </a:xfrm>
          <a:prstGeom prst="rect">
            <a:avLst/>
          </a:prstGeom>
          <a:solidFill>
            <a:srgbClr val="E0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4 /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440680" cy="4114800"/>
          </a:xfrm>
          <a:prstGeom prst="rect">
            <a:avLst/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5440680" cy="73152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4592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3987E5"/>
                </a:solidFill>
                <a:latin typeface="Segoe UI"/>
              </a:rPr>
              <a:t>YOLO11-seg  (Ultralytics)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40280"/>
            <a:ext cx="5029200" cy="3291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Fast object detector that also draws a mask for each shape it finds.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Works on </a:t>
            </a:r>
            <a:r>
              <a:rPr sz="1600" b="1">
                <a:solidFill>
                  <a:srgbClr val="E8EAF2"/>
                </a:solidFill>
                <a:latin typeface="Segoe UI"/>
              </a:rPr>
              <a:t>one 2D slice at a time</a:t>
            </a:r>
            <a:r>
              <a:rPr sz="1600" b="0">
                <a:solidFill>
                  <a:srgbClr val="E8EAF2"/>
                </a:solidFill>
                <a:latin typeface="Segoe UI"/>
              </a:rPr>
              <a:t>, no knowledge of neighbouring slices.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Gives a </a:t>
            </a:r>
            <a:r>
              <a:rPr sz="1600" b="1">
                <a:solidFill>
                  <a:srgbClr val="E8EAF2"/>
                </a:solidFill>
                <a:latin typeface="Segoe UI"/>
              </a:rPr>
              <a:t>confidence</a:t>
            </a:r>
            <a:r>
              <a:rPr sz="1600" b="0">
                <a:solidFill>
                  <a:srgbClr val="E8EAF2"/>
                </a:solidFill>
                <a:latin typeface="Segoe UI"/>
              </a:rPr>
              <a:t> for every shape (0–1).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We use the medium model (yolo11m-seg), pretrained on everyday photos.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463040"/>
            <a:ext cx="5440680" cy="4114800"/>
          </a:xfrm>
          <a:prstGeom prst="rect">
            <a:avLst/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463040"/>
            <a:ext cx="5440680" cy="73152"/>
          </a:xfrm>
          <a:prstGeom prst="rect">
            <a:avLst/>
          </a:prstGeom>
          <a:solidFill>
            <a:srgbClr val="E0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64592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E06A2E"/>
                </a:solidFill>
                <a:latin typeface="Segoe UI"/>
              </a:rPr>
              <a:t>SAM2 → MedSAM2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240280"/>
            <a:ext cx="5029200" cy="3291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</a:t>
            </a:r>
            <a:r>
              <a:rPr sz="1600" b="1">
                <a:solidFill>
                  <a:srgbClr val="E8EAF2"/>
                </a:solidFill>
                <a:latin typeface="Segoe UI"/>
              </a:rPr>
              <a:t>Segment Anything 2</a:t>
            </a:r>
            <a:r>
              <a:rPr sz="1600" b="0">
                <a:solidFill>
                  <a:srgbClr val="E8EAF2"/>
                </a:solidFill>
                <a:latin typeface="Segoe UI"/>
              </a:rPr>
              <a:t> (Meta): outlines an object from a </a:t>
            </a:r>
            <a:r>
              <a:rPr sz="1600" b="1">
                <a:solidFill>
                  <a:srgbClr val="E8EAF2"/>
                </a:solidFill>
                <a:latin typeface="Segoe UI"/>
              </a:rPr>
              <a:t>prompt</a:t>
            </a:r>
            <a:r>
              <a:rPr sz="1600" b="0">
                <a:solidFill>
                  <a:srgbClr val="E8EAF2"/>
                </a:solidFill>
                <a:latin typeface="Segoe UI"/>
              </a:rPr>
              <a:t> (point, box or mask).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Treats a 3D scan </a:t>
            </a:r>
            <a:r>
              <a:rPr sz="1600" b="1">
                <a:solidFill>
                  <a:srgbClr val="E8EAF2"/>
                </a:solidFill>
                <a:latin typeface="Segoe UI"/>
              </a:rPr>
              <a:t>like a video</a:t>
            </a:r>
            <a:r>
              <a:rPr sz="1600" b="0">
                <a:solidFill>
                  <a:srgbClr val="E8EAF2"/>
                </a:solidFill>
                <a:latin typeface="Segoe UI"/>
              </a:rPr>
              <a:t>: remembers the slices it already did.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</a:t>
            </a:r>
            <a:r>
              <a:rPr sz="1600" b="1">
                <a:solidFill>
                  <a:srgbClr val="E8EAF2"/>
                </a:solidFill>
                <a:latin typeface="Segoe UI"/>
              </a:rPr>
              <a:t>MedSAM2</a:t>
            </a:r>
            <a:r>
              <a:rPr sz="1600" b="0">
                <a:solidFill>
                  <a:srgbClr val="E8EAF2"/>
                </a:solidFill>
                <a:latin typeface="Segoe UI"/>
              </a:rPr>
              <a:t> = SAM2 further trained on medical images and scans.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39 M weights: image encoder 70%, memory 19%, mask decoder 11%, prompt encoder &lt;0.1%.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806440"/>
            <a:ext cx="73152" cy="566928"/>
          </a:xfrm>
          <a:prstGeom prst="rect">
            <a:avLst/>
          </a:prstGeom>
          <a:solidFill>
            <a:srgbClr val="E0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806440"/>
            <a:ext cx="10744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Key takeaway:</a:t>
            </a:r>
            <a:r>
              <a:rPr sz="1600" b="0">
                <a:solidFill>
                  <a:srgbClr val="E8EAF2"/>
                </a:solidFill>
                <a:latin typeface="Segoe UI"/>
              </a:rPr>
              <a:t> YOLO is good at finding the tumour on a slice; MedSAM2 can refine it using the slices around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06A2E"/>
                </a:solidFill>
                <a:latin typeface="Segoe UI"/>
              </a:rPr>
              <a:t>THE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E8EAF2"/>
                </a:solidFill>
                <a:latin typeface="Segoe UI"/>
              </a:rPr>
              <a:t>Research question and ground rules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005840" cy="54864"/>
          </a:xfrm>
          <a:prstGeom prst="rect">
            <a:avLst/>
          </a:prstGeom>
          <a:solidFill>
            <a:srgbClr val="E0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5 /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11064240" cy="1005840"/>
          </a:xfrm>
          <a:prstGeom prst="rect">
            <a:avLst/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0">
                <a:solidFill>
                  <a:srgbClr val="E8EAF2"/>
                </a:solidFill>
                <a:latin typeface="Segoe UI"/>
              </a:rPr>
              <a:t>Can MedSAM2, prompted by YOLO on every slice, outline the whole tumour </a:t>
            </a:r>
            <a:r>
              <a:rPr sz="2100" b="1">
                <a:solidFill>
                  <a:srgbClr val="E8EAF2"/>
                </a:solidFill>
                <a:latin typeface="Segoe UI"/>
              </a:rPr>
              <a:t>better than YOLO alone</a:t>
            </a:r>
            <a:r>
              <a:rPr sz="2100" b="0">
                <a:solidFill>
                  <a:srgbClr val="E8EAF2"/>
                </a:solidFill>
                <a:latin typeface="Segoe UI"/>
              </a:rPr>
              <a:t> (3D Dice)?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43200"/>
            <a:ext cx="5486400" cy="2926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8EAF2"/>
                </a:solidFill>
                <a:latin typeface="Segoe UI"/>
              </a:rPr>
              <a:t>Ground rules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9AA0B8"/>
                </a:solidFill>
                <a:latin typeface="Segoe UI"/>
              </a:rPr>
              <a:t>The expert mask is never shown to a model when it predicts.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9AA0B8"/>
                </a:solidFill>
                <a:latin typeface="Segoe UI"/>
              </a:rPr>
              <a:t>Settings are chosen on validation pools; test is scored once.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9AA0B8"/>
                </a:solidFill>
                <a:latin typeface="Segoe UI"/>
              </a:rPr>
              <a:t>Patients are split by person, never by scan.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9AA0B8"/>
                </a:solidFill>
                <a:latin typeface="Segoe UI"/>
              </a:rPr>
              <a:t>We compare against </a:t>
            </a:r>
            <a:r>
              <a:rPr sz="1500" b="1">
                <a:solidFill>
                  <a:srgbClr val="9AA0B8"/>
                </a:solidFill>
                <a:latin typeface="Segoe UI"/>
              </a:rPr>
              <a:t>YOLO's own best setup</a:t>
            </a:r>
            <a:r>
              <a:rPr sz="1500" b="0">
                <a:solidFill>
                  <a:srgbClr val="9AA0B8"/>
                </a:solidFill>
                <a:latin typeface="Segoe UI"/>
              </a:rPr>
              <a:t>, not a weak baseline.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743200"/>
            <a:ext cx="5303520" cy="2926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8EAF2"/>
                </a:solidFill>
                <a:latin typeface="Segoe UI"/>
              </a:rPr>
              <a:t>What we built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9AA0B8"/>
                </a:solidFill>
                <a:latin typeface="Segoe UI"/>
              </a:rPr>
              <a:t>A fine-tuned YOLO (stage 1).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9AA0B8"/>
                </a:solidFill>
                <a:latin typeface="Segoe UI"/>
              </a:rPr>
              <a:t>A fine-tuned MedSAM2 that reads YOLO's hints (stage 2).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9AA0B8"/>
                </a:solidFill>
                <a:latin typeface="Segoe UI"/>
              </a:rPr>
              <a:t>An interactive web app to explore the data and every result.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5806440"/>
            <a:ext cx="73152" cy="566928"/>
          </a:xfrm>
          <a:prstGeom prst="rect">
            <a:avLst/>
          </a:prstGeom>
          <a:solidFill>
            <a:srgbClr val="E0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06440"/>
            <a:ext cx="10744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Key takeaway:</a:t>
            </a:r>
            <a:r>
              <a:rPr sz="1600" b="0">
                <a:solidFill>
                  <a:srgbClr val="E8EAF2"/>
                </a:solidFill>
                <a:latin typeface="Segoe UI"/>
              </a:rPr>
              <a:t> A fair two-stage test: does adding MedSAM2 beat the best YOLO we could build?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06A2E"/>
                </a:solidFill>
                <a:latin typeface="Segoe UI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E8EAF2"/>
                </a:solidFill>
                <a:latin typeface="Segoe UI"/>
              </a:rPr>
              <a:t>Data: 1,621 scans from 731 people, split by person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005840" cy="54864"/>
          </a:xfrm>
          <a:prstGeom prst="rect">
            <a:avLst/>
          </a:prstGeom>
          <a:solidFill>
            <a:srgbClr val="E0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6 / 15</a:t>
            </a:r>
          </a:p>
        </p:txBody>
      </p:sp>
      <p:pic>
        <p:nvPicPr>
          <p:cNvPr id="6" name="Picture 5" descr="an_manif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826" y="1417320"/>
            <a:ext cx="4500268" cy="4206240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943600" y="1463040"/>
            <a:ext cx="566928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Five pools: YOLO train 471 · YOLO val 81 · MedSAM2 train 500 · MedSAM2 val 245 · </a:t>
            </a:r>
            <a:r>
              <a:rPr sz="1600" b="1">
                <a:solidFill>
                  <a:srgbClr val="E8EAF2"/>
                </a:solidFill>
                <a:latin typeface="Segoe UI"/>
              </a:rPr>
              <a:t>test 324</a:t>
            </a:r>
            <a:r>
              <a:rPr sz="1600" b="0">
                <a:solidFill>
                  <a:srgbClr val="E8EAF2"/>
                </a:solidFill>
                <a:latin typeface="Segoe UI"/>
              </a:rPr>
              <a:t> scans.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</a:t>
            </a:r>
            <a:r>
              <a:rPr sz="1600" b="1">
                <a:solidFill>
                  <a:srgbClr val="E8EAF2"/>
                </a:solidFill>
                <a:latin typeface="Segoe UI"/>
              </a:rPr>
              <a:t>No person is in both a YOLO pool and a MedSAM2 pool</a:t>
            </a:r>
            <a:r>
              <a:rPr sz="1600" b="0">
                <a:solidFill>
                  <a:srgbClr val="E8EAF2"/>
                </a:solidFill>
                <a:latin typeface="Segoe UI"/>
              </a:rPr>
              <a:t>, so MedSAM2 trains on hints YOLO made for people it never saw, like real use.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Pool sizes set by learning curves: MedSAM2 barely improved past 500 patients (250 → 500 → 721: 0.884 → 0.886 → 0.886), while YOLO still gained from more data.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Caveat: test shares some people (other scans) with training pools, from the original split; kept so all test scores stay comparable.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5806440"/>
            <a:ext cx="73152" cy="566928"/>
          </a:xfrm>
          <a:prstGeom prst="rect">
            <a:avLst/>
          </a:prstGeom>
          <a:solidFill>
            <a:srgbClr val="E0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806440"/>
            <a:ext cx="10744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Key takeaway:</a:t>
            </a:r>
            <a:r>
              <a:rPr sz="1600" b="0">
                <a:solidFill>
                  <a:srgbClr val="E8EAF2"/>
                </a:solidFill>
                <a:latin typeface="Segoe UI"/>
              </a:rPr>
              <a:t> Keeping the two models' people apart makes MedSAM2's training hints realistic.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06A2E"/>
                </a:solidFill>
                <a:latin typeface="Segoe UI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E8EAF2"/>
                </a:solidFill>
                <a:latin typeface="Segoe UI"/>
              </a:rPr>
              <a:t>Knowing the data: an interactive analytics 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005840" cy="54864"/>
          </a:xfrm>
          <a:prstGeom prst="rect">
            <a:avLst/>
          </a:prstGeom>
          <a:solidFill>
            <a:srgbClr val="E0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7 / 15</a:t>
            </a:r>
          </a:p>
        </p:txBody>
      </p:sp>
      <p:pic>
        <p:nvPicPr>
          <p:cNvPr id="6" name="Picture 5" descr="an_kp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851" y="1371600"/>
            <a:ext cx="10307818" cy="1737360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pic>
        <p:nvPicPr>
          <p:cNvPr id="7" name="Picture 6" descr="an_he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365" y="3200400"/>
            <a:ext cx="2724150" cy="2514600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480560" y="3246120"/>
            <a:ext cx="7132320" cy="2468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4 pages: </a:t>
            </a:r>
            <a:r>
              <a:rPr sz="1600" b="1">
                <a:solidFill>
                  <a:srgbClr val="E8EAF2"/>
                </a:solidFill>
                <a:latin typeface="Segoe UI"/>
              </a:rPr>
              <a:t>Analytics</a:t>
            </a:r>
            <a:r>
              <a:rPr sz="1600" b="0">
                <a:solidFill>
                  <a:srgbClr val="E8EAF2"/>
                </a:solidFill>
                <a:latin typeface="Segoe UI"/>
              </a:rPr>
              <a:t>, </a:t>
            </a:r>
            <a:r>
              <a:rPr sz="1600" b="1">
                <a:solidFill>
                  <a:srgbClr val="E8EAF2"/>
                </a:solidFill>
                <a:latin typeface="Segoe UI"/>
              </a:rPr>
              <a:t>Results</a:t>
            </a:r>
            <a:r>
              <a:rPr sz="1600" b="0">
                <a:solidFill>
                  <a:srgbClr val="E8EAF2"/>
                </a:solidFill>
                <a:latin typeface="Segoe UI"/>
              </a:rPr>
              <a:t>, </a:t>
            </a:r>
            <a:r>
              <a:rPr sz="1600" b="1">
                <a:solidFill>
                  <a:srgbClr val="E8EAF2"/>
                </a:solidFill>
                <a:latin typeface="Segoe UI"/>
              </a:rPr>
              <a:t>YOLO</a:t>
            </a:r>
            <a:r>
              <a:rPr sz="1600" b="0">
                <a:solidFill>
                  <a:srgbClr val="E8EAF2"/>
                </a:solidFill>
                <a:latin typeface="Segoe UI"/>
              </a:rPr>
              <a:t>, </a:t>
            </a:r>
            <a:r>
              <a:rPr sz="1600" b="1">
                <a:solidFill>
                  <a:srgbClr val="E8EAF2"/>
                </a:solidFill>
                <a:latin typeface="Segoe UI"/>
              </a:rPr>
              <a:t>MedSAM2</a:t>
            </a:r>
            <a:r>
              <a:rPr sz="1600" b="0">
                <a:solidFill>
                  <a:srgbClr val="E8EAF2"/>
                </a:solidFill>
                <a:latin typeface="Segoe UI"/>
              </a:rPr>
              <a:t>; every chart filters the others.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Median tumour 59 mL; </a:t>
            </a:r>
            <a:r>
              <a:rPr sz="1600" b="1">
                <a:solidFill>
                  <a:srgbClr val="E8EAF2"/>
                </a:solidFill>
                <a:latin typeface="Segoe UI"/>
              </a:rPr>
              <a:t>85%</a:t>
            </a:r>
            <a:r>
              <a:rPr sz="1600" b="0">
                <a:solidFill>
                  <a:srgbClr val="E8EAF2"/>
                </a:solidFill>
                <a:latin typeface="Segoe UI"/>
              </a:rPr>
              <a:t> of scans are after surgery; </a:t>
            </a:r>
            <a:r>
              <a:rPr sz="1600" b="1">
                <a:solidFill>
                  <a:srgbClr val="E8EAF2"/>
                </a:solidFill>
                <a:latin typeface="Segoe UI"/>
              </a:rPr>
              <a:t>73%</a:t>
            </a:r>
            <a:r>
              <a:rPr sz="1600" b="0">
                <a:solidFill>
                  <a:srgbClr val="E8EAF2"/>
                </a:solidFill>
                <a:latin typeface="Segoe UI"/>
              </a:rPr>
              <a:t> have several separate pieces.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Tumours split evenly between the left (48%) and right (47%) brain.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Used to check the split, find unusual patients and see where each model fails.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5806440"/>
            <a:ext cx="73152" cy="566928"/>
          </a:xfrm>
          <a:prstGeom prst="rect">
            <a:avLst/>
          </a:prstGeom>
          <a:solidFill>
            <a:srgbClr val="E0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806440"/>
            <a:ext cx="10744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Key takeaway:</a:t>
            </a:r>
            <a:r>
              <a:rPr sz="1600" b="0">
                <a:solidFill>
                  <a:srgbClr val="E8EAF2"/>
                </a:solidFill>
                <a:latin typeface="Segoe UI"/>
              </a:rPr>
              <a:t> Understanding sizes, sides and pieces explained where the models struggle.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06A2E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E8EAF2"/>
                </a:solidFill>
                <a:latin typeface="Segoe UI"/>
              </a:rPr>
              <a:t>The pipeline: YOLO finds, MedSAM2 refines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005840" cy="54864"/>
          </a:xfrm>
          <a:prstGeom prst="rect">
            <a:avLst/>
          </a:prstGeom>
          <a:solidFill>
            <a:srgbClr val="E0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8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1627632" cy="1737360"/>
          </a:xfrm>
          <a:prstGeom prst="roundRect">
            <a:avLst>
              <a:gd name="adj" fmla="val 8000"/>
            </a:avLst>
          </a:prstGeom>
          <a:solidFill>
            <a:srgbClr val="1A1F33"/>
          </a:solidFill>
          <a:ln w="12700">
            <a:solidFill>
              <a:srgbClr val="2A2F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965960"/>
            <a:ext cx="1481328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MRI slices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468880"/>
            <a:ext cx="1481328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E8EAF2"/>
                </a:solidFill>
                <a:latin typeface="Segoe UI"/>
              </a:rPr>
              <a:t>T1C · T2 · FLAIR
as one colour picture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203704" y="2569464"/>
            <a:ext cx="210312" cy="256032"/>
          </a:xfrm>
          <a:prstGeom prst="rightArrow">
            <a:avLst/>
          </a:prstGeom>
          <a:solidFill>
            <a:srgbClr val="9AA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441448" y="1828800"/>
            <a:ext cx="1627632" cy="1737360"/>
          </a:xfrm>
          <a:prstGeom prst="roundRect">
            <a:avLst>
              <a:gd name="adj" fmla="val 8000"/>
            </a:avLst>
          </a:prstGeom>
          <a:solidFill>
            <a:srgbClr val="3987E5"/>
          </a:solidFill>
          <a:ln w="12700">
            <a:solidFill>
              <a:srgbClr val="2A2F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14600" y="1965960"/>
            <a:ext cx="1481328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YOLO11-seg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468880"/>
            <a:ext cx="1481328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every slice, shapes
with confidence ≥ 0.05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096512" y="2569464"/>
            <a:ext cx="210312" cy="256032"/>
          </a:xfrm>
          <a:prstGeom prst="rightArrow">
            <a:avLst/>
          </a:prstGeom>
          <a:solidFill>
            <a:srgbClr val="9AA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34256" y="1828800"/>
            <a:ext cx="1627632" cy="1737360"/>
          </a:xfrm>
          <a:prstGeom prst="roundRect">
            <a:avLst>
              <a:gd name="adj" fmla="val 8000"/>
            </a:avLst>
          </a:prstGeom>
          <a:solidFill>
            <a:srgbClr val="1A1F33"/>
          </a:solidFill>
          <a:ln w="12700">
            <a:solidFill>
              <a:srgbClr val="2A2F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07408" y="1965960"/>
            <a:ext cx="1481328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Hint map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2468880"/>
            <a:ext cx="1481328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E8EAF2"/>
                </a:solidFill>
                <a:latin typeface="Segoe UI"/>
              </a:rPr>
              <a:t>probability → logit × 8
empty / outside head = 'no'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89320" y="2569464"/>
            <a:ext cx="210312" cy="256032"/>
          </a:xfrm>
          <a:prstGeom prst="rightArrow">
            <a:avLst/>
          </a:prstGeom>
          <a:solidFill>
            <a:srgbClr val="9AA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27064" y="1828800"/>
            <a:ext cx="1627632" cy="1737360"/>
          </a:xfrm>
          <a:prstGeom prst="roundRect">
            <a:avLst>
              <a:gd name="adj" fmla="val 8000"/>
            </a:avLst>
          </a:prstGeom>
          <a:solidFill>
            <a:srgbClr val="E06A2E"/>
          </a:solidFill>
          <a:ln w="12700">
            <a:solidFill>
              <a:srgbClr val="2A2F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0216" y="1965960"/>
            <a:ext cx="1481328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MedSAM2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2468880"/>
            <a:ext cx="1481328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start slice, then up &amp; down
memory: start + last 6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882128" y="2569464"/>
            <a:ext cx="210312" cy="256032"/>
          </a:xfrm>
          <a:prstGeom prst="rightArrow">
            <a:avLst/>
          </a:prstGeom>
          <a:solidFill>
            <a:srgbClr val="9AA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19872" y="1828800"/>
            <a:ext cx="1627632" cy="1737360"/>
          </a:xfrm>
          <a:prstGeom prst="roundRect">
            <a:avLst>
              <a:gd name="adj" fmla="val 8000"/>
            </a:avLst>
          </a:prstGeom>
          <a:solidFill>
            <a:srgbClr val="1A1F33"/>
          </a:solidFill>
          <a:ln w="12700">
            <a:solidFill>
              <a:srgbClr val="2A2F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93024" y="1965960"/>
            <a:ext cx="1481328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Mirror check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3024" y="2468880"/>
            <a:ext cx="1481328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E8EAF2"/>
                </a:solidFill>
                <a:latin typeface="Segoe UI"/>
              </a:rPr>
              <a:t>run on the mirrored patient
and average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774936" y="2569464"/>
            <a:ext cx="210312" cy="256032"/>
          </a:xfrm>
          <a:prstGeom prst="rightArrow">
            <a:avLst/>
          </a:prstGeom>
          <a:solidFill>
            <a:srgbClr val="9AA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12680" y="1828800"/>
            <a:ext cx="1627632" cy="1737360"/>
          </a:xfrm>
          <a:prstGeom prst="roundRect">
            <a:avLst>
              <a:gd name="adj" fmla="val 8000"/>
            </a:avLst>
          </a:prstGeom>
          <a:solidFill>
            <a:srgbClr val="1A1F33"/>
          </a:solidFill>
          <a:ln w="12700">
            <a:solidFill>
              <a:srgbClr val="2A2F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5832" y="1965960"/>
            <a:ext cx="1481328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Final 3D mask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85832" y="2468880"/>
            <a:ext cx="1481328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E8EAF2"/>
                </a:solidFill>
                <a:latin typeface="Segoe UI"/>
              </a:rPr>
              <a:t>&gt; 50% = tumour
drop pieces &lt; 100 voxels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886200"/>
            <a:ext cx="110642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E8EAF2"/>
                </a:solidFill>
                <a:latin typeface="Segoe UI"/>
              </a:rPr>
              <a:t>•  </a:t>
            </a:r>
            <a:r>
              <a:rPr sz="1700" b="1">
                <a:solidFill>
                  <a:srgbClr val="E8EAF2"/>
                </a:solidFill>
                <a:latin typeface="Segoe UI"/>
              </a:rPr>
              <a:t>Stage 1 (YOLO)</a:t>
            </a:r>
            <a:r>
              <a:rPr sz="1700" b="0">
                <a:solidFill>
                  <a:srgbClr val="E8EAF2"/>
                </a:solidFill>
                <a:latin typeface="Segoe UI"/>
              </a:rPr>
              <a:t> runs once per patient; its hint maps are saved.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E8EAF2"/>
                </a:solidFill>
                <a:latin typeface="Segoe UI"/>
              </a:rPr>
              <a:t>•  </a:t>
            </a:r>
            <a:r>
              <a:rPr sz="1700" b="1">
                <a:solidFill>
                  <a:srgbClr val="E8EAF2"/>
                </a:solidFill>
                <a:latin typeface="Segoe UI"/>
              </a:rPr>
              <a:t>Stage 2 (MedSAM2)</a:t>
            </a:r>
            <a:r>
              <a:rPr sz="1700" b="0">
                <a:solidFill>
                  <a:srgbClr val="E8EAF2"/>
                </a:solidFill>
                <a:latin typeface="Segoe UI"/>
              </a:rPr>
              <a:t> gets the picture </a:t>
            </a:r>
            <a:r>
              <a:rPr sz="1700" b="1">
                <a:solidFill>
                  <a:srgbClr val="E8EAF2"/>
                </a:solidFill>
                <a:latin typeface="Segoe UI"/>
              </a:rPr>
              <a:t>and</a:t>
            </a:r>
            <a:r>
              <a:rPr sz="1700" b="0">
                <a:solidFill>
                  <a:srgbClr val="E8EAF2"/>
                </a:solidFill>
                <a:latin typeface="Segoe UI"/>
              </a:rPr>
              <a:t> YOLO's hint on every slice, plus its memory of the slices it just did.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E8EAF2"/>
                </a:solidFill>
                <a:latin typeface="Segoe UI"/>
              </a:rPr>
              <a:t>•  Only at the very end is the 3D mask compared with the expert's (3D Dice).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5806440"/>
            <a:ext cx="73152" cy="566928"/>
          </a:xfrm>
          <a:prstGeom prst="rect">
            <a:avLst/>
          </a:prstGeom>
          <a:solidFill>
            <a:srgbClr val="E0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806440"/>
            <a:ext cx="10744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Key takeaway:</a:t>
            </a:r>
            <a:r>
              <a:rPr sz="1600" b="0">
                <a:solidFill>
                  <a:srgbClr val="E8EAF2"/>
                </a:solidFill>
                <a:latin typeface="Segoe UI"/>
              </a:rPr>
              <a:t> MedSAM2 doesn't search from scratch; it corrects YOLO's guess using the neighbouring slices.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06A2E"/>
                </a:solidFill>
                <a:latin typeface="Segoe UI"/>
              </a:rPr>
              <a:t>METHOD ·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E8EAF2"/>
                </a:solidFill>
                <a:latin typeface="Segoe UI"/>
              </a:rPr>
              <a:t>Stage 1: fine-tuning YOLO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005840" cy="54864"/>
          </a:xfrm>
          <a:prstGeom prst="rect">
            <a:avLst/>
          </a:prstGeom>
          <a:solidFill>
            <a:srgbClr val="E0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9 / 15</a:t>
            </a:r>
          </a:p>
        </p:txBody>
      </p:sp>
      <p:pic>
        <p:nvPicPr>
          <p:cNvPr id="6" name="Picture 5" descr="yo_eval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34088"/>
            <a:ext cx="6949440" cy="2572704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772400" y="1463040"/>
            <a:ext cx="384048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yolo11m-seg at 512 px, trained on the slices of 471 scans, </a:t>
            </a:r>
            <a:r>
              <a:rPr sz="1600" b="1">
                <a:solidFill>
                  <a:srgbClr val="E8EAF2"/>
                </a:solidFill>
                <a:latin typeface="Segoe UI"/>
              </a:rPr>
              <a:t>including empty ones</a:t>
            </a:r>
            <a:r>
              <a:rPr sz="1600" b="0">
                <a:solidFill>
                  <a:srgbClr val="E8EAF2"/>
                </a:solidFill>
                <a:latin typeface="Segoe UI"/>
              </a:rPr>
              <a:t> (teaches when to draw nothing).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Best round picked on YOLO val; stopped early at round 32 of 60.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Extras when predicting: confidence 0.05, mirror averaging, remove pieces &lt; 200 voxels (+0.006 on val).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</a:t>
            </a:r>
            <a:r>
              <a:rPr sz="1600" b="1">
                <a:solidFill>
                  <a:srgbClr val="E8EAF2"/>
                </a:solidFill>
                <a:latin typeface="Segoe UI"/>
              </a:rPr>
              <a:t>Test 3D Dice 0.8834</a:t>
            </a:r>
            <a:r>
              <a:rPr sz="1600" b="0">
                <a:solidFill>
                  <a:srgbClr val="E8EAF2"/>
                </a:solidFill>
                <a:latin typeface="Segoe UI"/>
              </a:rPr>
              <a:t> (median 0.909); found 93.8% of tumour slices.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5806440"/>
            <a:ext cx="73152" cy="566928"/>
          </a:xfrm>
          <a:prstGeom prst="rect">
            <a:avLst/>
          </a:prstGeom>
          <a:solidFill>
            <a:srgbClr val="E0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806440"/>
            <a:ext cx="10744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Key takeaway:</a:t>
            </a:r>
            <a:r>
              <a:rPr sz="1600" b="0">
                <a:solidFill>
                  <a:srgbClr val="E8EAF2"/>
                </a:solidFill>
                <a:latin typeface="Segoe UI"/>
              </a:rPr>
              <a:t> A strong 2D baseline: 0.883 3D Dice on 324 unseen test patients.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06A2E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E8EAF2"/>
                </a:solidFill>
                <a:latin typeface="Segoe UI"/>
              </a:rPr>
              <a:t>Stage 2: turning YOLO's output into a MedSAM2 hint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005840" cy="54864"/>
          </a:xfrm>
          <a:prstGeom prst="rect">
            <a:avLst/>
          </a:prstGeom>
          <a:solidFill>
            <a:srgbClr val="E0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10 / 15</a:t>
            </a:r>
          </a:p>
        </p:txBody>
      </p:sp>
      <p:pic>
        <p:nvPicPr>
          <p:cNvPr id="6" name="Picture 5" descr="ms_vie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402" y="1371600"/>
            <a:ext cx="8742716" cy="2743200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48640" y="4206240"/>
            <a:ext cx="54864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Hint = YOLO's </a:t>
            </a:r>
            <a:r>
              <a:rPr sz="1600" b="1">
                <a:solidFill>
                  <a:srgbClr val="E8EAF2"/>
                </a:solidFill>
                <a:latin typeface="Segoe UI"/>
              </a:rPr>
              <a:t>probability per pixel</a:t>
            </a:r>
            <a:r>
              <a:rPr sz="1600" b="0">
                <a:solidFill>
                  <a:srgbClr val="E8EAF2"/>
                </a:solidFill>
                <a:latin typeface="Segoe UI"/>
              </a:rPr>
              <a:t> from every shape at confidence ≥ 0.05.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Turned into a </a:t>
            </a:r>
            <a:r>
              <a:rPr sz="1600" b="1">
                <a:solidFill>
                  <a:srgbClr val="E8EAF2"/>
                </a:solidFill>
                <a:latin typeface="Segoe UI"/>
              </a:rPr>
              <a:t>logit × 8</a:t>
            </a:r>
            <a:r>
              <a:rPr sz="1600" b="0">
                <a:solidFill>
                  <a:srgbClr val="E8EAF2"/>
                </a:solidFill>
                <a:latin typeface="Segoe UI"/>
              </a:rPr>
              <a:t> (−44 … +44): MedSAM2's own scale, where 0 = 50%.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206240"/>
            <a:ext cx="539496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Empty slices and outside the head get a firm </a:t>
            </a:r>
            <a:r>
              <a:rPr sz="1600" b="1">
                <a:solidFill>
                  <a:srgbClr val="E8EAF2"/>
                </a:solidFill>
                <a:latin typeface="Segoe UI"/>
              </a:rPr>
              <a:t>'nothing here'</a:t>
            </a:r>
            <a:r>
              <a:rPr sz="1600" b="0">
                <a:solidFill>
                  <a:srgbClr val="E8EAF2"/>
                </a:solidFill>
                <a:latin typeface="Segoe UI"/>
              </a:rPr>
              <a:t> (−20).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Every slice is hinted; memory carries the start slice + the last 6 slices.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5806440"/>
            <a:ext cx="73152" cy="566928"/>
          </a:xfrm>
          <a:prstGeom prst="rect">
            <a:avLst/>
          </a:prstGeom>
          <a:solidFill>
            <a:srgbClr val="E0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806440"/>
            <a:ext cx="10744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Key takeaway:</a:t>
            </a:r>
            <a:r>
              <a:rPr sz="1600" b="0">
                <a:solidFill>
                  <a:srgbClr val="E8EAF2"/>
                </a:solidFill>
                <a:latin typeface="Segoe UI"/>
              </a:rPr>
              <a:t> YOLO's soft guess plus 3D memory lets MedSAM2 fix single-slice mistakes.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06A2E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E8EAF2"/>
                </a:solidFill>
                <a:latin typeface="Segoe UI"/>
              </a:rPr>
              <a:t>Training MedSAM2 to fix, not copy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005840" cy="54864"/>
          </a:xfrm>
          <a:prstGeom prst="rect">
            <a:avLst/>
          </a:prstGeom>
          <a:solidFill>
            <a:srgbClr val="E0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11 / 15</a:t>
            </a:r>
          </a:p>
        </p:txBody>
      </p:sp>
      <p:pic>
        <p:nvPicPr>
          <p:cNvPr id="6" name="Picture 5" descr="ms_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16879"/>
            <a:ext cx="6400800" cy="4007122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223760" y="1463040"/>
            <a:ext cx="4389120" cy="4297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•  500 training scans, clips of 8 slices, 15 rounds; best round checked on 80 val scans.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•  </a:t>
            </a:r>
            <a:r>
              <a:rPr sz="1500" b="1">
                <a:solidFill>
                  <a:srgbClr val="E8EAF2"/>
                </a:solidFill>
                <a:latin typeface="Segoe UI"/>
              </a:rPr>
              <a:t>Trained:</a:t>
            </a:r>
            <a:r>
              <a:rPr sz="1500" b="0">
                <a:solidFill>
                  <a:srgbClr val="E8EAF2"/>
                </a:solidFill>
                <a:latin typeface="Segoe UI"/>
              </a:rPr>
              <a:t> mask decoder + prompt encoder (lr 1e-4) and memory (1e-5) = 11.7 M weights (30%).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•  </a:t>
            </a:r>
            <a:r>
              <a:rPr sz="1500" b="1">
                <a:solidFill>
                  <a:srgbClr val="E8EAF2"/>
                </a:solidFill>
                <a:latin typeface="Segoe UI"/>
              </a:rPr>
              <a:t>Frozen:</a:t>
            </a:r>
            <a:r>
              <a:rPr sz="1500" b="0">
                <a:solidFill>
                  <a:srgbClr val="E8EAF2"/>
                </a:solidFill>
                <a:latin typeface="Segoe UI"/>
              </a:rPr>
              <a:t> the image encoder (70% of weights); training it too gave no gain.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•  </a:t>
            </a:r>
            <a:r>
              <a:rPr sz="1500" b="1">
                <a:solidFill>
                  <a:srgbClr val="E8EAF2"/>
                </a:solidFill>
                <a:latin typeface="Segoe UI"/>
              </a:rPr>
              <a:t>30% of training hints damaged on purpose</a:t>
            </a:r>
            <a:r>
              <a:rPr sz="1500" b="0">
                <a:solidFill>
                  <a:srgbClr val="E8EAF2"/>
                </a:solidFill>
                <a:latin typeface="Segoe UI"/>
              </a:rPr>
              <a:t> (dropped, shifted, grown, shrunk) while the answer stays the expert's.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•  Loss: Dice + cross-entropy (+ small IoU and object terms).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5806440"/>
            <a:ext cx="73152" cy="566928"/>
          </a:xfrm>
          <a:prstGeom prst="rect">
            <a:avLst/>
          </a:prstGeom>
          <a:solidFill>
            <a:srgbClr val="E0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806440"/>
            <a:ext cx="10744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Key takeaway:</a:t>
            </a:r>
            <a:r>
              <a:rPr sz="1600" b="0">
                <a:solidFill>
                  <a:srgbClr val="E8EAF2"/>
                </a:solidFill>
                <a:latin typeface="Segoe UI"/>
              </a:rPr>
              <a:t> Train only the small parts that read the hint and carry memory; keep the big image encoder frozen.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06A2E"/>
                </a:solidFill>
                <a:latin typeface="Segoe U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E8EAF2"/>
                </a:solidFill>
                <a:latin typeface="Segoe UI"/>
              </a:rPr>
              <a:t>Results: MedSAM2 beats YOLO's best on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005840" cy="54864"/>
          </a:xfrm>
          <a:prstGeom prst="rect">
            <a:avLst/>
          </a:prstGeom>
          <a:solidFill>
            <a:srgbClr val="E0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12 / 15</a:t>
            </a:r>
          </a:p>
        </p:txBody>
      </p:sp>
      <p:pic>
        <p:nvPicPr>
          <p:cNvPr id="6" name="Picture 5" descr="chart_fina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71930"/>
            <a:ext cx="6035039" cy="3697020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0" y="1463040"/>
            <a:ext cx="4754880" cy="4297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</a:t>
            </a:r>
            <a:r>
              <a:rPr sz="1600" b="1">
                <a:solidFill>
                  <a:srgbClr val="E8EAF2"/>
                </a:solidFill>
                <a:latin typeface="Segoe UI"/>
              </a:rPr>
              <a:t>0.8988</a:t>
            </a:r>
            <a:r>
              <a:rPr sz="1600" b="0">
                <a:solidFill>
                  <a:srgbClr val="E8EAF2"/>
                </a:solidFill>
                <a:latin typeface="Segoe UI"/>
              </a:rPr>
              <a:t> vs </a:t>
            </a:r>
            <a:r>
              <a:rPr sz="1600" b="1">
                <a:solidFill>
                  <a:srgbClr val="E8EAF2"/>
                </a:solidFill>
                <a:latin typeface="Segoe UI"/>
              </a:rPr>
              <a:t>0.8834</a:t>
            </a:r>
            <a:r>
              <a:rPr sz="1600" b="0">
                <a:solidFill>
                  <a:srgbClr val="E8EAF2"/>
                </a:solidFill>
                <a:latin typeface="Segoe UI"/>
              </a:rPr>
              <a:t> mean 3D Dice on the same 324 test patients.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Gain </a:t>
            </a:r>
            <a:r>
              <a:rPr sz="1600" b="1">
                <a:solidFill>
                  <a:srgbClr val="E8EAF2"/>
                </a:solidFill>
                <a:latin typeface="Segoe UI"/>
              </a:rPr>
              <a:t>+0.0154</a:t>
            </a:r>
            <a:r>
              <a:rPr sz="1600" b="0">
                <a:solidFill>
                  <a:srgbClr val="E8EAF2"/>
                </a:solidFill>
                <a:latin typeface="Segoe UI"/>
              </a:rPr>
              <a:t> (95% CI +0.012 … +0.019); Wilcoxon p &lt; 10⁻³³.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</a:t>
            </a:r>
            <a:r>
              <a:rPr sz="1600" b="1">
                <a:solidFill>
                  <a:srgbClr val="E8EAF2"/>
                </a:solidFill>
                <a:latin typeface="Segoe UI"/>
              </a:rPr>
              <a:t>185 patients better, 18 worse</a:t>
            </a:r>
            <a:r>
              <a:rPr sz="1600" b="0">
                <a:solidFill>
                  <a:srgbClr val="E8EAF2"/>
                </a:solidFill>
                <a:latin typeface="Segoe UI"/>
              </a:rPr>
              <a:t> (by more than 0.01); the rest about the same.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Found 96.9% of tumour slices and kept 96.4% of empty slices empty.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Settings were picked on val; test was scored once.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5806440"/>
            <a:ext cx="73152" cy="566928"/>
          </a:xfrm>
          <a:prstGeom prst="rect">
            <a:avLst/>
          </a:prstGeom>
          <a:solidFill>
            <a:srgbClr val="E0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806440"/>
            <a:ext cx="10744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Key takeaway:</a:t>
            </a:r>
            <a:r>
              <a:rPr sz="1600" b="0">
                <a:solidFill>
                  <a:srgbClr val="E8EAF2"/>
                </a:solidFill>
                <a:latin typeface="Segoe UI"/>
              </a:rPr>
              <a:t> Adding MedSAM2 gives a consistent, statistically clear gain over the best YOLO.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06A2E"/>
                </a:solidFill>
                <a:latin typeface="Segoe U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E8EAF2"/>
                </a:solidFill>
                <a:latin typeface="Segoe UI"/>
              </a:rPr>
              <a:t>Where it works, and where it struggles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005840" cy="54864"/>
          </a:xfrm>
          <a:prstGeom prst="rect">
            <a:avLst/>
          </a:prstGeom>
          <a:solidFill>
            <a:srgbClr val="E0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13 / 15</a:t>
            </a:r>
          </a:p>
        </p:txBody>
      </p:sp>
      <p:pic>
        <p:nvPicPr>
          <p:cNvPr id="6" name="Picture 5" descr="ms_side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84275"/>
            <a:ext cx="6309359" cy="2260650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48640" y="3681501"/>
            <a:ext cx="6309359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Mean MedSAM2 3D Dice by side (rows) and tumour size (columns), test</a:t>
            </a:r>
          </a:p>
        </p:txBody>
      </p:sp>
      <p:pic>
        <p:nvPicPr>
          <p:cNvPr id="8" name="Picture 7" descr="ms_pat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324" y="3886200"/>
            <a:ext cx="3951992" cy="1828800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132320" y="1463040"/>
            <a:ext cx="448056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•  </a:t>
            </a:r>
            <a:r>
              <a:rPr sz="1500" b="1">
                <a:solidFill>
                  <a:srgbClr val="E8EAF2"/>
                </a:solidFill>
                <a:latin typeface="Segoe UI"/>
              </a:rPr>
              <a:t>Size matters, side doesn't:</a:t>
            </a:r>
            <a:r>
              <a:rPr sz="1500" b="0">
                <a:solidFill>
                  <a:srgbClr val="E8EAF2"/>
                </a:solidFill>
                <a:latin typeface="Segoe UI"/>
              </a:rPr>
              <a:t> about 0.67–0.73 for tumours under 10 mL vs about 0.93 for 100 mL and up; left ≈ right.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•  The </a:t>
            </a:r>
            <a:r>
              <a:rPr sz="1500" b="1">
                <a:solidFill>
                  <a:srgbClr val="E8EAF2"/>
                </a:solidFill>
                <a:latin typeface="Segoe UI"/>
              </a:rPr>
              <a:t>biggest gains</a:t>
            </a:r>
            <a:r>
              <a:rPr sz="1500" b="0">
                <a:solidFill>
                  <a:srgbClr val="E8EAF2"/>
                </a:solidFill>
                <a:latin typeface="Segoe UI"/>
              </a:rPr>
              <a:t> over YOLO are on </a:t>
            </a:r>
            <a:r>
              <a:rPr sz="1500" b="1">
                <a:solidFill>
                  <a:srgbClr val="E8EAF2"/>
                </a:solidFill>
                <a:latin typeface="Segoe UI"/>
              </a:rPr>
              <a:t>small tumours</a:t>
            </a:r>
            <a:r>
              <a:rPr sz="1500" b="0">
                <a:solidFill>
                  <a:srgbClr val="E8EAF2"/>
                </a:solidFill>
                <a:latin typeface="Segoe UI"/>
              </a:rPr>
              <a:t>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•  Slice by slice (bottom): MedSAM2 follows the tumour through memory and </a:t>
            </a:r>
            <a:r>
              <a:rPr sz="1500" b="1">
                <a:solidFill>
                  <a:srgbClr val="E8EAF2"/>
                </a:solidFill>
                <a:latin typeface="Segoe UI"/>
              </a:rPr>
              <a:t>rejects YOLO's isolated false alarms</a:t>
            </a:r>
            <a:r>
              <a:rPr sz="1500" b="0">
                <a:solidFill>
                  <a:srgbClr val="E8EAF2"/>
                </a:solidFill>
                <a:latin typeface="Segoe UI"/>
              </a:rPr>
              <a:t>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•  Few patients in some groups (e.g. 'both sides': 17), so those squares are noisy.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5806440"/>
            <a:ext cx="73152" cy="566928"/>
          </a:xfrm>
          <a:prstGeom prst="rect">
            <a:avLst/>
          </a:prstGeom>
          <a:solidFill>
            <a:srgbClr val="E0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06440"/>
            <a:ext cx="10744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Key takeaway:</a:t>
            </a:r>
            <a:r>
              <a:rPr sz="1600" b="0">
                <a:solidFill>
                  <a:srgbClr val="E8EAF2"/>
                </a:solidFill>
                <a:latin typeface="Segoe UI"/>
              </a:rPr>
              <a:t> Tiny tumours remain the weak spot, and they are where MedSAM2 helps most.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06A2E"/>
                </a:solidFill>
                <a:latin typeface="Segoe UI"/>
              </a:rPr>
              <a:t>EXPERIMENTS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E8EAF2"/>
                </a:solidFill>
                <a:latin typeface="Segoe UI"/>
              </a:rPr>
              <a:t>What we tried and what we learned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005840" cy="54864"/>
          </a:xfrm>
          <a:prstGeom prst="rect">
            <a:avLst/>
          </a:prstGeom>
          <a:solidFill>
            <a:srgbClr val="E0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14 / 15</a:t>
            </a:r>
          </a:p>
        </p:txBody>
      </p:sp>
      <p:pic>
        <p:nvPicPr>
          <p:cNvPr id="6" name="Picture 5" descr="chart_experi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3017"/>
            <a:ext cx="5669280" cy="2934686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48640" y="4384279"/>
            <a:ext cx="56692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Settings experiments (val): only the green change was statistically real</a:t>
            </a:r>
          </a:p>
        </p:txBody>
      </p:sp>
      <p:pic>
        <p:nvPicPr>
          <p:cNvPr id="8" name="Picture 7" descr="chart_erro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776625"/>
            <a:ext cx="5212080" cy="2207469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400800" y="4020670"/>
            <a:ext cx="5212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Where the remaining wrong voxels are (val)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709160"/>
            <a:ext cx="11064240" cy="1051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•  First design (only the start slice prompted, plus extra correction rounds) made things </a:t>
            </a:r>
            <a:r>
              <a:rPr sz="1500" b="1">
                <a:solidFill>
                  <a:srgbClr val="E8EAF2"/>
                </a:solidFill>
                <a:latin typeface="Segoe UI"/>
              </a:rPr>
              <a:t>worse</a:t>
            </a:r>
            <a:r>
              <a:rPr sz="1500" b="0">
                <a:solidFill>
                  <a:srgbClr val="E8EAF2"/>
                </a:solidFill>
                <a:latin typeface="Segoe UI"/>
              </a:rPr>
              <a:t> than YOLO (0.856 vs 0.864, val); hinting </a:t>
            </a:r>
            <a:r>
              <a:rPr sz="1500" b="1">
                <a:solidFill>
                  <a:srgbClr val="E8EAF2"/>
                </a:solidFill>
                <a:latin typeface="Segoe UI"/>
              </a:rPr>
              <a:t>every</a:t>
            </a:r>
            <a:r>
              <a:rPr sz="1500" b="0">
                <a:solidFill>
                  <a:srgbClr val="E8EAF2"/>
                </a:solidFill>
                <a:latin typeface="Segoe UI"/>
              </a:rPr>
              <a:t> slice fixed it.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•  Most settings changes moved Dice by ≤ 0.001: </a:t>
            </a:r>
            <a:r>
              <a:rPr sz="1500" b="1">
                <a:solidFill>
                  <a:srgbClr val="E8EAF2"/>
                </a:solidFill>
                <a:latin typeface="Segoe UI"/>
              </a:rPr>
              <a:t>96% of the remaining error is at the tumour edge</a:t>
            </a:r>
            <a:r>
              <a:rPr sz="1500" b="0">
                <a:solidFill>
                  <a:srgbClr val="E8EAF2"/>
                </a:solidFill>
                <a:latin typeface="Segoe UI"/>
              </a:rPr>
              <a:t>, not in finding the tumour.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5806440"/>
            <a:ext cx="73152" cy="566928"/>
          </a:xfrm>
          <a:prstGeom prst="rect">
            <a:avLst/>
          </a:prstGeom>
          <a:solidFill>
            <a:srgbClr val="E0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806440"/>
            <a:ext cx="10744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Key takeaway:</a:t>
            </a:r>
            <a:r>
              <a:rPr sz="1600" b="0">
                <a:solidFill>
                  <a:srgbClr val="E8EAF2"/>
                </a:solidFill>
                <a:latin typeface="Segoe UI"/>
              </a:rPr>
              <a:t> Design mattered more than tuning; what's left to win is edge precision.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06A2E"/>
                </a:solidFill>
                <a:latin typeface="Segoe UI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E8EAF2"/>
                </a:solidFill>
                <a:latin typeface="Segoe UI"/>
              </a:rPr>
              <a:t>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005840" cy="54864"/>
          </a:xfrm>
          <a:prstGeom prst="rect">
            <a:avLst/>
          </a:prstGeom>
          <a:solidFill>
            <a:srgbClr val="E0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15 /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66160" cy="4023360"/>
          </a:xfrm>
          <a:prstGeom prst="rect">
            <a:avLst/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3566160" cy="73152"/>
          </a:xfrm>
          <a:prstGeom prst="rect">
            <a:avLst/>
          </a:prstGeom>
          <a:solidFill>
            <a:srgbClr val="E0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E06A2E"/>
                </a:solidFill>
                <a:latin typeface="Segoe UI"/>
              </a:rPr>
              <a:t>Sharper edges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40280"/>
            <a:ext cx="3200400" cy="3200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Average several trained MedSAM2 runs (an ensemble), with no new training.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Edge-focused training loss; finer output resolution.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79" y="1463040"/>
            <a:ext cx="3566160" cy="4023360"/>
          </a:xfrm>
          <a:prstGeom prst="rect">
            <a:avLst/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79" y="1463040"/>
            <a:ext cx="3566160" cy="73152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59" y="164592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3987E5"/>
                </a:solidFill>
                <a:latin typeface="Segoe UI"/>
              </a:rPr>
              <a:t>Better hints &amp; small tumours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59" y="2240280"/>
            <a:ext cx="3200400" cy="3200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Weigh hint pixels by shape confidence ('max_weighted').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Give YOLO 3D context; focus on tumours under 10 mL.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9" y="1463040"/>
            <a:ext cx="3566160" cy="4023360"/>
          </a:xfrm>
          <a:prstGeom prst="rect">
            <a:avLst/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19" y="1463040"/>
            <a:ext cx="3566160" cy="73152"/>
          </a:xfrm>
          <a:prstGeom prst="rect">
            <a:avLst/>
          </a:prstGeom>
          <a:solidFill>
            <a:srgbClr val="2FB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9" y="164592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FB35C"/>
                </a:solidFill>
                <a:latin typeface="Segoe UI"/>
              </a:rPr>
              <a:t>Beyond this project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2240280"/>
            <a:ext cx="3200400" cy="3200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Predict the tumour parts (ET, NETC, SNFH), not only the whole tumour.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Test on other hospitals' scans; remove the test/train people overlap; measure speed.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5806440"/>
            <a:ext cx="73152" cy="566928"/>
          </a:xfrm>
          <a:prstGeom prst="rect">
            <a:avLst/>
          </a:prstGeom>
          <a:solidFill>
            <a:srgbClr val="E0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806440"/>
            <a:ext cx="10744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Key takeaway:</a:t>
            </a:r>
            <a:r>
              <a:rPr sz="1600" b="0">
                <a:solidFill>
                  <a:srgbClr val="E8EAF2"/>
                </a:solidFill>
                <a:latin typeface="Segoe UI"/>
              </a:rPr>
              <a:t> Next gains come from sharper edges and small tumours, then proving it on outside data.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