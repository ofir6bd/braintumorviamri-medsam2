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1" r:id="rId4"/>
    <p:sldId id="272" r:id="rId5"/>
    <p:sldId id="283" r:id="rId25"/>
    <p:sldId id="273" r:id="rId6"/>
    <p:sldId id="274" r:id="rId7"/>
    <p:sldId id="261" r:id="rId8"/>
    <p:sldId id="279" r:id="rId9"/>
    <p:sldId id="278" r:id="rId10"/>
    <p:sldId id="286" r:id="rId28"/>
    <p:sldId id="280" r:id="rId11"/>
    <p:sldId id="281" r:id="rId12"/>
    <p:sldId id="267" r:id="rId13"/>
    <p:sldId id="268" r:id="rId14"/>
    <p:sldId id="284" r:id="rId26"/>
    <p:sldId id="285" r:id="rId27"/>
    <p:sldId id="287" r:id="rId29"/>
    <p:sldId id="270" r:id="rId15"/>
    <p:sldId id="282" r:id="rId24"/>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44644F-81EC-48A9-A506-3267B9F015B0}" v="225" dt="2026-10-10T06:37:28.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15" autoAdjust="0"/>
  </p:normalViewPr>
  <p:slideViewPr>
    <p:cSldViewPr snapToGrid="0" snapToObjects="1">
      <p:cViewPr varScale="1">
        <p:scale>
          <a:sx n="105" d="100"/>
          <a:sy n="105" d="100"/>
        </p:scale>
        <p:origin x="79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8.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 Id="rId24" Type="http://schemas.openxmlformats.org/officeDocument/2006/relationships/slide" Target="slides/slide19.xml"/><Relationship Id="rId25" Type="http://schemas.openxmlformats.org/officeDocument/2006/relationships/slide" Target="slides/slide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1.xml"/><Relationship Id="rId29"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David, Ofir" userId="b76e4e70-005d-40e3-8916-cc0c0e108fc2" providerId="ADAL" clId="{A2CC637E-8A9A-43D4-B903-8648B4231DFF}"/>
    <pc:docChg chg="undo custSel addSld delSld modSld sldOrd modMainMaster">
      <pc:chgData name="Ben David, Ofir" userId="b76e4e70-005d-40e3-8916-cc0c0e108fc2" providerId="ADAL" clId="{A2CC637E-8A9A-43D4-B903-8648B4231DFF}" dt="2026-10-10T14:15:23.114" v="1467" actId="6549"/>
      <pc:docMkLst>
        <pc:docMk/>
      </pc:docMkLst>
      <pc:sldChg chg="delSp modSp mod setBg modNotesTx">
        <pc:chgData name="Ben David, Ofir" userId="b76e4e70-005d-40e3-8916-cc0c0e108fc2" providerId="ADAL" clId="{A2CC637E-8A9A-43D4-B903-8648B4231DFF}" dt="2026-10-08T14:09:17.519" v="470" actId="207"/>
        <pc:sldMkLst>
          <pc:docMk/>
          <pc:sldMk cId="0" sldId="256"/>
        </pc:sldMkLst>
        <pc:spChg chg="mod">
          <ac:chgData name="Ben David, Ofir" userId="b76e4e70-005d-40e3-8916-cc0c0e108fc2" providerId="ADAL" clId="{A2CC637E-8A9A-43D4-B903-8648B4231DFF}" dt="2026-10-08T14:09:17.519" v="470" actId="207"/>
          <ac:spMkLst>
            <pc:docMk/>
            <pc:sldMk cId="0" sldId="256"/>
            <ac:spMk id="3" creationId="{00000000-0000-0000-0000-000000000000}"/>
          </ac:spMkLst>
        </pc:spChg>
        <pc:spChg chg="mod">
          <ac:chgData name="Ben David, Ofir" userId="b76e4e70-005d-40e3-8916-cc0c0e108fc2" providerId="ADAL" clId="{A2CC637E-8A9A-43D4-B903-8648B4231DFF}" dt="2026-10-08T14:09:17.519" v="470" actId="207"/>
          <ac:spMkLst>
            <pc:docMk/>
            <pc:sldMk cId="0" sldId="256"/>
            <ac:spMk id="4" creationId="{00000000-0000-0000-0000-000000000000}"/>
          </ac:spMkLst>
        </pc:spChg>
        <pc:spChg chg="mod">
          <ac:chgData name="Ben David, Ofir" userId="b76e4e70-005d-40e3-8916-cc0c0e108fc2" providerId="ADAL" clId="{A2CC637E-8A9A-43D4-B903-8648B4231DFF}" dt="2026-10-08T14:09:17.519" v="470" actId="207"/>
          <ac:spMkLst>
            <pc:docMk/>
            <pc:sldMk cId="0" sldId="256"/>
            <ac:spMk id="6" creationId="{00000000-0000-0000-0000-000000000000}"/>
          </ac:spMkLst>
        </pc:spChg>
      </pc:sldChg>
      <pc:sldChg chg="modSp mod setBg modNotesTx">
        <pc:chgData name="Ben David, Ofir" userId="b76e4e70-005d-40e3-8916-cc0c0e108fc2" providerId="ADAL" clId="{A2CC637E-8A9A-43D4-B903-8648B4231DFF}" dt="2026-10-10T14:13:30.455" v="1438" actId="20577"/>
        <pc:sldMkLst>
          <pc:docMk/>
          <pc:sldMk cId="0" sldId="257"/>
        </pc:sldMkLst>
        <pc:spChg chg="mod">
          <ac:chgData name="Ben David, Ofir" userId="b76e4e70-005d-40e3-8916-cc0c0e108fc2" providerId="ADAL" clId="{A2CC637E-8A9A-43D4-B903-8648B4231DFF}" dt="2026-10-08T19:06:40.844" v="523" actId="207"/>
          <ac:spMkLst>
            <pc:docMk/>
            <pc:sldMk cId="0" sldId="257"/>
            <ac:spMk id="2" creationId="{00000000-0000-0000-0000-000000000000}"/>
          </ac:spMkLst>
        </pc:spChg>
        <pc:spChg chg="mod">
          <ac:chgData name="Ben David, Ofir" userId="b76e4e70-005d-40e3-8916-cc0c0e108fc2" providerId="ADAL" clId="{A2CC637E-8A9A-43D4-B903-8648B4231DFF}" dt="2026-10-08T19:06:40.844" v="523" actId="207"/>
          <ac:spMkLst>
            <pc:docMk/>
            <pc:sldMk cId="0" sldId="257"/>
            <ac:spMk id="3" creationId="{00000000-0000-0000-0000-000000000000}"/>
          </ac:spMkLst>
        </pc:spChg>
        <pc:spChg chg="mod">
          <ac:chgData name="Ben David, Ofir" userId="b76e4e70-005d-40e3-8916-cc0c0e108fc2" providerId="ADAL" clId="{A2CC637E-8A9A-43D4-B903-8648B4231DFF}" dt="2026-10-10T14:13:30.455" v="1438" actId="20577"/>
          <ac:spMkLst>
            <pc:docMk/>
            <pc:sldMk cId="0" sldId="257"/>
            <ac:spMk id="4" creationId="{00000000-0000-0000-0000-000000000000}"/>
          </ac:spMkLst>
        </pc:spChg>
        <pc:spChg chg="mod">
          <ac:chgData name="Ben David, Ofir" userId="b76e4e70-005d-40e3-8916-cc0c0e108fc2" providerId="ADAL" clId="{A2CC637E-8A9A-43D4-B903-8648B4231DFF}" dt="2026-10-08T19:10:46.759" v="547" actId="20577"/>
          <ac:spMkLst>
            <pc:docMk/>
            <pc:sldMk cId="0" sldId="257"/>
            <ac:spMk id="5" creationId="{00000000-0000-0000-0000-000000000000}"/>
          </ac:spMkLst>
        </pc:spChg>
        <pc:spChg chg="mod">
          <ac:chgData name="Ben David, Ofir" userId="b76e4e70-005d-40e3-8916-cc0c0e108fc2" providerId="ADAL" clId="{A2CC637E-8A9A-43D4-B903-8648B4231DFF}" dt="2026-10-08T19:06:40.844" v="523" actId="207"/>
          <ac:spMkLst>
            <pc:docMk/>
            <pc:sldMk cId="0" sldId="257"/>
            <ac:spMk id="7" creationId="{00000000-0000-0000-0000-000000000000}"/>
          </ac:spMkLst>
        </pc:spChg>
        <pc:spChg chg="mod">
          <ac:chgData name="Ben David, Ofir" userId="b76e4e70-005d-40e3-8916-cc0c0e108fc2" providerId="ADAL" clId="{A2CC637E-8A9A-43D4-B903-8648B4231DFF}" dt="2026-10-08T19:06:40.844" v="523" actId="207"/>
          <ac:spMkLst>
            <pc:docMk/>
            <pc:sldMk cId="0" sldId="257"/>
            <ac:spMk id="8" creationId="{00000000-0000-0000-0000-000000000000}"/>
          </ac:spMkLst>
        </pc:spChg>
        <pc:spChg chg="mod">
          <ac:chgData name="Ben David, Ofir" userId="b76e4e70-005d-40e3-8916-cc0c0e108fc2" providerId="ADAL" clId="{A2CC637E-8A9A-43D4-B903-8648B4231DFF}" dt="2026-10-08T19:06:40.844" v="523" actId="207"/>
          <ac:spMkLst>
            <pc:docMk/>
            <pc:sldMk cId="0" sldId="257"/>
            <ac:spMk id="9" creationId="{00000000-0000-0000-0000-000000000000}"/>
          </ac:spMkLst>
        </pc:spChg>
      </pc:sldChg>
      <pc:sldChg chg="del ord setBg">
        <pc:chgData name="Ben David, Ofir" userId="b76e4e70-005d-40e3-8916-cc0c0e108fc2" providerId="ADAL" clId="{A2CC637E-8A9A-43D4-B903-8648B4231DFF}" dt="2026-10-09T16:21:51.812" v="1332" actId="47"/>
        <pc:sldMkLst>
          <pc:docMk/>
          <pc:sldMk cId="0" sldId="260"/>
        </pc:sldMkLst>
      </pc:sldChg>
      <pc:sldChg chg="modSp mod ord setBg modNotesTx">
        <pc:chgData name="Ben David, Ofir" userId="b76e4e70-005d-40e3-8916-cc0c0e108fc2" providerId="ADAL" clId="{A2CC637E-8A9A-43D4-B903-8648B4231DFF}" dt="2026-10-10T14:15:14.227" v="1465" actId="6549"/>
        <pc:sldMkLst>
          <pc:docMk/>
          <pc:sldMk cId="0" sldId="261"/>
        </pc:sldMkLst>
        <pc:spChg chg="mod">
          <ac:chgData name="Ben David, Ofir" userId="b76e4e70-005d-40e3-8916-cc0c0e108fc2" providerId="ADAL" clId="{A2CC637E-8A9A-43D4-B903-8648B4231DFF}" dt="2026-10-10T14:13:47.674" v="1442" actId="20577"/>
          <ac:spMkLst>
            <pc:docMk/>
            <pc:sldMk cId="0" sldId="261"/>
            <ac:spMk id="4" creationId="{00000000-0000-0000-0000-000000000000}"/>
          </ac:spMkLst>
        </pc:spChg>
      </pc:sldChg>
      <pc:sldChg chg="del ord setBg">
        <pc:chgData name="Ben David, Ofir" userId="b76e4e70-005d-40e3-8916-cc0c0e108fc2" providerId="ADAL" clId="{A2CC637E-8A9A-43D4-B903-8648B4231DFF}" dt="2026-10-10T14:12:08.433" v="1426" actId="47"/>
        <pc:sldMkLst>
          <pc:docMk/>
          <pc:sldMk cId="0" sldId="262"/>
        </pc:sldMkLst>
      </pc:sldChg>
      <pc:sldChg chg="del ord setBg">
        <pc:chgData name="Ben David, Ofir" userId="b76e4e70-005d-40e3-8916-cc0c0e108fc2" providerId="ADAL" clId="{A2CC637E-8A9A-43D4-B903-8648B4231DFF}" dt="2026-10-09T16:22:10.026" v="1333" actId="47"/>
        <pc:sldMkLst>
          <pc:docMk/>
          <pc:sldMk cId="0" sldId="263"/>
        </pc:sldMkLst>
      </pc:sldChg>
      <pc:sldChg chg="del ord setBg">
        <pc:chgData name="Ben David, Ofir" userId="b76e4e70-005d-40e3-8916-cc0c0e108fc2" providerId="ADAL" clId="{A2CC637E-8A9A-43D4-B903-8648B4231DFF}" dt="2026-10-09T16:22:13.813" v="1334" actId="47"/>
        <pc:sldMkLst>
          <pc:docMk/>
          <pc:sldMk cId="0" sldId="264"/>
        </pc:sldMkLst>
      </pc:sldChg>
      <pc:sldChg chg="del setBg">
        <pc:chgData name="Ben David, Ofir" userId="b76e4e70-005d-40e3-8916-cc0c0e108fc2" providerId="ADAL" clId="{A2CC637E-8A9A-43D4-B903-8648B4231DFF}" dt="2026-10-09T16:21:08.895" v="1326" actId="47"/>
        <pc:sldMkLst>
          <pc:docMk/>
          <pc:sldMk cId="0" sldId="265"/>
        </pc:sldMkLst>
      </pc:sldChg>
      <pc:sldChg chg="del setBg">
        <pc:chgData name="Ben David, Ofir" userId="b76e4e70-005d-40e3-8916-cc0c0e108fc2" providerId="ADAL" clId="{A2CC637E-8A9A-43D4-B903-8648B4231DFF}" dt="2026-10-09T16:21:34.053" v="1331" actId="47"/>
        <pc:sldMkLst>
          <pc:docMk/>
          <pc:sldMk cId="0" sldId="266"/>
        </pc:sldMkLst>
      </pc:sldChg>
      <pc:sldChg chg="modSp mod ord setBg modNotesTx">
        <pc:chgData name="Ben David, Ofir" userId="b76e4e70-005d-40e3-8916-cc0c0e108fc2" providerId="ADAL" clId="{A2CC637E-8A9A-43D4-B903-8648B4231DFF}" dt="2026-10-10T14:14:56.022" v="1460" actId="6549"/>
        <pc:sldMkLst>
          <pc:docMk/>
          <pc:sldMk cId="0" sldId="267"/>
        </pc:sldMkLst>
        <pc:spChg chg="mod">
          <ac:chgData name="Ben David, Ofir" userId="b76e4e70-005d-40e3-8916-cc0c0e108fc2" providerId="ADAL" clId="{A2CC637E-8A9A-43D4-B903-8648B4231DFF}" dt="2026-10-10T14:14:07.149" v="1451" actId="20577"/>
          <ac:spMkLst>
            <pc:docMk/>
            <pc:sldMk cId="0" sldId="267"/>
            <ac:spMk id="4" creationId="{00000000-0000-0000-0000-000000000000}"/>
          </ac:spMkLst>
        </pc:spChg>
        <pc:spChg chg="mod">
          <ac:chgData name="Ben David, Ofir" userId="b76e4e70-005d-40e3-8916-cc0c0e108fc2" providerId="ADAL" clId="{A2CC637E-8A9A-43D4-B903-8648B4231DFF}" dt="2026-10-10T14:11:47.360" v="1425" actId="20577"/>
          <ac:spMkLst>
            <pc:docMk/>
            <pc:sldMk cId="0" sldId="267"/>
            <ac:spMk id="6" creationId="{00000000-0000-0000-0000-000000000000}"/>
          </ac:spMkLst>
        </pc:spChg>
        <pc:spChg chg="mod">
          <ac:chgData name="Ben David, Ofir" userId="b76e4e70-005d-40e3-8916-cc0c0e108fc2" providerId="ADAL" clId="{A2CC637E-8A9A-43D4-B903-8648B4231DFF}" dt="2026-10-10T14:10:58.253" v="1419" actId="1076"/>
          <ac:spMkLst>
            <pc:docMk/>
            <pc:sldMk cId="0" sldId="267"/>
            <ac:spMk id="7" creationId="{00000000-0000-0000-0000-000000000000}"/>
          </ac:spMkLst>
        </pc:spChg>
        <pc:spChg chg="mod">
          <ac:chgData name="Ben David, Ofir" userId="b76e4e70-005d-40e3-8916-cc0c0e108fc2" providerId="ADAL" clId="{A2CC637E-8A9A-43D4-B903-8648B4231DFF}" dt="2026-10-10T14:10:58.253" v="1419" actId="1076"/>
          <ac:spMkLst>
            <pc:docMk/>
            <pc:sldMk cId="0" sldId="267"/>
            <ac:spMk id="8" creationId="{00000000-0000-0000-0000-000000000000}"/>
          </ac:spMkLst>
        </pc:spChg>
      </pc:sldChg>
      <pc:sldChg chg="addSp delSp modSp mod ord setBg modNotesTx">
        <pc:chgData name="Ben David, Ofir" userId="b76e4e70-005d-40e3-8916-cc0c0e108fc2" providerId="ADAL" clId="{A2CC637E-8A9A-43D4-B903-8648B4231DFF}" dt="2026-10-10T14:14:52.576" v="1459" actId="6549"/>
        <pc:sldMkLst>
          <pc:docMk/>
          <pc:sldMk cId="0" sldId="268"/>
        </pc:sldMkLst>
        <pc:spChg chg="mod">
          <ac:chgData name="Ben David, Ofir" userId="b76e4e70-005d-40e3-8916-cc0c0e108fc2" providerId="ADAL" clId="{A2CC637E-8A9A-43D4-B903-8648B4231DFF}" dt="2026-10-10T07:08:11.817" v="1352" actId="207"/>
          <ac:spMkLst>
            <pc:docMk/>
            <pc:sldMk cId="0" sldId="268"/>
            <ac:spMk id="2" creationId="{00000000-0000-0000-0000-000000000000}"/>
          </ac:spMkLst>
        </pc:spChg>
        <pc:spChg chg="mod">
          <ac:chgData name="Ben David, Ofir" userId="b76e4e70-005d-40e3-8916-cc0c0e108fc2" providerId="ADAL" clId="{A2CC637E-8A9A-43D4-B903-8648B4231DFF}" dt="2026-10-10T07:08:11.817" v="1352" actId="207"/>
          <ac:spMkLst>
            <pc:docMk/>
            <pc:sldMk cId="0" sldId="268"/>
            <ac:spMk id="3" creationId="{00000000-0000-0000-0000-000000000000}"/>
          </ac:spMkLst>
        </pc:spChg>
        <pc:spChg chg="mod">
          <ac:chgData name="Ben David, Ofir" userId="b76e4e70-005d-40e3-8916-cc0c0e108fc2" providerId="ADAL" clId="{A2CC637E-8A9A-43D4-B903-8648B4231DFF}" dt="2026-10-10T14:14:11.337" v="1453" actId="20577"/>
          <ac:spMkLst>
            <pc:docMk/>
            <pc:sldMk cId="0" sldId="268"/>
            <ac:spMk id="4" creationId="{00000000-0000-0000-0000-000000000000}"/>
          </ac:spMkLst>
        </pc:spChg>
        <pc:spChg chg="mod">
          <ac:chgData name="Ben David, Ofir" userId="b76e4e70-005d-40e3-8916-cc0c0e108fc2" providerId="ADAL" clId="{A2CC637E-8A9A-43D4-B903-8648B4231DFF}" dt="2026-10-10T07:08:11.817" v="1352" actId="207"/>
          <ac:spMkLst>
            <pc:docMk/>
            <pc:sldMk cId="0" sldId="268"/>
            <ac:spMk id="6" creationId="{00000000-0000-0000-0000-000000000000}"/>
          </ac:spMkLst>
        </pc:spChg>
        <pc:spChg chg="mod">
          <ac:chgData name="Ben David, Ofir" userId="b76e4e70-005d-40e3-8916-cc0c0e108fc2" providerId="ADAL" clId="{A2CC637E-8A9A-43D4-B903-8648B4231DFF}" dt="2026-10-10T14:09:38.286" v="1412" actId="404"/>
          <ac:spMkLst>
            <pc:docMk/>
            <pc:sldMk cId="0" sldId="268"/>
            <ac:spMk id="8" creationId="{00000000-0000-0000-0000-000000000000}"/>
          </ac:spMkLst>
        </pc:spChg>
        <pc:spChg chg="mod">
          <ac:chgData name="Ben David, Ofir" userId="b76e4e70-005d-40e3-8916-cc0c0e108fc2" providerId="ADAL" clId="{A2CC637E-8A9A-43D4-B903-8648B4231DFF}" dt="2026-10-10T14:06:37.994" v="1401" actId="14100"/>
          <ac:spMkLst>
            <pc:docMk/>
            <pc:sldMk cId="0" sldId="268"/>
            <ac:spMk id="9" creationId="{00000000-0000-0000-0000-000000000000}"/>
          </ac:spMkLst>
        </pc:spChg>
        <pc:spChg chg="mod">
          <ac:chgData name="Ben David, Ofir" userId="b76e4e70-005d-40e3-8916-cc0c0e108fc2" providerId="ADAL" clId="{A2CC637E-8A9A-43D4-B903-8648B4231DFF}" dt="2026-10-10T14:06:35.006" v="1400" actId="1076"/>
          <ac:spMkLst>
            <pc:docMk/>
            <pc:sldMk cId="0" sldId="268"/>
            <ac:spMk id="10" creationId="{00000000-0000-0000-0000-000000000000}"/>
          </ac:spMkLst>
        </pc:spChg>
        <pc:spChg chg="add del">
          <ac:chgData name="Ben David, Ofir" userId="b76e4e70-005d-40e3-8916-cc0c0e108fc2" providerId="ADAL" clId="{A2CC637E-8A9A-43D4-B903-8648B4231DFF}" dt="2026-10-10T14:03:40.774" v="1355" actId="22"/>
          <ac:spMkLst>
            <pc:docMk/>
            <pc:sldMk cId="0" sldId="268"/>
            <ac:spMk id="12" creationId="{416BF786-D913-7483-F898-DDC7E10DE0E6}"/>
          </ac:spMkLst>
        </pc:spChg>
        <pc:picChg chg="add mod">
          <ac:chgData name="Ben David, Ofir" userId="b76e4e70-005d-40e3-8916-cc0c0e108fc2" providerId="ADAL" clId="{A2CC637E-8A9A-43D4-B903-8648B4231DFF}" dt="2026-10-10T14:04:51.515" v="1384" actId="1076"/>
          <ac:picMkLst>
            <pc:docMk/>
            <pc:sldMk cId="0" sldId="268"/>
            <ac:picMk id="14" creationId="{23A033AB-5EC7-A268-88BA-B39809E43CA9}"/>
          </ac:picMkLst>
        </pc:picChg>
        <pc:picChg chg="add mod">
          <ac:chgData name="Ben David, Ofir" userId="b76e4e70-005d-40e3-8916-cc0c0e108fc2" providerId="ADAL" clId="{A2CC637E-8A9A-43D4-B903-8648B4231DFF}" dt="2026-10-10T14:04:22.900" v="1367" actId="14100"/>
          <ac:picMkLst>
            <pc:docMk/>
            <pc:sldMk cId="0" sldId="268"/>
            <ac:picMk id="16" creationId="{69258AE6-08C4-02FD-D6A0-F347D0D0F98C}"/>
          </ac:picMkLst>
        </pc:picChg>
        <pc:picChg chg="add mod">
          <ac:chgData name="Ben David, Ofir" userId="b76e4e70-005d-40e3-8916-cc0c0e108fc2" providerId="ADAL" clId="{A2CC637E-8A9A-43D4-B903-8648B4231DFF}" dt="2026-10-10T14:04:33.721" v="1373" actId="14100"/>
          <ac:picMkLst>
            <pc:docMk/>
            <pc:sldMk cId="0" sldId="268"/>
            <ac:picMk id="18" creationId="{09456277-B170-2012-84F3-C8394DF4EBE3}"/>
          </ac:picMkLst>
        </pc:picChg>
        <pc:picChg chg="add mod">
          <ac:chgData name="Ben David, Ofir" userId="b76e4e70-005d-40e3-8916-cc0c0e108fc2" providerId="ADAL" clId="{A2CC637E-8A9A-43D4-B903-8648B4231DFF}" dt="2026-10-10T14:04:47.992" v="1382" actId="688"/>
          <ac:picMkLst>
            <pc:docMk/>
            <pc:sldMk cId="0" sldId="268"/>
            <ac:picMk id="20" creationId="{E2A4F213-D1B8-4BDF-8BFB-F8D2BA648E75}"/>
          </ac:picMkLst>
        </pc:picChg>
        <pc:picChg chg="add mod">
          <ac:chgData name="Ben David, Ofir" userId="b76e4e70-005d-40e3-8916-cc0c0e108fc2" providerId="ADAL" clId="{A2CC637E-8A9A-43D4-B903-8648B4231DFF}" dt="2026-10-10T14:04:27.148" v="1370" actId="1076"/>
          <ac:picMkLst>
            <pc:docMk/>
            <pc:sldMk cId="0" sldId="268"/>
            <ac:picMk id="22" creationId="{F3669935-C852-AB17-242A-8BABE8BF92B8}"/>
          </ac:picMkLst>
        </pc:picChg>
        <pc:picChg chg="add mod">
          <ac:chgData name="Ben David, Ofir" userId="b76e4e70-005d-40e3-8916-cc0c0e108fc2" providerId="ADAL" clId="{A2CC637E-8A9A-43D4-B903-8648B4231DFF}" dt="2026-10-10T14:05:44.935" v="1388" actId="1076"/>
          <ac:picMkLst>
            <pc:docMk/>
            <pc:sldMk cId="0" sldId="268"/>
            <ac:picMk id="24" creationId="{F1C5A2F9-2EAE-266E-4DCC-D33195ED5735}"/>
          </ac:picMkLst>
        </pc:picChg>
        <pc:picChg chg="add mod">
          <ac:chgData name="Ben David, Ofir" userId="b76e4e70-005d-40e3-8916-cc0c0e108fc2" providerId="ADAL" clId="{A2CC637E-8A9A-43D4-B903-8648B4231DFF}" dt="2026-10-10T14:05:55.897" v="1394" actId="1037"/>
          <ac:picMkLst>
            <pc:docMk/>
            <pc:sldMk cId="0" sldId="268"/>
            <ac:picMk id="26" creationId="{41DEF098-A21B-2C35-8DC3-7B90EBA5C419}"/>
          </ac:picMkLst>
        </pc:picChg>
      </pc:sldChg>
      <pc:sldChg chg="del ord setBg">
        <pc:chgData name="Ben David, Ofir" userId="b76e4e70-005d-40e3-8916-cc0c0e108fc2" providerId="ADAL" clId="{A2CC637E-8A9A-43D4-B903-8648B4231DFF}" dt="2026-10-10T06:53:47.144" v="1351" actId="47"/>
        <pc:sldMkLst>
          <pc:docMk/>
          <pc:sldMk cId="0" sldId="269"/>
        </pc:sldMkLst>
      </pc:sldChg>
      <pc:sldChg chg="modSp mod ord setBg modNotesTx">
        <pc:chgData name="Ben David, Ofir" userId="b76e4e70-005d-40e3-8916-cc0c0e108fc2" providerId="ADAL" clId="{A2CC637E-8A9A-43D4-B903-8648B4231DFF}" dt="2026-10-10T14:14:50.304" v="1458" actId="6549"/>
        <pc:sldMkLst>
          <pc:docMk/>
          <pc:sldMk cId="0" sldId="270"/>
        </pc:sldMkLst>
        <pc:spChg chg="mod">
          <ac:chgData name="Ben David, Ofir" userId="b76e4e70-005d-40e3-8916-cc0c0e108fc2" providerId="ADAL" clId="{A2CC637E-8A9A-43D4-B903-8648B4231DFF}" dt="2026-10-10T14:14:16.687" v="1456" actId="20577"/>
          <ac:spMkLst>
            <pc:docMk/>
            <pc:sldMk cId="0" sldId="270"/>
            <ac:spMk id="4" creationId="{00000000-0000-0000-0000-000000000000}"/>
          </ac:spMkLst>
        </pc:spChg>
      </pc:sldChg>
      <pc:sldChg chg="addSp delSp modSp new mod">
        <pc:chgData name="Ben David, Ofir" userId="b76e4e70-005d-40e3-8916-cc0c0e108fc2" providerId="ADAL" clId="{A2CC637E-8A9A-43D4-B903-8648B4231DFF}" dt="2026-10-10T14:13:33.990" v="1439" actId="20577"/>
        <pc:sldMkLst>
          <pc:docMk/>
          <pc:sldMk cId="4153127950" sldId="271"/>
        </pc:sldMkLst>
        <pc:spChg chg="add mod">
          <ac:chgData name="Ben David, Ofir" userId="b76e4e70-005d-40e3-8916-cc0c0e108fc2" providerId="ADAL" clId="{A2CC637E-8A9A-43D4-B903-8648B4231DFF}" dt="2026-10-10T14:13:33.990" v="1439" actId="20577"/>
          <ac:spMkLst>
            <pc:docMk/>
            <pc:sldMk cId="4153127950" sldId="271"/>
            <ac:spMk id="3" creationId="{C8DAA4A3-5BC0-CB8D-33A9-E1CFC53C362F}"/>
          </ac:spMkLst>
        </pc:spChg>
        <pc:spChg chg="add mod">
          <ac:chgData name="Ben David, Ofir" userId="b76e4e70-005d-40e3-8916-cc0c0e108fc2" providerId="ADAL" clId="{A2CC637E-8A9A-43D4-B903-8648B4231DFF}" dt="2026-10-08T19:07:06.101" v="541" actId="1035"/>
          <ac:spMkLst>
            <pc:docMk/>
            <pc:sldMk cId="4153127950" sldId="271"/>
            <ac:spMk id="4" creationId="{FB79ACE2-EDB4-9F4C-8A65-D51DD31A114F}"/>
          </ac:spMkLst>
        </pc:spChg>
        <pc:graphicFrameChg chg="add mod modGraphic">
          <ac:chgData name="Ben David, Ofir" userId="b76e4e70-005d-40e3-8916-cc0c0e108fc2" providerId="ADAL" clId="{A2CC637E-8A9A-43D4-B903-8648B4231DFF}" dt="2026-10-08T19:07:22.962" v="543" actId="20577"/>
          <ac:graphicFrameMkLst>
            <pc:docMk/>
            <pc:sldMk cId="4153127950" sldId="271"/>
            <ac:graphicFrameMk id="6" creationId="{0B042FEE-D24F-F594-013C-0E7ED1CF813F}"/>
          </ac:graphicFrameMkLst>
        </pc:graphicFrameChg>
      </pc:sldChg>
      <pc:sldChg chg="modSp add mod setBg modNotesTx">
        <pc:chgData name="Ben David, Ofir" userId="b76e4e70-005d-40e3-8916-cc0c0e108fc2" providerId="ADAL" clId="{A2CC637E-8A9A-43D4-B903-8648B4231DFF}" dt="2026-10-10T14:13:37.744" v="1440" actId="20577"/>
        <pc:sldMkLst>
          <pc:docMk/>
          <pc:sldMk cId="0" sldId="272"/>
        </pc:sldMkLst>
        <pc:spChg chg="mod">
          <ac:chgData name="Ben David, Ofir" userId="b76e4e70-005d-40e3-8916-cc0c0e108fc2" providerId="ADAL" clId="{A2CC637E-8A9A-43D4-B903-8648B4231DFF}" dt="2026-10-08T14:08:57.920" v="468" actId="207"/>
          <ac:spMkLst>
            <pc:docMk/>
            <pc:sldMk cId="0" sldId="272"/>
            <ac:spMk id="3" creationId="{00000000-0000-0000-0000-000000000000}"/>
          </ac:spMkLst>
        </pc:spChg>
        <pc:spChg chg="mod">
          <ac:chgData name="Ben David, Ofir" userId="b76e4e70-005d-40e3-8916-cc0c0e108fc2" providerId="ADAL" clId="{A2CC637E-8A9A-43D4-B903-8648B4231DFF}" dt="2026-10-10T14:13:37.744" v="1440" actId="20577"/>
          <ac:spMkLst>
            <pc:docMk/>
            <pc:sldMk cId="0" sldId="272"/>
            <ac:spMk id="4"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7"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9"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10"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12"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15"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18"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19"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20" creationId="{00000000-0000-0000-0000-000000000000}"/>
          </ac:spMkLst>
        </pc:spChg>
        <pc:spChg chg="mod">
          <ac:chgData name="Ben David, Ofir" userId="b76e4e70-005d-40e3-8916-cc0c0e108fc2" providerId="ADAL" clId="{A2CC637E-8A9A-43D4-B903-8648B4231DFF}" dt="2026-10-08T14:08:57.920" v="468" actId="207"/>
          <ac:spMkLst>
            <pc:docMk/>
            <pc:sldMk cId="0" sldId="272"/>
            <ac:spMk id="21" creationId="{00000000-0000-0000-0000-000000000000}"/>
          </ac:spMkLst>
        </pc:spChg>
      </pc:sldChg>
      <pc:sldChg chg="addSp delSp modSp add mod setBg modAnim modNotesTx">
        <pc:chgData name="Ben David, Ofir" userId="b76e4e70-005d-40e3-8916-cc0c0e108fc2" providerId="ADAL" clId="{A2CC637E-8A9A-43D4-B903-8648B4231DFF}" dt="2026-10-10T14:15:23.114" v="1467" actId="6549"/>
        <pc:sldMkLst>
          <pc:docMk/>
          <pc:sldMk cId="0" sldId="273"/>
        </pc:sldMkLst>
        <pc:spChg chg="mod">
          <ac:chgData name="Ben David, Ofir" userId="b76e4e70-005d-40e3-8916-cc0c0e108fc2" providerId="ADAL" clId="{A2CC637E-8A9A-43D4-B903-8648B4231DFF}" dt="2026-10-08T14:24:59.058" v="508" actId="20577"/>
          <ac:spMkLst>
            <pc:docMk/>
            <pc:sldMk cId="0" sldId="273"/>
            <ac:spMk id="3" creationId="{00000000-0000-0000-0000-000000000000}"/>
          </ac:spMkLst>
        </pc:spChg>
        <pc:spChg chg="mod">
          <ac:chgData name="Ben David, Ofir" userId="b76e4e70-005d-40e3-8916-cc0c0e108fc2" providerId="ADAL" clId="{A2CC637E-8A9A-43D4-B903-8648B4231DFF}" dt="2026-10-08T19:49:02.376" v="1171" actId="1035"/>
          <ac:spMkLst>
            <pc:docMk/>
            <pc:sldMk cId="0" sldId="273"/>
            <ac:spMk id="6" creationId="{00000000-0000-0000-0000-000000000000}"/>
          </ac:spMkLst>
        </pc:spChg>
        <pc:spChg chg="mod">
          <ac:chgData name="Ben David, Ofir" userId="b76e4e70-005d-40e3-8916-cc0c0e108fc2" providerId="ADAL" clId="{A2CC637E-8A9A-43D4-B903-8648B4231DFF}" dt="2026-10-08T19:48:57.700" v="1155" actId="1076"/>
          <ac:spMkLst>
            <pc:docMk/>
            <pc:sldMk cId="0" sldId="273"/>
            <ac:spMk id="7" creationId="{00000000-0000-0000-0000-000000000000}"/>
          </ac:spMkLst>
        </pc:spChg>
        <pc:spChg chg="mod">
          <ac:chgData name="Ben David, Ofir" userId="b76e4e70-005d-40e3-8916-cc0c0e108fc2" providerId="ADAL" clId="{A2CC637E-8A9A-43D4-B903-8648B4231DFF}" dt="2026-10-08T19:48:57.700" v="1155" actId="1076"/>
          <ac:spMkLst>
            <pc:docMk/>
            <pc:sldMk cId="0" sldId="273"/>
            <ac:spMk id="8" creationId="{00000000-0000-0000-0000-000000000000}"/>
          </ac:spMkLst>
        </pc:spChg>
        <pc:spChg chg="mod">
          <ac:chgData name="Ben David, Ofir" userId="b76e4e70-005d-40e3-8916-cc0c0e108fc2" providerId="ADAL" clId="{A2CC637E-8A9A-43D4-B903-8648B4231DFF}" dt="2026-10-08T19:48:57.700" v="1155" actId="1076"/>
          <ac:spMkLst>
            <pc:docMk/>
            <pc:sldMk cId="0" sldId="273"/>
            <ac:spMk id="9" creationId="{00000000-0000-0000-0000-000000000000}"/>
          </ac:spMkLst>
        </pc:spChg>
        <pc:spChg chg="mod">
          <ac:chgData name="Ben David, Ofir" userId="b76e4e70-005d-40e3-8916-cc0c0e108fc2" providerId="ADAL" clId="{A2CC637E-8A9A-43D4-B903-8648B4231DFF}" dt="2026-10-08T19:48:57.700" v="1155" actId="1076"/>
          <ac:spMkLst>
            <pc:docMk/>
            <pc:sldMk cId="0" sldId="273"/>
            <ac:spMk id="10" creationId="{00000000-0000-0000-0000-000000000000}"/>
          </ac:spMkLst>
        </pc:spChg>
        <pc:spChg chg="mod">
          <ac:chgData name="Ben David, Ofir" userId="b76e4e70-005d-40e3-8916-cc0c0e108fc2" providerId="ADAL" clId="{A2CC637E-8A9A-43D4-B903-8648B4231DFF}" dt="2026-10-08T19:48:57.700" v="1155" actId="1076"/>
          <ac:spMkLst>
            <pc:docMk/>
            <pc:sldMk cId="0" sldId="273"/>
            <ac:spMk id="11" creationId="{00000000-0000-0000-0000-000000000000}"/>
          </ac:spMkLst>
        </pc:spChg>
        <pc:spChg chg="mod">
          <ac:chgData name="Ben David, Ofir" userId="b76e4e70-005d-40e3-8916-cc0c0e108fc2" providerId="ADAL" clId="{A2CC637E-8A9A-43D4-B903-8648B4231DFF}" dt="2026-10-08T19:49:16.132" v="1193" actId="1036"/>
          <ac:spMkLst>
            <pc:docMk/>
            <pc:sldMk cId="0" sldId="273"/>
            <ac:spMk id="13" creationId="{00000000-0000-0000-0000-000000000000}"/>
          </ac:spMkLst>
        </pc:spChg>
        <pc:spChg chg="mod">
          <ac:chgData name="Ben David, Ofir" userId="b76e4e70-005d-40e3-8916-cc0c0e108fc2" providerId="ADAL" clId="{A2CC637E-8A9A-43D4-B903-8648B4231DFF}" dt="2026-10-08T19:45:33.742" v="1147" actId="20577"/>
          <ac:spMkLst>
            <pc:docMk/>
            <pc:sldMk cId="0" sldId="273"/>
            <ac:spMk id="14" creationId="{00000000-0000-0000-0000-000000000000}"/>
          </ac:spMkLst>
        </pc:spChg>
        <pc:spChg chg="mod">
          <ac:chgData name="Ben David, Ofir" userId="b76e4e70-005d-40e3-8916-cc0c0e108fc2" providerId="ADAL" clId="{A2CC637E-8A9A-43D4-B903-8648B4231DFF}" dt="2026-10-10T06:38:05.734" v="1337" actId="14100"/>
          <ac:spMkLst>
            <pc:docMk/>
            <pc:sldMk cId="0" sldId="273"/>
            <ac:spMk id="15" creationId="{00000000-0000-0000-0000-000000000000}"/>
          </ac:spMkLst>
        </pc:spChg>
        <pc:spChg chg="mod">
          <ac:chgData name="Ben David, Ofir" userId="b76e4e70-005d-40e3-8916-cc0c0e108fc2" providerId="ADAL" clId="{A2CC637E-8A9A-43D4-B903-8648B4231DFF}" dt="2026-10-10T06:38:10.783" v="1345" actId="1036"/>
          <ac:spMkLst>
            <pc:docMk/>
            <pc:sldMk cId="0" sldId="273"/>
            <ac:spMk id="16" creationId="{00000000-0000-0000-0000-000000000000}"/>
          </ac:spMkLst>
        </pc:spChg>
        <pc:picChg chg="mod">
          <ac:chgData name="Ben David, Ofir" userId="b76e4e70-005d-40e3-8916-cc0c0e108fc2" providerId="ADAL" clId="{A2CC637E-8A9A-43D4-B903-8648B4231DFF}" dt="2026-10-08T19:48:47.526" v="1153" actId="14100"/>
          <ac:picMkLst>
            <pc:docMk/>
            <pc:sldMk cId="0" sldId="273"/>
            <ac:picMk id="5" creationId="{00000000-0000-0000-0000-000000000000}"/>
          </ac:picMkLst>
        </pc:picChg>
        <pc:picChg chg="mod">
          <ac:chgData name="Ben David, Ofir" userId="b76e4e70-005d-40e3-8916-cc0c0e108fc2" providerId="ADAL" clId="{A2CC637E-8A9A-43D4-B903-8648B4231DFF}" dt="2026-10-08T19:49:13.613" v="1190" actId="14100"/>
          <ac:picMkLst>
            <pc:docMk/>
            <pc:sldMk cId="0" sldId="273"/>
            <ac:picMk id="12" creationId="{00000000-0000-0000-0000-000000000000}"/>
          </ac:picMkLst>
        </pc:picChg>
        <pc:picChg chg="add mod">
          <ac:chgData name="Ben David, Ofir" userId="b76e4e70-005d-40e3-8916-cc0c0e108fc2" providerId="ADAL" clId="{A2CC637E-8A9A-43D4-B903-8648B4231DFF}" dt="2026-10-08T19:51:30.505" v="1231" actId="14100"/>
          <ac:picMkLst>
            <pc:docMk/>
            <pc:sldMk cId="0" sldId="273"/>
            <ac:picMk id="20" creationId="{B831A1DF-F459-B8B4-EA40-BBFD0D8D6F38}"/>
          </ac:picMkLst>
        </pc:picChg>
        <pc:picChg chg="add mod">
          <ac:chgData name="Ben David, Ofir" userId="b76e4e70-005d-40e3-8916-cc0c0e108fc2" providerId="ADAL" clId="{A2CC637E-8A9A-43D4-B903-8648B4231DFF}" dt="2026-10-08T19:50:26.884" v="1210" actId="1076"/>
          <ac:picMkLst>
            <pc:docMk/>
            <pc:sldMk cId="0" sldId="273"/>
            <ac:picMk id="22" creationId="{C54AD075-688F-7C51-69F7-620EBAB48CEF}"/>
          </ac:picMkLst>
        </pc:picChg>
        <pc:picChg chg="add mod modCrop">
          <ac:chgData name="Ben David, Ofir" userId="b76e4e70-005d-40e3-8916-cc0c0e108fc2" providerId="ADAL" clId="{A2CC637E-8A9A-43D4-B903-8648B4231DFF}" dt="2026-10-08T19:51:34.359" v="1232" actId="1076"/>
          <ac:picMkLst>
            <pc:docMk/>
            <pc:sldMk cId="0" sldId="273"/>
            <ac:picMk id="24" creationId="{E011620A-F619-D4BD-663C-E8ED36C1ED77}"/>
          </ac:picMkLst>
        </pc:picChg>
        <pc:picChg chg="add mod modCrop">
          <ac:chgData name="Ben David, Ofir" userId="b76e4e70-005d-40e3-8916-cc0c0e108fc2" providerId="ADAL" clId="{A2CC637E-8A9A-43D4-B903-8648B4231DFF}" dt="2026-10-08T19:51:34.359" v="1232" actId="1076"/>
          <ac:picMkLst>
            <pc:docMk/>
            <pc:sldMk cId="0" sldId="273"/>
            <ac:picMk id="26" creationId="{D3A414AA-4F88-407D-D39D-DBBFCFF20C0C}"/>
          </ac:picMkLst>
        </pc:picChg>
        <pc:picChg chg="add mod modCrop">
          <ac:chgData name="Ben David, Ofir" userId="b76e4e70-005d-40e3-8916-cc0c0e108fc2" providerId="ADAL" clId="{A2CC637E-8A9A-43D4-B903-8648B4231DFF}" dt="2026-10-08T19:51:34.359" v="1232" actId="1076"/>
          <ac:picMkLst>
            <pc:docMk/>
            <pc:sldMk cId="0" sldId="273"/>
            <ac:picMk id="28" creationId="{67F7422F-AD5D-FF62-1B27-558330D1220C}"/>
          </ac:picMkLst>
        </pc:picChg>
      </pc:sldChg>
      <pc:sldChg chg="delSp modSp add mod setBg modNotesTx">
        <pc:chgData name="Ben David, Ofir" userId="b76e4e70-005d-40e3-8916-cc0c0e108fc2" providerId="ADAL" clId="{A2CC637E-8A9A-43D4-B903-8648B4231DFF}" dt="2026-10-10T14:15:19.782" v="1466" actId="6549"/>
        <pc:sldMkLst>
          <pc:docMk/>
          <pc:sldMk cId="0" sldId="274"/>
        </pc:sldMkLst>
        <pc:spChg chg="mod">
          <ac:chgData name="Ben David, Ofir" userId="b76e4e70-005d-40e3-8916-cc0c0e108fc2" providerId="ADAL" clId="{A2CC637E-8A9A-43D4-B903-8648B4231DFF}" dt="2026-10-08T14:26:49.098" v="514" actId="20577"/>
          <ac:spMkLst>
            <pc:docMk/>
            <pc:sldMk cId="0" sldId="274"/>
            <ac:spMk id="3" creationId="{00000000-0000-0000-0000-000000000000}"/>
          </ac:spMkLst>
        </pc:spChg>
        <pc:spChg chg="mod">
          <ac:chgData name="Ben David, Ofir" userId="b76e4e70-005d-40e3-8916-cc0c0e108fc2" providerId="ADAL" clId="{A2CC637E-8A9A-43D4-B903-8648B4231DFF}" dt="2026-10-10T14:13:43.897" v="1441" actId="20577"/>
          <ac:spMkLst>
            <pc:docMk/>
            <pc:sldMk cId="0" sldId="274"/>
            <ac:spMk id="4"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6"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7"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9"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14" creationId="{00000000-0000-0000-0000-000000000000}"/>
          </ac:spMkLst>
        </pc:spChg>
        <pc:spChg chg="mod">
          <ac:chgData name="Ben David, Ofir" userId="b76e4e70-005d-40e3-8916-cc0c0e108fc2" providerId="ADAL" clId="{A2CC637E-8A9A-43D4-B903-8648B4231DFF}" dt="2026-10-08T14:26:12.567" v="512" actId="207"/>
          <ac:spMkLst>
            <pc:docMk/>
            <pc:sldMk cId="0" sldId="274"/>
            <ac:spMk id="16" creationId="{00000000-0000-0000-0000-000000000000}"/>
          </ac:spMkLst>
        </pc:spChg>
        <pc:spChg chg="mod">
          <ac:chgData name="Ben David, Ofir" userId="b76e4e70-005d-40e3-8916-cc0c0e108fc2" providerId="ADAL" clId="{A2CC637E-8A9A-43D4-B903-8648B4231DFF}" dt="2026-10-08T14:31:26.525" v="522" actId="207"/>
          <ac:spMkLst>
            <pc:docMk/>
            <pc:sldMk cId="0" sldId="274"/>
            <ac:spMk id="17" creationId="{00000000-0000-0000-0000-000000000000}"/>
          </ac:spMkLst>
        </pc:spChg>
        <pc:spChg chg="mod">
          <ac:chgData name="Ben David, Ofir" userId="b76e4e70-005d-40e3-8916-cc0c0e108fc2" providerId="ADAL" clId="{A2CC637E-8A9A-43D4-B903-8648B4231DFF}" dt="2026-10-08T14:26:12.567" v="512" actId="207"/>
          <ac:spMkLst>
            <pc:docMk/>
            <pc:sldMk cId="0" sldId="274"/>
            <ac:spMk id="20"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22"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23" creationId="{00000000-0000-0000-0000-000000000000}"/>
          </ac:spMkLst>
        </pc:spChg>
        <pc:spChg chg="del mod">
          <ac:chgData name="Ben David, Ofir" userId="b76e4e70-005d-40e3-8916-cc0c0e108fc2" providerId="ADAL" clId="{A2CC637E-8A9A-43D4-B903-8648B4231DFF}" dt="2026-10-09T15:31:33.649" v="1236" actId="478"/>
          <ac:spMkLst>
            <pc:docMk/>
            <pc:sldMk cId="0" sldId="274"/>
            <ac:spMk id="24" creationId="{00000000-0000-0000-0000-000000000000}"/>
          </ac:spMkLst>
        </pc:spChg>
        <pc:spChg chg="del">
          <ac:chgData name="Ben David, Ofir" userId="b76e4e70-005d-40e3-8916-cc0c0e108fc2" providerId="ADAL" clId="{A2CC637E-8A9A-43D4-B903-8648B4231DFF}" dt="2026-10-09T15:31:33.649" v="1236" actId="478"/>
          <ac:spMkLst>
            <pc:docMk/>
            <pc:sldMk cId="0" sldId="274"/>
            <ac:spMk id="25" creationId="{00000000-0000-0000-0000-000000000000}"/>
          </ac:spMkLst>
        </pc:spChg>
        <pc:spChg chg="mod">
          <ac:chgData name="Ben David, Ofir" userId="b76e4e70-005d-40e3-8916-cc0c0e108fc2" providerId="ADAL" clId="{A2CC637E-8A9A-43D4-B903-8648B4231DFF}" dt="2026-10-09T15:31:43.927" v="1237" actId="1076"/>
          <ac:spMkLst>
            <pc:docMk/>
            <pc:sldMk cId="0" sldId="274"/>
            <ac:spMk id="26" creationId="{00000000-0000-0000-0000-000000000000}"/>
          </ac:spMkLst>
        </pc:spChg>
        <pc:spChg chg="mod">
          <ac:chgData name="Ben David, Ofir" userId="b76e4e70-005d-40e3-8916-cc0c0e108fc2" providerId="ADAL" clId="{A2CC637E-8A9A-43D4-B903-8648B4231DFF}" dt="2026-10-09T15:31:43.927" v="1237" actId="1076"/>
          <ac:spMkLst>
            <pc:docMk/>
            <pc:sldMk cId="0" sldId="274"/>
            <ac:spMk id="27" creationId="{00000000-0000-0000-0000-000000000000}"/>
          </ac:spMkLst>
        </pc:spChg>
        <pc:spChg chg="mod">
          <ac:chgData name="Ben David, Ofir" userId="b76e4e70-005d-40e3-8916-cc0c0e108fc2" providerId="ADAL" clId="{A2CC637E-8A9A-43D4-B903-8648B4231DFF}" dt="2026-10-08T14:24:42.882" v="506" actId="207"/>
          <ac:spMkLst>
            <pc:docMk/>
            <pc:sldMk cId="0" sldId="274"/>
            <ac:spMk id="28" creationId="{00000000-0000-0000-0000-000000000000}"/>
          </ac:spMkLst>
        </pc:spChg>
      </pc:sldChg>
      <pc:sldChg chg="new del ord">
        <pc:chgData name="Ben David, Ofir" userId="b76e4e70-005d-40e3-8916-cc0c0e108fc2" providerId="ADAL" clId="{A2CC637E-8A9A-43D4-B903-8648B4231DFF}" dt="2026-10-10T14:12:09.695" v="1427" actId="47"/>
        <pc:sldMkLst>
          <pc:docMk/>
          <pc:sldMk cId="3207181334" sldId="275"/>
        </pc:sldMkLst>
      </pc:sldChg>
      <pc:sldChg chg="addSp modSp new del mod">
        <pc:chgData name="Ben David, Ofir" userId="b76e4e70-005d-40e3-8916-cc0c0e108fc2" providerId="ADAL" clId="{A2CC637E-8A9A-43D4-B903-8648B4231DFF}" dt="2026-10-09T15:44:04.009" v="1271" actId="2696"/>
        <pc:sldMkLst>
          <pc:docMk/>
          <pc:sldMk cId="3876402343" sldId="276"/>
        </pc:sldMkLst>
        <pc:spChg chg="add mod">
          <ac:chgData name="Ben David, Ofir" userId="b76e4e70-005d-40e3-8916-cc0c0e108fc2" providerId="ADAL" clId="{A2CC637E-8A9A-43D4-B903-8648B4231DFF}" dt="2026-10-09T15:41:30.451" v="1266" actId="1076"/>
          <ac:spMkLst>
            <pc:docMk/>
            <pc:sldMk cId="3876402343" sldId="276"/>
            <ac:spMk id="2" creationId="{16E85CAD-24F9-5D10-5200-987040242F7A}"/>
          </ac:spMkLst>
        </pc:spChg>
      </pc:sldChg>
      <pc:sldChg chg="delSp modSp add mod ord setBg modNotesTx">
        <pc:chgData name="Ben David, Ofir" userId="b76e4e70-005d-40e3-8916-cc0c0e108fc2" providerId="ADAL" clId="{A2CC637E-8A9A-43D4-B903-8648B4231DFF}" dt="2026-10-10T14:14:37.919" v="1457" actId="6549"/>
        <pc:sldMkLst>
          <pc:docMk/>
          <pc:sldMk cId="0" sldId="277"/>
        </pc:sldMkLst>
        <pc:spChg chg="mod">
          <ac:chgData name="Ben David, Ofir" userId="b76e4e70-005d-40e3-8916-cc0c0e108fc2" providerId="ADAL" clId="{A2CC637E-8A9A-43D4-B903-8648B4231DFF}" dt="2026-10-09T15:43:26.868" v="1268" actId="207"/>
          <ac:spMkLst>
            <pc:docMk/>
            <pc:sldMk cId="0" sldId="277"/>
            <ac:spMk id="4"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5"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6"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7"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8"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9"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10" creationId="{00000000-0000-0000-0000-000000000000}"/>
          </ac:spMkLst>
        </pc:spChg>
        <pc:spChg chg="del">
          <ac:chgData name="Ben David, Ofir" userId="b76e4e70-005d-40e3-8916-cc0c0e108fc2" providerId="ADAL" clId="{A2CC637E-8A9A-43D4-B903-8648B4231DFF}" dt="2026-10-10T14:12:18.429" v="1428" actId="478"/>
          <ac:spMkLst>
            <pc:docMk/>
            <pc:sldMk cId="0" sldId="277"/>
            <ac:spMk id="11"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12" creationId="{00000000-0000-0000-0000-000000000000}"/>
          </ac:spMkLst>
        </pc:spChg>
        <pc:spChg chg="del mod">
          <ac:chgData name="Ben David, Ofir" userId="b76e4e70-005d-40e3-8916-cc0c0e108fc2" providerId="ADAL" clId="{A2CC637E-8A9A-43D4-B903-8648B4231DFF}" dt="2026-10-10T14:12:18.429" v="1428" actId="478"/>
          <ac:spMkLst>
            <pc:docMk/>
            <pc:sldMk cId="0" sldId="277"/>
            <ac:spMk id="13" creationId="{00000000-0000-0000-0000-000000000000}"/>
          </ac:spMkLst>
        </pc:spChg>
        <pc:spChg chg="del mod">
          <ac:chgData name="Ben David, Ofir" userId="b76e4e70-005d-40e3-8916-cc0c0e108fc2" providerId="ADAL" clId="{A2CC637E-8A9A-43D4-B903-8648B4231DFF}" dt="2026-10-09T15:43:46.156" v="1270" actId="478"/>
          <ac:spMkLst>
            <pc:docMk/>
            <pc:sldMk cId="0" sldId="277"/>
            <ac:spMk id="15" creationId="{00000000-0000-0000-0000-000000000000}"/>
          </ac:spMkLst>
        </pc:spChg>
        <pc:spChg chg="del">
          <ac:chgData name="Ben David, Ofir" userId="b76e4e70-005d-40e3-8916-cc0c0e108fc2" providerId="ADAL" clId="{A2CC637E-8A9A-43D4-B903-8648B4231DFF}" dt="2026-10-09T15:43:32.854" v="1269" actId="478"/>
          <ac:spMkLst>
            <pc:docMk/>
            <pc:sldMk cId="0" sldId="277"/>
            <ac:spMk id="16" creationId="{00000000-0000-0000-0000-000000000000}"/>
          </ac:spMkLst>
        </pc:spChg>
        <pc:picChg chg="mod">
          <ac:chgData name="Ben David, Ofir" userId="b76e4e70-005d-40e3-8916-cc0c0e108fc2" providerId="ADAL" clId="{A2CC637E-8A9A-43D4-B903-8648B4231DFF}" dt="2026-10-10T14:12:28.840" v="1430" actId="1076"/>
          <ac:picMkLst>
            <pc:docMk/>
            <pc:sldMk cId="0" sldId="277"/>
            <ac:picMk id="14" creationId="{00000000-0000-0000-0000-000000000000}"/>
          </ac:picMkLst>
        </pc:picChg>
      </pc:sldChg>
      <pc:sldChg chg="modSp add mod setBg modNotesTx">
        <pc:chgData name="Ben David, Ofir" userId="b76e4e70-005d-40e3-8916-cc0c0e108fc2" providerId="ADAL" clId="{A2CC637E-8A9A-43D4-B903-8648B4231DFF}" dt="2026-10-10T14:15:04.537" v="1463" actId="6549"/>
        <pc:sldMkLst>
          <pc:docMk/>
          <pc:sldMk cId="0" sldId="278"/>
        </pc:sldMkLst>
        <pc:spChg chg="mod">
          <ac:chgData name="Ben David, Ofir" userId="b76e4e70-005d-40e3-8916-cc0c0e108fc2" providerId="ADAL" clId="{A2CC637E-8A9A-43D4-B903-8648B4231DFF}" dt="2026-10-09T15:53:51.655" v="1273" actId="207"/>
          <ac:spMkLst>
            <pc:docMk/>
            <pc:sldMk cId="0" sldId="278"/>
            <ac:spMk id="2" creationId="{00000000-0000-0000-0000-000000000000}"/>
          </ac:spMkLst>
        </pc:spChg>
        <pc:spChg chg="mod">
          <ac:chgData name="Ben David, Ofir" userId="b76e4e70-005d-40e3-8916-cc0c0e108fc2" providerId="ADAL" clId="{A2CC637E-8A9A-43D4-B903-8648B4231DFF}" dt="2026-10-09T15:53:51.655" v="1273" actId="207"/>
          <ac:spMkLst>
            <pc:docMk/>
            <pc:sldMk cId="0" sldId="278"/>
            <ac:spMk id="3" creationId="{00000000-0000-0000-0000-000000000000}"/>
          </ac:spMkLst>
        </pc:spChg>
        <pc:spChg chg="mod">
          <ac:chgData name="Ben David, Ofir" userId="b76e4e70-005d-40e3-8916-cc0c0e108fc2" providerId="ADAL" clId="{A2CC637E-8A9A-43D4-B903-8648B4231DFF}" dt="2026-10-10T14:13:55.782" v="1444" actId="20577"/>
          <ac:spMkLst>
            <pc:docMk/>
            <pc:sldMk cId="0" sldId="278"/>
            <ac:spMk id="4" creationId="{00000000-0000-0000-0000-000000000000}"/>
          </ac:spMkLst>
        </pc:spChg>
        <pc:spChg chg="mod">
          <ac:chgData name="Ben David, Ofir" userId="b76e4e70-005d-40e3-8916-cc0c0e108fc2" providerId="ADAL" clId="{A2CC637E-8A9A-43D4-B903-8648B4231DFF}" dt="2026-10-09T15:58:42.617" v="1281" actId="1076"/>
          <ac:spMkLst>
            <pc:docMk/>
            <pc:sldMk cId="0" sldId="278"/>
            <ac:spMk id="6" creationId="{00000000-0000-0000-0000-000000000000}"/>
          </ac:spMkLst>
        </pc:spChg>
        <pc:spChg chg="mod">
          <ac:chgData name="Ben David, Ofir" userId="b76e4e70-005d-40e3-8916-cc0c0e108fc2" providerId="ADAL" clId="{A2CC637E-8A9A-43D4-B903-8648B4231DFF}" dt="2026-10-09T16:05:44.911" v="1289" actId="1076"/>
          <ac:spMkLst>
            <pc:docMk/>
            <pc:sldMk cId="0" sldId="278"/>
            <ac:spMk id="8" creationId="{00000000-0000-0000-0000-000000000000}"/>
          </ac:spMkLst>
        </pc:spChg>
        <pc:spChg chg="mod">
          <ac:chgData name="Ben David, Ofir" userId="b76e4e70-005d-40e3-8916-cc0c0e108fc2" providerId="ADAL" clId="{A2CC637E-8A9A-43D4-B903-8648B4231DFF}" dt="2026-10-09T15:53:51.655" v="1273" actId="207"/>
          <ac:spMkLst>
            <pc:docMk/>
            <pc:sldMk cId="0" sldId="278"/>
            <ac:spMk id="10" creationId="{00000000-0000-0000-0000-000000000000}"/>
          </ac:spMkLst>
        </pc:spChg>
        <pc:spChg chg="mod">
          <ac:chgData name="Ben David, Ofir" userId="b76e4e70-005d-40e3-8916-cc0c0e108fc2" providerId="ADAL" clId="{A2CC637E-8A9A-43D4-B903-8648B4231DFF}" dt="2026-10-09T15:53:51.655" v="1273" actId="207"/>
          <ac:spMkLst>
            <pc:docMk/>
            <pc:sldMk cId="0" sldId="278"/>
            <ac:spMk id="11" creationId="{00000000-0000-0000-0000-000000000000}"/>
          </ac:spMkLst>
        </pc:spChg>
        <pc:graphicFrameChg chg="mod">
          <ac:chgData name="Ben David, Ofir" userId="b76e4e70-005d-40e3-8916-cc0c0e108fc2" providerId="ADAL" clId="{A2CC637E-8A9A-43D4-B903-8648B4231DFF}" dt="2026-10-09T16:05:41.026" v="1288" actId="1076"/>
          <ac:graphicFrameMkLst>
            <pc:docMk/>
            <pc:sldMk cId="0" sldId="278"/>
            <ac:graphicFrameMk id="9" creationId="{00000000-0000-0000-0000-000000000000}"/>
          </ac:graphicFrameMkLst>
        </pc:graphicFrameChg>
        <pc:picChg chg="mod">
          <ac:chgData name="Ben David, Ofir" userId="b76e4e70-005d-40e3-8916-cc0c0e108fc2" providerId="ADAL" clId="{A2CC637E-8A9A-43D4-B903-8648B4231DFF}" dt="2026-10-09T15:58:37.340" v="1280" actId="14100"/>
          <ac:picMkLst>
            <pc:docMk/>
            <pc:sldMk cId="0" sldId="278"/>
            <ac:picMk id="5" creationId="{00000000-0000-0000-0000-000000000000}"/>
          </ac:picMkLst>
        </pc:picChg>
        <pc:picChg chg="mod">
          <ac:chgData name="Ben David, Ofir" userId="b76e4e70-005d-40e3-8916-cc0c0e108fc2" providerId="ADAL" clId="{A2CC637E-8A9A-43D4-B903-8648B4231DFF}" dt="2026-10-09T16:05:35.903" v="1287" actId="1076"/>
          <ac:picMkLst>
            <pc:docMk/>
            <pc:sldMk cId="0" sldId="278"/>
            <ac:picMk id="7" creationId="{00000000-0000-0000-0000-000000000000}"/>
          </ac:picMkLst>
        </pc:picChg>
      </pc:sldChg>
      <pc:sldChg chg="modSp add mod ord setBg modNotesTx">
        <pc:chgData name="Ben David, Ofir" userId="b76e4e70-005d-40e3-8916-cc0c0e108fc2" providerId="ADAL" clId="{A2CC637E-8A9A-43D4-B903-8648B4231DFF}" dt="2026-10-10T14:15:11.485" v="1464" actId="6549"/>
        <pc:sldMkLst>
          <pc:docMk/>
          <pc:sldMk cId="0" sldId="279"/>
        </pc:sldMkLst>
        <pc:spChg chg="mod">
          <ac:chgData name="Ben David, Ofir" userId="b76e4e70-005d-40e3-8916-cc0c0e108fc2" providerId="ADAL" clId="{A2CC637E-8A9A-43D4-B903-8648B4231DFF}" dt="2026-10-10T14:13:51.846" v="1443" actId="20577"/>
          <ac:spMkLst>
            <pc:docMk/>
            <pc:sldMk cId="0" sldId="279"/>
            <ac:spMk id="4"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5"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7"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8"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0"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1"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3" creationId="{00000000-0000-0000-0000-000000000000}"/>
          </ac:spMkLst>
        </pc:spChg>
        <pc:spChg chg="mod">
          <ac:chgData name="Ben David, Ofir" userId="b76e4e70-005d-40e3-8916-cc0c0e108fc2" providerId="ADAL" clId="{A2CC637E-8A9A-43D4-B903-8648B4231DFF}" dt="2026-10-09T16:05:08.972" v="1284" actId="207"/>
          <ac:spMkLst>
            <pc:docMk/>
            <pc:sldMk cId="0" sldId="279"/>
            <ac:spMk id="15"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6"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7" creationId="{00000000-0000-0000-0000-000000000000}"/>
          </ac:spMkLst>
        </pc:spChg>
        <pc:spChg chg="mod">
          <ac:chgData name="Ben David, Ofir" userId="b76e4e70-005d-40e3-8916-cc0c0e108fc2" providerId="ADAL" clId="{A2CC637E-8A9A-43D4-B903-8648B4231DFF}" dt="2026-10-09T16:05:21.938" v="1285" actId="207"/>
          <ac:spMkLst>
            <pc:docMk/>
            <pc:sldMk cId="0" sldId="279"/>
            <ac:spMk id="19" creationId="{00000000-0000-0000-0000-000000000000}"/>
          </ac:spMkLst>
        </pc:spChg>
      </pc:sldChg>
      <pc:sldChg chg="delSp modSp add mod setBg modNotesTx">
        <pc:chgData name="Ben David, Ofir" userId="b76e4e70-005d-40e3-8916-cc0c0e108fc2" providerId="ADAL" clId="{A2CC637E-8A9A-43D4-B903-8648B4231DFF}" dt="2026-10-10T14:15:02.018" v="1462" actId="6549"/>
        <pc:sldMkLst>
          <pc:docMk/>
          <pc:sldMk cId="0" sldId="280"/>
        </pc:sldMkLst>
        <pc:spChg chg="mod">
          <ac:chgData name="Ben David, Ofir" userId="b76e4e70-005d-40e3-8916-cc0c0e108fc2" providerId="ADAL" clId="{A2CC637E-8A9A-43D4-B903-8648B4231DFF}" dt="2026-10-10T14:13:59.901" v="1446" actId="20577"/>
          <ac:spMkLst>
            <pc:docMk/>
            <pc:sldMk cId="0" sldId="280"/>
            <ac:spMk id="4" creationId="{00000000-0000-0000-0000-000000000000}"/>
          </ac:spMkLst>
        </pc:spChg>
        <pc:spChg chg="mod">
          <ac:chgData name="Ben David, Ofir" userId="b76e4e70-005d-40e3-8916-cc0c0e108fc2" providerId="ADAL" clId="{A2CC637E-8A9A-43D4-B903-8648B4231DFF}" dt="2026-10-09T16:10:48.661" v="1291" actId="207"/>
          <ac:spMkLst>
            <pc:docMk/>
            <pc:sldMk cId="0" sldId="280"/>
            <ac:spMk id="5" creationId="{00000000-0000-0000-0000-000000000000}"/>
          </ac:spMkLst>
        </pc:spChg>
        <pc:spChg chg="mod">
          <ac:chgData name="Ben David, Ofir" userId="b76e4e70-005d-40e3-8916-cc0c0e108fc2" providerId="ADAL" clId="{A2CC637E-8A9A-43D4-B903-8648B4231DFF}" dt="2026-10-09T16:10:48.661" v="1291" actId="207"/>
          <ac:spMkLst>
            <pc:docMk/>
            <pc:sldMk cId="0" sldId="280"/>
            <ac:spMk id="7" creationId="{00000000-0000-0000-0000-000000000000}"/>
          </ac:spMkLst>
        </pc:spChg>
        <pc:spChg chg="mod">
          <ac:chgData name="Ben David, Ofir" userId="b76e4e70-005d-40e3-8916-cc0c0e108fc2" providerId="ADAL" clId="{A2CC637E-8A9A-43D4-B903-8648B4231DFF}" dt="2026-10-09T16:10:48.661" v="1291" actId="207"/>
          <ac:spMkLst>
            <pc:docMk/>
            <pc:sldMk cId="0" sldId="280"/>
            <ac:spMk id="13" creationId="{00000000-0000-0000-0000-000000000000}"/>
          </ac:spMkLst>
        </pc:spChg>
        <pc:spChg chg="mod">
          <ac:chgData name="Ben David, Ofir" userId="b76e4e70-005d-40e3-8916-cc0c0e108fc2" providerId="ADAL" clId="{A2CC637E-8A9A-43D4-B903-8648B4231DFF}" dt="2026-10-09T16:11:37.737" v="1293" actId="20577"/>
          <ac:spMkLst>
            <pc:docMk/>
            <pc:sldMk cId="0" sldId="280"/>
            <ac:spMk id="14" creationId="{00000000-0000-0000-0000-000000000000}"/>
          </ac:spMkLst>
        </pc:spChg>
        <pc:spChg chg="mod">
          <ac:chgData name="Ben David, Ofir" userId="b76e4e70-005d-40e3-8916-cc0c0e108fc2" providerId="ADAL" clId="{A2CC637E-8A9A-43D4-B903-8648B4231DFF}" dt="2026-10-09T16:10:48.661" v="1291" actId="207"/>
          <ac:spMkLst>
            <pc:docMk/>
            <pc:sldMk cId="0" sldId="280"/>
            <ac:spMk id="21" creationId="{00000000-0000-0000-0000-000000000000}"/>
          </ac:spMkLst>
        </pc:spChg>
        <pc:spChg chg="mod">
          <ac:chgData name="Ben David, Ofir" userId="b76e4e70-005d-40e3-8916-cc0c0e108fc2" providerId="ADAL" clId="{A2CC637E-8A9A-43D4-B903-8648B4231DFF}" dt="2026-10-09T16:14:10.483" v="1298" actId="14100"/>
          <ac:spMkLst>
            <pc:docMk/>
            <pc:sldMk cId="0" sldId="280"/>
            <ac:spMk id="23" creationId="{00000000-0000-0000-0000-000000000000}"/>
          </ac:spMkLst>
        </pc:spChg>
        <pc:spChg chg="mod">
          <ac:chgData name="Ben David, Ofir" userId="b76e4e70-005d-40e3-8916-cc0c0e108fc2" providerId="ADAL" clId="{A2CC637E-8A9A-43D4-B903-8648B4231DFF}" dt="2026-10-09T16:14:04.761" v="1297" actId="20577"/>
          <ac:spMkLst>
            <pc:docMk/>
            <pc:sldMk cId="0" sldId="280"/>
            <ac:spMk id="24" creationId="{00000000-0000-0000-0000-000000000000}"/>
          </ac:spMkLst>
        </pc:spChg>
        <pc:spChg chg="mod">
          <ac:chgData name="Ben David, Ofir" userId="b76e4e70-005d-40e3-8916-cc0c0e108fc2" providerId="ADAL" clId="{A2CC637E-8A9A-43D4-B903-8648B4231DFF}" dt="2026-10-09T16:10:48.661" v="1291" actId="207"/>
          <ac:spMkLst>
            <pc:docMk/>
            <pc:sldMk cId="0" sldId="280"/>
            <ac:spMk id="25" creationId="{00000000-0000-0000-0000-000000000000}"/>
          </ac:spMkLst>
        </pc:spChg>
        <pc:spChg chg="del mod">
          <ac:chgData name="Ben David, Ofir" userId="b76e4e70-005d-40e3-8916-cc0c0e108fc2" providerId="ADAL" clId="{A2CC637E-8A9A-43D4-B903-8648B4231DFF}" dt="2026-10-09T16:14:28.986" v="1299" actId="478"/>
          <ac:spMkLst>
            <pc:docMk/>
            <pc:sldMk cId="0" sldId="280"/>
            <ac:spMk id="26" creationId="{00000000-0000-0000-0000-000000000000}"/>
          </ac:spMkLst>
        </pc:spChg>
        <pc:spChg chg="del mod">
          <ac:chgData name="Ben David, Ofir" userId="b76e4e70-005d-40e3-8916-cc0c0e108fc2" providerId="ADAL" clId="{A2CC637E-8A9A-43D4-B903-8648B4231DFF}" dt="2026-10-09T16:14:28.986" v="1299" actId="478"/>
          <ac:spMkLst>
            <pc:docMk/>
            <pc:sldMk cId="0" sldId="280"/>
            <ac:spMk id="27" creationId="{00000000-0000-0000-0000-000000000000}"/>
          </ac:spMkLst>
        </pc:spChg>
      </pc:sldChg>
      <pc:sldChg chg="delSp modSp add mod setBg modNotesTx">
        <pc:chgData name="Ben David, Ofir" userId="b76e4e70-005d-40e3-8916-cc0c0e108fc2" providerId="ADAL" clId="{A2CC637E-8A9A-43D4-B903-8648B4231DFF}" dt="2026-10-10T14:14:58.801" v="1461" actId="6549"/>
        <pc:sldMkLst>
          <pc:docMk/>
          <pc:sldMk cId="0" sldId="281"/>
        </pc:sldMkLst>
        <pc:spChg chg="mod">
          <ac:chgData name="Ben David, Ofir" userId="b76e4e70-005d-40e3-8916-cc0c0e108fc2" providerId="ADAL" clId="{A2CC637E-8A9A-43D4-B903-8648B4231DFF}" dt="2026-10-09T16:16:17.576" v="1301" actId="207"/>
          <ac:spMkLst>
            <pc:docMk/>
            <pc:sldMk cId="0" sldId="281"/>
            <ac:spMk id="2" creationId="{00000000-0000-0000-0000-000000000000}"/>
          </ac:spMkLst>
        </pc:spChg>
        <pc:spChg chg="mod">
          <ac:chgData name="Ben David, Ofir" userId="b76e4e70-005d-40e3-8916-cc0c0e108fc2" providerId="ADAL" clId="{A2CC637E-8A9A-43D4-B903-8648B4231DFF}" dt="2026-10-09T16:16:17.576" v="1301" actId="207"/>
          <ac:spMkLst>
            <pc:docMk/>
            <pc:sldMk cId="0" sldId="281"/>
            <ac:spMk id="3" creationId="{00000000-0000-0000-0000-000000000000}"/>
          </ac:spMkLst>
        </pc:spChg>
        <pc:spChg chg="mod">
          <ac:chgData name="Ben David, Ofir" userId="b76e4e70-005d-40e3-8916-cc0c0e108fc2" providerId="ADAL" clId="{A2CC637E-8A9A-43D4-B903-8648B4231DFF}" dt="2026-10-10T14:14:02.957" v="1448" actId="20577"/>
          <ac:spMkLst>
            <pc:docMk/>
            <pc:sldMk cId="0" sldId="281"/>
            <ac:spMk id="4" creationId="{00000000-0000-0000-0000-000000000000}"/>
          </ac:spMkLst>
        </pc:spChg>
        <pc:spChg chg="mod">
          <ac:chgData name="Ben David, Ofir" userId="b76e4e70-005d-40e3-8916-cc0c0e108fc2" providerId="ADAL" clId="{A2CC637E-8A9A-43D4-B903-8648B4231DFF}" dt="2026-10-09T16:19:53.659" v="1321" actId="20577"/>
          <ac:spMkLst>
            <pc:docMk/>
            <pc:sldMk cId="0" sldId="281"/>
            <ac:spMk id="6" creationId="{00000000-0000-0000-0000-000000000000}"/>
          </ac:spMkLst>
        </pc:spChg>
        <pc:spChg chg="mod">
          <ac:chgData name="Ben David, Ofir" userId="b76e4e70-005d-40e3-8916-cc0c0e108fc2" providerId="ADAL" clId="{A2CC637E-8A9A-43D4-B903-8648B4231DFF}" dt="2026-10-10T06:49:43.314" v="1349" actId="20577"/>
          <ac:spMkLst>
            <pc:docMk/>
            <pc:sldMk cId="0" sldId="281"/>
            <ac:spMk id="7" creationId="{00000000-0000-0000-0000-000000000000}"/>
          </ac:spMkLst>
        </pc:spChg>
        <pc:spChg chg="mod">
          <ac:chgData name="Ben David, Ofir" userId="b76e4e70-005d-40e3-8916-cc0c0e108fc2" providerId="ADAL" clId="{A2CC637E-8A9A-43D4-B903-8648B4231DFF}" dt="2026-10-09T16:18:51.483" v="1303" actId="20577"/>
          <ac:spMkLst>
            <pc:docMk/>
            <pc:sldMk cId="0" sldId="281"/>
            <ac:spMk id="10" creationId="{00000000-0000-0000-0000-000000000000}"/>
          </ac:spMkLst>
        </pc:spChg>
        <pc:spChg chg="del mod">
          <ac:chgData name="Ben David, Ofir" userId="b76e4e70-005d-40e3-8916-cc0c0e108fc2" providerId="ADAL" clId="{A2CC637E-8A9A-43D4-B903-8648B4231DFF}" dt="2026-10-09T16:19:08.363" v="1304" actId="478"/>
          <ac:spMkLst>
            <pc:docMk/>
            <pc:sldMk cId="0" sldId="281"/>
            <ac:spMk id="11" creationId="{00000000-0000-0000-0000-000000000000}"/>
          </ac:spMkLst>
        </pc:spChg>
        <pc:spChg chg="del mod">
          <ac:chgData name="Ben David, Ofir" userId="b76e4e70-005d-40e3-8916-cc0c0e108fc2" providerId="ADAL" clId="{A2CC637E-8A9A-43D4-B903-8648B4231DFF}" dt="2026-10-09T16:19:08.363" v="1304" actId="478"/>
          <ac:spMkLst>
            <pc:docMk/>
            <pc:sldMk cId="0" sldId="281"/>
            <ac:spMk id="12" creationId="{00000000-0000-0000-0000-000000000000}"/>
          </ac:spMkLst>
        </pc:spChg>
        <pc:graphicFrameChg chg="modGraphic">
          <ac:chgData name="Ben David, Ofir" userId="b76e4e70-005d-40e3-8916-cc0c0e108fc2" providerId="ADAL" clId="{A2CC637E-8A9A-43D4-B903-8648B4231DFF}" dt="2026-10-10T06:50:24.780" v="1350" actId="2164"/>
          <ac:graphicFrameMkLst>
            <pc:docMk/>
            <pc:sldMk cId="0" sldId="281"/>
            <ac:graphicFrameMk id="8" creationId="{00000000-0000-0000-0000-000000000000}"/>
          </ac:graphicFrameMkLst>
        </pc:graphicFrameChg>
      </pc:sldChg>
      <pc:sldMasterChg chg="setBg modSldLayout">
        <pc:chgData name="Ben David, Ofir" userId="b76e4e70-005d-40e3-8916-cc0c0e108fc2" providerId="ADAL" clId="{A2CC637E-8A9A-43D4-B903-8648B4231DFF}" dt="2026-10-08T14:09:07.197" v="469"/>
        <pc:sldMasterMkLst>
          <pc:docMk/>
          <pc:sldMasterMk cId="2209977519" sldId="2147483648"/>
        </pc:sldMasterMkLst>
        <pc:sldLayoutChg chg="setBg">
          <pc:chgData name="Ben David, Ofir" userId="b76e4e70-005d-40e3-8916-cc0c0e108fc2" providerId="ADAL" clId="{A2CC637E-8A9A-43D4-B903-8648B4231DFF}" dt="2026-10-08T14:09:07.197" v="469"/>
          <pc:sldLayoutMkLst>
            <pc:docMk/>
            <pc:sldMasterMk cId="2209977519" sldId="2147483648"/>
            <pc:sldLayoutMk cId="3168075583" sldId="2147483649"/>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2614314258" sldId="2147483650"/>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960648375" sldId="2147483651"/>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2782244947" sldId="2147483652"/>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990158736" sldId="2147483653"/>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727027711" sldId="2147483654"/>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1212999818" sldId="2147483655"/>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1840726560" sldId="2147483656"/>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3889236939" sldId="2147483657"/>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2910927964" sldId="2147483658"/>
          </pc:sldLayoutMkLst>
        </pc:sldLayoutChg>
        <pc:sldLayoutChg chg="setBg">
          <pc:chgData name="Ben David, Ofir" userId="b76e4e70-005d-40e3-8916-cc0c0e108fc2" providerId="ADAL" clId="{A2CC637E-8A9A-43D4-B903-8648B4231DFF}" dt="2026-10-08T14:09:07.197" v="469"/>
          <pc:sldLayoutMkLst>
            <pc:docMk/>
            <pc:sldMasterMk cId="2209977519" sldId="2147483648"/>
            <pc:sldLayoutMk cId="3612223792"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6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en-IL" dirty="0" err="1"/>
              <a:t>כאן</a:t>
            </a:r>
            <a:r>
              <a:rPr lang="en-IL" dirty="0"/>
              <a:t> </a:t>
            </a:r>
            <a:r>
              <a:rPr lang="en-IL" dirty="0" err="1"/>
              <a:t>רואים</a:t>
            </a:r>
            <a:r>
              <a:rPr lang="en-IL" dirty="0"/>
              <a:t> </a:t>
            </a:r>
            <a:r>
              <a:rPr lang="en-IL" dirty="0" err="1"/>
              <a:t>מטופל</a:t>
            </a:r>
            <a:r>
              <a:rPr lang="en-IL" dirty="0"/>
              <a:t> </a:t>
            </a:r>
            <a:r>
              <a:rPr lang="en-IL" dirty="0" err="1"/>
              <a:t>אחד</a:t>
            </a:r>
            <a:r>
              <a:rPr lang="en-IL" dirty="0"/>
              <a:t>, BraTS-GLI-00046-101, </a:t>
            </a:r>
            <a:r>
              <a:rPr lang="en-IL" dirty="0" err="1"/>
              <a:t>בפרוסה</a:t>
            </a:r>
            <a:r>
              <a:rPr lang="en-IL" dirty="0"/>
              <a:t> 115, </a:t>
            </a:r>
            <a:r>
              <a:rPr lang="en-IL" dirty="0" err="1"/>
              <a:t>בהגדלה</a:t>
            </a:r>
            <a:r>
              <a:rPr lang="en-IL" dirty="0"/>
              <a:t> </a:t>
            </a:r>
            <a:r>
              <a:rPr lang="en-IL" dirty="0" err="1"/>
              <a:t>על</a:t>
            </a:r>
            <a:r>
              <a:rPr lang="en-IL" dirty="0"/>
              <a:t> </a:t>
            </a:r>
            <a:r>
              <a:rPr lang="en-IL" dirty="0" err="1"/>
              <a:t>אזור</a:t>
            </a:r>
            <a:r>
              <a:rPr lang="en-IL" dirty="0"/>
              <a:t> </a:t>
            </a:r>
            <a:r>
              <a:rPr lang="en-IL" dirty="0" err="1"/>
              <a:t>הגידול</a:t>
            </a:r>
            <a:r>
              <a:rPr lang="en-IL" dirty="0"/>
              <a:t>. </a:t>
            </a:r>
            <a:r>
              <a:rPr lang="en-IL" dirty="0" err="1"/>
              <a:t>בפרוסה</a:t>
            </a:r>
            <a:r>
              <a:rPr lang="en-IL" dirty="0"/>
              <a:t> </a:t>
            </a:r>
            <a:r>
              <a:rPr lang="en-IL" dirty="0" err="1"/>
              <a:t>הזאת</a:t>
            </a:r>
            <a:r>
              <a:rPr lang="en-IL" dirty="0"/>
              <a:t> </a:t>
            </a:r>
            <a:r>
              <a:rPr lang="en-IL" dirty="0" err="1"/>
              <a:t>מופיעים</a:t>
            </a:r>
            <a:r>
              <a:rPr lang="en-IL" dirty="0"/>
              <a:t> </a:t>
            </a:r>
            <a:r>
              <a:rPr lang="en-IL" dirty="0" err="1"/>
              <a:t>כל</a:t>
            </a:r>
            <a:r>
              <a:rPr lang="en-IL" dirty="0"/>
              <a:t> </a:t>
            </a:r>
            <a:r>
              <a:rPr lang="en-IL" dirty="0" err="1"/>
              <a:t>ארבעת</a:t>
            </a:r>
            <a:r>
              <a:rPr lang="en-IL" dirty="0"/>
              <a:t> </a:t>
            </a:r>
            <a:r>
              <a:rPr lang="en-IL" dirty="0" err="1"/>
              <a:t>חלקי</a:t>
            </a:r>
            <a:r>
              <a:rPr lang="en-IL" dirty="0"/>
              <a:t> </a:t>
            </a:r>
            <a:r>
              <a:rPr lang="en-IL" dirty="0" err="1"/>
              <a:t>הגידול</a:t>
            </a:r>
            <a:r>
              <a:rPr lang="en-IL" dirty="0"/>
              <a:t>.</a:t>
            </a:r>
          </a:p>
          <a:p>
            <a:pPr algn="r" rtl="1"/>
            <a:r>
              <a:rPr lang="en-IL" b="1" dirty="0"/>
              <a:t>T1 (</a:t>
            </a:r>
            <a:r>
              <a:rPr lang="en-IL" b="1" dirty="0" err="1"/>
              <a:t>בלי</a:t>
            </a:r>
            <a:r>
              <a:rPr lang="en-IL" b="1" dirty="0"/>
              <a:t> </a:t>
            </a:r>
            <a:r>
              <a:rPr lang="en-IL" b="1" dirty="0" err="1"/>
              <a:t>חומר</a:t>
            </a:r>
            <a:r>
              <a:rPr lang="en-IL" b="1" dirty="0"/>
              <a:t> </a:t>
            </a:r>
            <a:r>
              <a:rPr lang="en-IL" b="1" dirty="0" err="1"/>
              <a:t>ניגוד</a:t>
            </a:r>
            <a:r>
              <a:rPr lang="en-IL" b="1" dirty="0"/>
              <a:t>):</a:t>
            </a:r>
            <a:r>
              <a:rPr lang="en-IL" dirty="0"/>
              <a:t> </a:t>
            </a:r>
            <a:r>
              <a:rPr lang="en-IL" dirty="0" err="1"/>
              <a:t>אפשר</a:t>
            </a:r>
            <a:r>
              <a:rPr lang="en-IL" dirty="0"/>
              <a:t> </a:t>
            </a:r>
            <a:r>
              <a:rPr lang="en-IL" dirty="0" err="1"/>
              <a:t>לראות</a:t>
            </a:r>
            <a:r>
              <a:rPr lang="en-IL" dirty="0"/>
              <a:t> </a:t>
            </a:r>
            <a:r>
              <a:rPr lang="en-IL" dirty="0" err="1"/>
              <a:t>את</a:t>
            </a:r>
            <a:r>
              <a:rPr lang="en-IL" dirty="0"/>
              <a:t> </a:t>
            </a:r>
            <a:r>
              <a:rPr lang="en-IL" dirty="0" err="1"/>
              <a:t>האזור</a:t>
            </a:r>
            <a:r>
              <a:rPr lang="en-IL" dirty="0"/>
              <a:t> </a:t>
            </a:r>
            <a:r>
              <a:rPr lang="en-IL" dirty="0" err="1"/>
              <a:t>הפעיל</a:t>
            </a:r>
            <a:r>
              <a:rPr lang="en-IL" dirty="0"/>
              <a:t> </a:t>
            </a:r>
            <a:r>
              <a:rPr lang="en-IL" dirty="0" err="1"/>
              <a:t>של</a:t>
            </a:r>
            <a:r>
              <a:rPr lang="en-IL" dirty="0"/>
              <a:t> </a:t>
            </a:r>
            <a:r>
              <a:rPr lang="en-IL" dirty="0" err="1"/>
              <a:t>הגידול</a:t>
            </a:r>
            <a:r>
              <a:rPr lang="en-IL" dirty="0"/>
              <a:t>, </a:t>
            </a:r>
            <a:r>
              <a:rPr lang="en-IL" dirty="0" err="1"/>
              <a:t>אבל</a:t>
            </a:r>
            <a:r>
              <a:rPr lang="en-IL" dirty="0"/>
              <a:t> </a:t>
            </a:r>
            <a:r>
              <a:rPr lang="en-IL" dirty="0" err="1"/>
              <a:t>לא</a:t>
            </a:r>
            <a:r>
              <a:rPr lang="en-IL" dirty="0"/>
              <a:t> </a:t>
            </a:r>
            <a:r>
              <a:rPr lang="en-IL" dirty="0" err="1"/>
              <a:t>בצורה</a:t>
            </a:r>
            <a:r>
              <a:rPr lang="en-IL" dirty="0"/>
              <a:t> </a:t>
            </a:r>
            <a:r>
              <a:rPr lang="en-IL" dirty="0" err="1"/>
              <a:t>ברורה</a:t>
            </a:r>
            <a:r>
              <a:rPr lang="en-IL" dirty="0"/>
              <a:t>.</a:t>
            </a:r>
          </a:p>
          <a:p>
            <a:pPr algn="r" rtl="1"/>
            <a:r>
              <a:rPr lang="en-IL" b="1" dirty="0"/>
              <a:t>T1C (</a:t>
            </a:r>
            <a:r>
              <a:rPr lang="en-IL" b="1" dirty="0" err="1"/>
              <a:t>עם</a:t>
            </a:r>
            <a:r>
              <a:rPr lang="en-IL" b="1" dirty="0"/>
              <a:t> </a:t>
            </a:r>
            <a:r>
              <a:rPr lang="en-IL" b="1" dirty="0" err="1"/>
              <a:t>חומר</a:t>
            </a:r>
            <a:r>
              <a:rPr lang="en-IL" b="1" dirty="0"/>
              <a:t> </a:t>
            </a:r>
            <a:r>
              <a:rPr lang="en-IL" b="1" dirty="0" err="1"/>
              <a:t>הניגוד</a:t>
            </a:r>
            <a:r>
              <a:rPr lang="en-IL" b="1" dirty="0"/>
              <a:t> </a:t>
            </a:r>
            <a:r>
              <a:rPr lang="en-IL" b="1" dirty="0" err="1"/>
              <a:t>גדוליניום</a:t>
            </a:r>
            <a:r>
              <a:rPr lang="en-IL" b="1" dirty="0"/>
              <a:t>):</a:t>
            </a:r>
            <a:r>
              <a:rPr lang="en-IL" dirty="0"/>
              <a:t> </a:t>
            </a:r>
            <a:r>
              <a:rPr lang="en-IL" dirty="0" err="1"/>
              <a:t>במקומות</a:t>
            </a:r>
            <a:r>
              <a:rPr lang="en-IL" dirty="0"/>
              <a:t> </a:t>
            </a:r>
            <a:r>
              <a:rPr lang="en-IL" dirty="0" err="1"/>
              <a:t>שבהם</a:t>
            </a:r>
            <a:r>
              <a:rPr lang="en-IL" dirty="0"/>
              <a:t> </a:t>
            </a:r>
            <a:r>
              <a:rPr lang="en-IL" dirty="0" err="1"/>
              <a:t>מחסום</a:t>
            </a:r>
            <a:r>
              <a:rPr lang="en-IL" dirty="0"/>
              <a:t> </a:t>
            </a:r>
            <a:r>
              <a:rPr lang="en-IL" dirty="0" err="1"/>
              <a:t>הדם-מוח</a:t>
            </a:r>
            <a:r>
              <a:rPr lang="en-IL" dirty="0"/>
              <a:t> (BBB – Blood–Brain Barrier) </a:t>
            </a:r>
            <a:r>
              <a:rPr lang="en-IL" dirty="0" err="1"/>
              <a:t>פגוע</a:t>
            </a:r>
            <a:r>
              <a:rPr lang="en-IL" dirty="0"/>
              <a:t>, </a:t>
            </a:r>
            <a:r>
              <a:rPr lang="en-IL" dirty="0" err="1"/>
              <a:t>כלי</a:t>
            </a:r>
            <a:r>
              <a:rPr lang="en-IL" dirty="0"/>
              <a:t> </a:t>
            </a:r>
            <a:r>
              <a:rPr lang="en-IL" dirty="0" err="1"/>
              <a:t>הדם</a:t>
            </a:r>
            <a:r>
              <a:rPr lang="en-IL" dirty="0"/>
              <a:t> </a:t>
            </a:r>
            <a:r>
              <a:rPr lang="en-IL" dirty="0" err="1"/>
              <a:t>דולפים</a:t>
            </a:r>
            <a:r>
              <a:rPr lang="en-IL" dirty="0"/>
              <a:t> </a:t>
            </a:r>
            <a:r>
              <a:rPr lang="en-IL" dirty="0" err="1"/>
              <a:t>והגדוליניום</a:t>
            </a:r>
            <a:r>
              <a:rPr lang="en-IL" dirty="0"/>
              <a:t> </a:t>
            </a:r>
            <a:r>
              <a:rPr lang="en-IL" dirty="0" err="1"/>
              <a:t>מצטבר</a:t>
            </a:r>
            <a:r>
              <a:rPr lang="en-IL" dirty="0"/>
              <a:t> </a:t>
            </a:r>
            <a:r>
              <a:rPr lang="en-IL" dirty="0" err="1"/>
              <a:t>ברקמה</a:t>
            </a:r>
            <a:r>
              <a:rPr lang="en-IL" dirty="0"/>
              <a:t>, </a:t>
            </a:r>
            <a:r>
              <a:rPr lang="en-IL" dirty="0" err="1"/>
              <a:t>ולכן</a:t>
            </a:r>
            <a:r>
              <a:rPr lang="en-IL" dirty="0"/>
              <a:t> </a:t>
            </a:r>
            <a:r>
              <a:rPr lang="en-IL" dirty="0" err="1"/>
              <a:t>היא</a:t>
            </a:r>
            <a:r>
              <a:rPr lang="en-IL" dirty="0"/>
              <a:t> </a:t>
            </a:r>
            <a:r>
              <a:rPr lang="en-IL" dirty="0" err="1"/>
              <a:t>נראית</a:t>
            </a:r>
            <a:r>
              <a:rPr lang="en-IL" dirty="0"/>
              <a:t> </a:t>
            </a:r>
            <a:r>
              <a:rPr lang="en-IL" dirty="0" err="1"/>
              <a:t>לבנה</a:t>
            </a:r>
            <a:r>
              <a:rPr lang="en-IL" dirty="0"/>
              <a:t>. </a:t>
            </a:r>
            <a:r>
              <a:rPr lang="en-IL" dirty="0" err="1"/>
              <a:t>לדוגמה</a:t>
            </a:r>
            <a:r>
              <a:rPr lang="en-IL" dirty="0"/>
              <a:t>, </a:t>
            </a:r>
            <a:r>
              <a:rPr lang="en-IL" dirty="0" err="1"/>
              <a:t>הטבעת</a:t>
            </a:r>
            <a:r>
              <a:rPr lang="en-IL" dirty="0"/>
              <a:t> </a:t>
            </a:r>
            <a:r>
              <a:rPr lang="en-IL" dirty="0" err="1"/>
              <a:t>הלבנה</a:t>
            </a:r>
            <a:r>
              <a:rPr lang="en-IL" dirty="0"/>
              <a:t> </a:t>
            </a:r>
            <a:r>
              <a:rPr lang="en-IL" dirty="0" err="1"/>
              <a:t>היא</a:t>
            </a:r>
            <a:r>
              <a:rPr lang="en-IL" dirty="0"/>
              <a:t> </a:t>
            </a:r>
            <a:r>
              <a:rPr lang="en-IL" dirty="0" err="1"/>
              <a:t>רקמת</a:t>
            </a:r>
            <a:r>
              <a:rPr lang="en-IL" dirty="0"/>
              <a:t> </a:t>
            </a:r>
            <a:r>
              <a:rPr lang="en-IL" dirty="0" err="1"/>
              <a:t>הגידול</a:t>
            </a:r>
            <a:r>
              <a:rPr lang="en-IL" dirty="0"/>
              <a:t> </a:t>
            </a:r>
            <a:r>
              <a:rPr lang="en-IL" dirty="0" err="1"/>
              <a:t>הפעיל</a:t>
            </a:r>
            <a:r>
              <a:rPr lang="en-IL" dirty="0"/>
              <a:t> (ET). </a:t>
            </a:r>
            <a:r>
              <a:rPr lang="en-IL" dirty="0" err="1"/>
              <a:t>כאן</a:t>
            </a:r>
            <a:r>
              <a:rPr lang="en-IL" dirty="0"/>
              <a:t> </a:t>
            </a:r>
            <a:r>
              <a:rPr lang="en-IL" dirty="0" err="1"/>
              <a:t>אפשר</a:t>
            </a:r>
            <a:r>
              <a:rPr lang="en-IL" dirty="0"/>
              <a:t> </a:t>
            </a:r>
            <a:r>
              <a:rPr lang="en-IL" dirty="0" err="1"/>
              <a:t>לראות</a:t>
            </a:r>
            <a:r>
              <a:rPr lang="en-IL" dirty="0"/>
              <a:t> </a:t>
            </a:r>
            <a:r>
              <a:rPr lang="en-IL" dirty="0" err="1"/>
              <a:t>גם</a:t>
            </a:r>
            <a:r>
              <a:rPr lang="en-IL" dirty="0"/>
              <a:t> </a:t>
            </a:r>
            <a:r>
              <a:rPr lang="en-IL" dirty="0" err="1"/>
              <a:t>את</a:t>
            </a:r>
            <a:r>
              <a:rPr lang="en-IL" dirty="0"/>
              <a:t> </a:t>
            </a:r>
            <a:r>
              <a:rPr lang="en-IL" dirty="0" err="1"/>
              <a:t>הליבה</a:t>
            </a:r>
            <a:r>
              <a:rPr lang="en-IL" dirty="0"/>
              <a:t> </a:t>
            </a:r>
            <a:r>
              <a:rPr lang="en-IL" dirty="0" err="1"/>
              <a:t>הנמקית</a:t>
            </a:r>
            <a:r>
              <a:rPr lang="en-IL" dirty="0"/>
              <a:t> (Necrotic core, NETC), </a:t>
            </a:r>
            <a:r>
              <a:rPr lang="en-IL" dirty="0" err="1"/>
              <a:t>החלק</a:t>
            </a:r>
            <a:r>
              <a:rPr lang="en-IL" dirty="0"/>
              <a:t> </a:t>
            </a:r>
            <a:r>
              <a:rPr lang="en-IL" dirty="0" err="1"/>
              <a:t>המת</a:t>
            </a:r>
            <a:r>
              <a:rPr lang="en-IL" dirty="0"/>
              <a:t> </a:t>
            </a:r>
            <a:r>
              <a:rPr lang="en-IL" dirty="0" err="1"/>
              <a:t>של</a:t>
            </a:r>
            <a:r>
              <a:rPr lang="en-IL" dirty="0"/>
              <a:t> </a:t>
            </a:r>
            <a:r>
              <a:rPr lang="en-IL" dirty="0" err="1"/>
              <a:t>הגידול</a:t>
            </a:r>
            <a:r>
              <a:rPr lang="en-IL" dirty="0"/>
              <a:t>, </a:t>
            </a:r>
            <a:r>
              <a:rPr lang="en-IL" dirty="0" err="1"/>
              <a:t>שנשאר</a:t>
            </a:r>
            <a:r>
              <a:rPr lang="en-IL" dirty="0"/>
              <a:t> </a:t>
            </a:r>
            <a:r>
              <a:rPr lang="en-IL" dirty="0" err="1"/>
              <a:t>כהה</a:t>
            </a:r>
            <a:r>
              <a:rPr lang="en-IL" dirty="0"/>
              <a:t> </a:t>
            </a:r>
            <a:r>
              <a:rPr lang="en-IL" dirty="0" err="1"/>
              <a:t>במרכז</a:t>
            </a:r>
            <a:r>
              <a:rPr lang="en-IL" dirty="0"/>
              <a:t>.</a:t>
            </a:r>
          </a:p>
          <a:p>
            <a:pPr algn="r" rtl="1"/>
            <a:r>
              <a:rPr lang="en-IL" b="1" dirty="0"/>
              <a:t>T2 ו-FLAIR:</a:t>
            </a:r>
            <a:r>
              <a:rPr lang="en-IL" dirty="0"/>
              <a:t> </a:t>
            </a:r>
            <a:r>
              <a:rPr lang="en-IL" dirty="0" err="1"/>
              <a:t>שניהם</a:t>
            </a:r>
            <a:r>
              <a:rPr lang="en-IL" dirty="0"/>
              <a:t> </a:t>
            </a:r>
            <a:r>
              <a:rPr lang="en-IL" dirty="0" err="1"/>
              <a:t>מבליטים</a:t>
            </a:r>
            <a:r>
              <a:rPr lang="en-IL" dirty="0"/>
              <a:t> </a:t>
            </a:r>
            <a:r>
              <a:rPr lang="en-IL" dirty="0" err="1"/>
              <a:t>את</a:t>
            </a:r>
            <a:r>
              <a:rPr lang="en-IL" dirty="0"/>
              <a:t> </a:t>
            </a:r>
            <a:r>
              <a:rPr lang="en-IL" dirty="0" err="1"/>
              <a:t>הבצקת</a:t>
            </a:r>
            <a:r>
              <a:rPr lang="en-IL" dirty="0"/>
              <a:t> </a:t>
            </a:r>
            <a:r>
              <a:rPr lang="en-IL" dirty="0" err="1"/>
              <a:t>והנוזלים</a:t>
            </a:r>
            <a:r>
              <a:rPr lang="en-IL" dirty="0"/>
              <a:t>. ב-FLAIR </a:t>
            </a:r>
            <a:r>
              <a:rPr lang="en-IL" dirty="0" err="1"/>
              <a:t>הנוזל</a:t>
            </a:r>
            <a:r>
              <a:rPr lang="en-IL" dirty="0"/>
              <a:t> </a:t>
            </a:r>
            <a:r>
              <a:rPr lang="en-IL" dirty="0" err="1"/>
              <a:t>הרגיל</a:t>
            </a:r>
            <a:r>
              <a:rPr lang="en-IL" dirty="0"/>
              <a:t> </a:t>
            </a:r>
            <a:r>
              <a:rPr lang="en-IL" dirty="0" err="1"/>
              <a:t>של</a:t>
            </a:r>
            <a:r>
              <a:rPr lang="en-IL" dirty="0"/>
              <a:t> </a:t>
            </a:r>
            <a:r>
              <a:rPr lang="en-IL" dirty="0" err="1"/>
              <a:t>המוח</a:t>
            </a:r>
            <a:r>
              <a:rPr lang="en-IL" dirty="0"/>
              <a:t> (</a:t>
            </a:r>
            <a:r>
              <a:rPr lang="en-IL" dirty="0" err="1"/>
              <a:t>בחדרים</a:t>
            </a:r>
            <a:r>
              <a:rPr lang="en-IL" dirty="0"/>
              <a:t>) </a:t>
            </a:r>
            <a:r>
              <a:rPr lang="en-IL" dirty="0" err="1"/>
              <a:t>נראה</a:t>
            </a:r>
            <a:r>
              <a:rPr lang="en-IL" dirty="0"/>
              <a:t> </a:t>
            </a:r>
            <a:r>
              <a:rPr lang="en-IL" dirty="0" err="1"/>
              <a:t>כהה</a:t>
            </a:r>
            <a:r>
              <a:rPr lang="en-IL" dirty="0"/>
              <a:t>, </a:t>
            </a:r>
            <a:r>
              <a:rPr lang="en-IL" dirty="0" err="1"/>
              <a:t>ולכן</a:t>
            </a:r>
            <a:r>
              <a:rPr lang="en-IL" dirty="0"/>
              <a:t> </a:t>
            </a:r>
            <a:r>
              <a:rPr lang="en-IL" dirty="0" err="1"/>
              <a:t>הבצקת</a:t>
            </a:r>
            <a:r>
              <a:rPr lang="en-IL" dirty="0"/>
              <a:t> </a:t>
            </a:r>
            <a:r>
              <a:rPr lang="en-IL" dirty="0" err="1"/>
              <a:t>בולטת</a:t>
            </a:r>
            <a:r>
              <a:rPr lang="en-IL" dirty="0"/>
              <a:t> </a:t>
            </a:r>
            <a:r>
              <a:rPr lang="en-IL" dirty="0" err="1"/>
              <a:t>יותר</a:t>
            </a:r>
            <a:r>
              <a:rPr lang="en-IL" dirty="0"/>
              <a:t>.</a:t>
            </a:r>
          </a:p>
          <a:p>
            <a:pPr algn="r" rtl="1"/>
            <a:r>
              <a:rPr lang="en-IL" b="1" dirty="0" err="1"/>
              <a:t>בחלק</a:t>
            </a:r>
            <a:r>
              <a:rPr lang="en-IL" b="1" dirty="0"/>
              <a:t> </a:t>
            </a:r>
            <a:r>
              <a:rPr lang="en-IL" b="1" dirty="0" err="1"/>
              <a:t>הצהוב</a:t>
            </a:r>
            <a:r>
              <a:rPr lang="en-IL" b="1" dirty="0"/>
              <a:t>:</a:t>
            </a:r>
            <a:r>
              <a:rPr lang="en-IL" dirty="0"/>
              <a:t> </a:t>
            </a:r>
            <a:r>
              <a:rPr lang="en-IL" dirty="0" err="1"/>
              <a:t>חלל</a:t>
            </a:r>
            <a:r>
              <a:rPr lang="en-IL" dirty="0"/>
              <a:t> </a:t>
            </a:r>
            <a:r>
              <a:rPr lang="en-IL" dirty="0" err="1"/>
              <a:t>הניתוח</a:t>
            </a:r>
            <a:r>
              <a:rPr lang="en-IL" dirty="0"/>
              <a:t> (Resection cavity, RC), </a:t>
            </a:r>
            <a:r>
              <a:rPr lang="en-IL" dirty="0" err="1"/>
              <a:t>המקום</a:t>
            </a:r>
            <a:r>
              <a:rPr lang="en-IL" dirty="0"/>
              <a:t> </a:t>
            </a:r>
            <a:r>
              <a:rPr lang="en-IL" dirty="0" err="1"/>
              <a:t>שממנו</a:t>
            </a:r>
            <a:r>
              <a:rPr lang="en-IL" dirty="0"/>
              <a:t> </a:t>
            </a:r>
            <a:r>
              <a:rPr lang="en-IL" dirty="0" err="1"/>
              <a:t>הוסר</a:t>
            </a:r>
            <a:r>
              <a:rPr lang="en-IL" dirty="0"/>
              <a:t> </a:t>
            </a:r>
            <a:r>
              <a:rPr lang="en-IL" dirty="0" err="1"/>
              <a:t>הגידול</a:t>
            </a:r>
            <a:r>
              <a:rPr lang="en-IL" dirty="0"/>
              <a:t> </a:t>
            </a:r>
            <a:r>
              <a:rPr lang="en-IL" dirty="0" err="1"/>
              <a:t>בניתוח</a:t>
            </a:r>
            <a:r>
              <a:rPr lang="en-IL" dirty="0"/>
              <a:t>.</a:t>
            </a:r>
          </a:p>
          <a:p>
            <a:pPr algn="r" rtl="1"/>
            <a:r>
              <a:rPr lang="en-IL" dirty="0" err="1"/>
              <a:t>אנחנו</a:t>
            </a:r>
            <a:r>
              <a:rPr lang="en-IL" dirty="0"/>
              <a:t> </a:t>
            </a:r>
            <a:r>
              <a:rPr lang="en-IL" dirty="0" err="1"/>
              <a:t>מסמנים</a:t>
            </a:r>
            <a:r>
              <a:rPr lang="en-IL" dirty="0"/>
              <a:t> </a:t>
            </a:r>
            <a:r>
              <a:rPr lang="en-IL" dirty="0" err="1"/>
              <a:t>את</a:t>
            </a:r>
            <a:r>
              <a:rPr lang="en-IL" dirty="0"/>
              <a:t> </a:t>
            </a:r>
            <a:r>
              <a:rPr lang="en-IL" dirty="0" err="1"/>
              <a:t>הגידול</a:t>
            </a:r>
            <a:r>
              <a:rPr lang="en-IL" dirty="0"/>
              <a:t> </a:t>
            </a:r>
            <a:r>
              <a:rPr lang="en-IL" dirty="0" err="1"/>
              <a:t>כולו</a:t>
            </a:r>
            <a:r>
              <a:rPr lang="en-IL" dirty="0"/>
              <a:t>, </a:t>
            </a:r>
            <a:r>
              <a:rPr lang="en-IL" dirty="0" err="1"/>
              <a:t>כלומר</a:t>
            </a:r>
            <a:r>
              <a:rPr lang="en-IL" dirty="0"/>
              <a:t> </a:t>
            </a:r>
            <a:r>
              <a:rPr lang="en-IL" dirty="0" err="1"/>
              <a:t>את</a:t>
            </a:r>
            <a:r>
              <a:rPr lang="en-IL" dirty="0"/>
              <a:t> </a:t>
            </a:r>
            <a:r>
              <a:rPr lang="en-IL" dirty="0" err="1"/>
              <a:t>כל</a:t>
            </a:r>
            <a:r>
              <a:rPr lang="en-IL" dirty="0"/>
              <a:t> </a:t>
            </a:r>
            <a:r>
              <a:rPr lang="en-IL" dirty="0" err="1"/>
              <a:t>החלקים</a:t>
            </a:r>
            <a:r>
              <a:rPr lang="en-IL" dirty="0"/>
              <a:t> </a:t>
            </a:r>
            <a:r>
              <a:rPr lang="en-IL" dirty="0" err="1"/>
              <a:t>יחד</a:t>
            </a:r>
            <a:r>
              <a:rPr lang="en-IL" dirty="0"/>
              <a:t>. </a:t>
            </a:r>
            <a:r>
              <a:rPr lang="en-IL" dirty="0" err="1"/>
              <a:t>המודלים</a:t>
            </a:r>
            <a:r>
              <a:rPr lang="en-IL" dirty="0"/>
              <a:t> </a:t>
            </a:r>
            <a:r>
              <a:rPr lang="en-IL" dirty="0" err="1"/>
              <a:t>שלנו</a:t>
            </a:r>
            <a:r>
              <a:rPr lang="en-IL" dirty="0"/>
              <a:t> </a:t>
            </a:r>
            <a:r>
              <a:rPr lang="en-IL" dirty="0" err="1"/>
              <a:t>מקבלים</a:t>
            </a:r>
            <a:r>
              <a:rPr lang="en-IL" dirty="0"/>
              <a:t> </a:t>
            </a:r>
            <a:r>
              <a:rPr lang="en-IL" dirty="0" err="1"/>
              <a:t>את</a:t>
            </a:r>
            <a:r>
              <a:rPr lang="en-IL" dirty="0"/>
              <a:t> T1C, T2 ו-FLAIR </a:t>
            </a:r>
            <a:r>
              <a:rPr lang="en-IL" dirty="0" err="1"/>
              <a:t>כתמונה</a:t>
            </a:r>
            <a:r>
              <a:rPr lang="en-IL" dirty="0"/>
              <a:t> </a:t>
            </a:r>
            <a:r>
              <a:rPr lang="en-IL" dirty="0" err="1"/>
              <a:t>צבעונית</a:t>
            </a:r>
            <a:r>
              <a:rPr lang="en-IL" dirty="0"/>
              <a:t> </a:t>
            </a:r>
            <a:r>
              <a:rPr lang="en-IL" dirty="0" err="1"/>
              <a:t>אחת</a:t>
            </a:r>
            <a:r>
              <a:rPr lang="en-IL" dirty="0"/>
              <a:t>.</a:t>
            </a:r>
          </a:p>
          <a:p>
            <a:pPr algn="r" rtl="1"/>
            <a:r>
              <a:rPr lang="en-IL" b="1" dirty="0" err="1"/>
              <a:t>המדד</a:t>
            </a:r>
            <a:r>
              <a:rPr lang="en-IL" b="1" dirty="0"/>
              <a:t>:</a:t>
            </a:r>
            <a:r>
              <a:rPr lang="en-IL" dirty="0"/>
              <a:t> 3D Dice, </a:t>
            </a:r>
            <a:r>
              <a:rPr lang="en-IL" dirty="0" err="1"/>
              <a:t>החפיפה</a:t>
            </a:r>
            <a:r>
              <a:rPr lang="en-IL" dirty="0"/>
              <a:t> </a:t>
            </a:r>
            <a:r>
              <a:rPr lang="en-IL" dirty="0" err="1"/>
              <a:t>בין</a:t>
            </a:r>
            <a:r>
              <a:rPr lang="en-IL" dirty="0"/>
              <a:t> </a:t>
            </a:r>
            <a:r>
              <a:rPr lang="en-IL" dirty="0" err="1"/>
              <a:t>המסכה</a:t>
            </a:r>
            <a:r>
              <a:rPr lang="en-IL" dirty="0"/>
              <a:t> </a:t>
            </a:r>
            <a:r>
              <a:rPr lang="en-IL" dirty="0" err="1"/>
              <a:t>של</a:t>
            </a:r>
            <a:r>
              <a:rPr lang="en-IL" dirty="0"/>
              <a:t> </a:t>
            </a:r>
            <a:r>
              <a:rPr lang="en-IL" dirty="0" err="1"/>
              <a:t>המודל</a:t>
            </a:r>
            <a:r>
              <a:rPr lang="en-IL" dirty="0"/>
              <a:t> </a:t>
            </a:r>
            <a:r>
              <a:rPr lang="en-IL" dirty="0" err="1"/>
              <a:t>לזו</a:t>
            </a:r>
            <a:r>
              <a:rPr lang="en-IL" dirty="0"/>
              <a:t> </a:t>
            </a:r>
            <a:r>
              <a:rPr lang="en-IL" dirty="0" err="1"/>
              <a:t>של</a:t>
            </a:r>
            <a:r>
              <a:rPr lang="en-IL" dirty="0"/>
              <a:t> </a:t>
            </a:r>
            <a:r>
              <a:rPr lang="en-IL" dirty="0" err="1"/>
              <a:t>המומחה</a:t>
            </a:r>
            <a:r>
              <a:rPr lang="en-IL" dirty="0"/>
              <a:t> </a:t>
            </a:r>
            <a:r>
              <a:rPr lang="en-IL" dirty="0" err="1"/>
              <a:t>בכל</a:t>
            </a:r>
            <a:r>
              <a:rPr lang="en-IL" dirty="0"/>
              <a:t> </a:t>
            </a:r>
            <a:r>
              <a:rPr lang="en-IL" dirty="0" err="1"/>
              <a:t>הנפח</a:t>
            </a:r>
            <a:r>
              <a:rPr lang="en-IL" dirty="0"/>
              <a:t>. 0 = </a:t>
            </a:r>
            <a:r>
              <a:rPr lang="en-IL" dirty="0" err="1"/>
              <a:t>אין</a:t>
            </a:r>
            <a:r>
              <a:rPr lang="en-IL" dirty="0"/>
              <a:t> </a:t>
            </a:r>
            <a:r>
              <a:rPr lang="en-IL" dirty="0" err="1"/>
              <a:t>חפיפה</a:t>
            </a:r>
            <a:r>
              <a:rPr lang="en-IL" dirty="0"/>
              <a:t>, 1 = </a:t>
            </a:r>
            <a:r>
              <a:rPr lang="en-IL" dirty="0" err="1"/>
              <a:t>מושלם</a:t>
            </a:r>
            <a:r>
              <a:rPr lang="en-IL" dirty="0"/>
              <a:t>.</a:t>
            </a:r>
          </a:p>
          <a:p>
            <a:pPr algn="r" rtl="1"/>
            <a:r>
              <a:rPr lang="en-IL" b="1" dirty="0" err="1"/>
              <a:t>מסר</a:t>
            </a:r>
            <a:r>
              <a:rPr lang="en-IL" b="1" dirty="0"/>
              <a:t>:</a:t>
            </a:r>
            <a:r>
              <a:rPr lang="en-IL" dirty="0"/>
              <a:t> </a:t>
            </a:r>
            <a:r>
              <a:rPr lang="en-IL" dirty="0" err="1"/>
              <a:t>אף</a:t>
            </a:r>
            <a:r>
              <a:rPr lang="en-IL" dirty="0"/>
              <a:t> </a:t>
            </a:r>
            <a:r>
              <a:rPr lang="en-IL" dirty="0" err="1"/>
              <a:t>רצף</a:t>
            </a:r>
            <a:r>
              <a:rPr lang="en-IL" dirty="0"/>
              <a:t> </a:t>
            </a:r>
            <a:r>
              <a:rPr lang="en-IL" dirty="0" err="1"/>
              <a:t>לבד</a:t>
            </a:r>
            <a:r>
              <a:rPr lang="en-IL" dirty="0"/>
              <a:t> </a:t>
            </a:r>
            <a:r>
              <a:rPr lang="en-IL" dirty="0" err="1"/>
              <a:t>לא</a:t>
            </a:r>
            <a:r>
              <a:rPr lang="en-IL" dirty="0"/>
              <a:t> </a:t>
            </a:r>
            <a:r>
              <a:rPr lang="en-IL" dirty="0" err="1"/>
              <a:t>מראה</a:t>
            </a:r>
            <a:r>
              <a:rPr lang="en-IL" dirty="0"/>
              <a:t> </a:t>
            </a:r>
            <a:r>
              <a:rPr lang="en-IL" dirty="0" err="1"/>
              <a:t>את</a:t>
            </a:r>
            <a:r>
              <a:rPr lang="en-IL" dirty="0"/>
              <a:t> </a:t>
            </a:r>
            <a:r>
              <a:rPr lang="en-IL" dirty="0" err="1"/>
              <a:t>כל</a:t>
            </a:r>
            <a:r>
              <a:rPr lang="en-IL" dirty="0"/>
              <a:t> </a:t>
            </a:r>
            <a:r>
              <a:rPr lang="en-IL" dirty="0" err="1"/>
              <a:t>הגידול</a:t>
            </a:r>
            <a:r>
              <a:rPr lang="en-IL" dirty="0"/>
              <a:t>, </a:t>
            </a:r>
            <a:r>
              <a:rPr lang="en-IL" dirty="0" err="1"/>
              <a:t>ולכן</a:t>
            </a:r>
            <a:r>
              <a:rPr lang="en-IL" dirty="0"/>
              <a:t> </a:t>
            </a:r>
            <a:r>
              <a:rPr lang="en-IL" dirty="0" err="1"/>
              <a:t>משלבים</a:t>
            </a:r>
            <a:r>
              <a:rPr lang="en-IL" dirty="0"/>
              <a:t> </a:t>
            </a:r>
            <a:r>
              <a:rPr lang="en-IL" dirty="0" err="1"/>
              <a:t>כמה</a:t>
            </a:r>
            <a:r>
              <a:rPr lang="en-IL" dirty="0"/>
              <a:t> </a:t>
            </a:r>
            <a:r>
              <a:rPr lang="en-IL" dirty="0" err="1"/>
              <a:t>רצפים</a:t>
            </a:r>
            <a:r>
              <a:rPr lang="en-IL"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עבודה עתידית, חלק שני: פחות פרוסות שפוספסו ופחות פרוסות שגויות.</a:t>
            </a:r>
          </a:p>
          <a:p>
            <a:r>
              <a:t>הבעיה, על קבוצת המבחן: MedSAM2 פספס 672 מתוך 21,910 פרוסות עם גידול, כ-3%, וסימן גידול ב-815 מתוך 22,663 פרוסות ריקות, כ-3.6%.</a:t>
            </a:r>
          </a:p>
          <a:p>
            <a:r>
              <a:t>פחות פרוסות שגויות: להחליק את הפלט של YOLO בין פרוסות שכנות, כך שהתראת שווא שמופיעה בפרוסה אחת בלבד תיחלש לפני שהיא הופכת לרמז. ובנוסף, לתת לציון 'יש כאן גידול?' של MedSAM2 למחוק פרוסות ריקות. המתג כבר קיים בקוד, אבל עוד לא נבדק.</a:t>
            </a:r>
          </a:p>
          <a:p>
            <a:r>
              <a:t>רמזים טובים יותר וגידולים קטנים: להכפיל כל פיקסל ברמז בביטחון של הצורה שלו, כך שצורה עם ביטחון 0.06 תהיה חלשה ולא חזקה כמו צורה עם 0.90. ולאמן יותר על גידולים קטנים מ-10 מ"ל, שם התוצאות הכי חלשות.</a:t>
            </a:r>
          </a:p>
          <a:p>
            <a:r>
              <a:t>הרבה יותר נתונים: לאמן על מאגרים נוספים, אוספים אחרים של BraTS וסריקות מבתי חולים אחרים. YOLO עוד השתפר כשהוספנו נתונים, בעוד ש-MedSAM2 כבר התייצב.</a:t>
            </a:r>
          </a:p>
          <a:p>
            <a:r>
              <a:t>מסר: הצעד הבא הוא לצמצם את הפרוסות שפוספסו ואת הפרוסות השגויות, עם רמזים נקיים יותר, יותר גידולים קטנים והרבה יותר נתונים.</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נרמול: איך הופכים את ערכי ה-MRI הגולמיים לתמונה אחת שהמודלים יכולים לקרוא.</a:t>
            </a:r>
          </a:p>
          <a:p>
            <a:r>
              <a:t>ל-MRI אין יחידות קבועות. כל רצף וכל סריקה מגיעים בסקאלה משלהם: בפרוסה הזאת T1C מגיע עד 10,205, ו-FLAIR רק עד 2,370. משמאל רואים את שלושת הרצפים על אותה סקאלה, ו-T2 ו-FLAIR כמעט שחורים.</a:t>
            </a:r>
          </a:p>
          <a:p>
            <a:r>
              <a:t>לכן כל פרוסה וכל רצף מנורמלים בנפרד, ורק על פיקסלים של המוח. האחוזון ה-0.5 הופך ל-0 והאחוזון ה-99.5 הופך ל-255, וכל מה שמעבר נחתך. בהיסטוגרמה רואים את שני הקווים עבור FLAIR: 74 ו-2,032. כך כמה פיקסלים בהירים במיוחד לא משבשים את כל התמונה.</a:t>
            </a:r>
          </a:p>
          <a:p>
            <a:r>
              <a:t>אחר כך T1C, T2 ו-FLAIR הופכים לאדום, ירוק וכחול, ונוצרת תמונה צבעונית אחת של 8 ביט, אותה תמונה לשני המודלים.</a:t>
            </a:r>
          </a:p>
          <a:p>
            <a:r>
              <a:t>YOLO מכווץ אותה לטווח 0 עד 1 בגודל 512. MedSAM2 מחלק ב-255, מותח לגודל 512 על 512, ומנרמל לפי הממוצע וסטיית התקן של ImageNet, כמו ש-SAM2 אומן במקור.</a:t>
            </a:r>
          </a:p>
          <a:p>
            <a:r>
              <a:t>הערה כנה: הנרמול הוא לכל פרוסה בנפרד, כך שהבהירות יחסית לפרוסה עצמה. נרמול לכל הנפח היה עקבי יותר בין פרוסות, וזה לא נבדק.</a:t>
            </a:r>
          </a:p>
          <a:p>
            <a:r>
              <a:t>מסר: כל פרוסה מנורמלת לעצמה, כך שכל הסורקים והרצפים מגיעים לאותו טווח 0 עד 255 לפני שהמודלים רואים אותם.</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ניסוי "מה אם": מה קורה אם פרוסת ההתחלה מושלמת?</a:t>
            </a:r>
          </a:p>
          <a:p>
            <a:r>
              <a:t>לקחנו את אותו MedSAM2 מאומן, בלי אימון מחדש, ושינינו דבר אחד בלבד: בפרוסת ההתחלה, שממנה המודל מתחיל לעקוב למעלה ולמטה, נתנו לו את סימון המומחה במקום הרמז של YOLO. כל שאר הפרוסות קיבלו את הרמז של YOLO כרגיל.</a:t>
            </a:r>
          </a:p>
          <a:p>
            <a:r>
              <a:t>על 245 מטופלי הוולידציה ה-3D Dice עלה מ-0.8928 ל-0.8975, כלומר 0.0047+. 173 מטופלים השתפרו ורק אחד הורע.</a:t>
            </a:r>
          </a:p>
          <a:p>
            <a:r>
              <a:t>זה פי 4 מהרעיון הטוב ביותר שבדקנו לשימוש בביטחון של YOLO. חלק מהשיפור הוא הפרוסה עצמה, והשאר הוא הזיכרון שמעביר את ההתחלה הנכונה לפרוסות השכנות.</a:t>
            </a:r>
          </a:p>
          <a:p>
            <a:r>
              <a:t>חשוב: זה ניסוי בלבד. בזמן חיזוי אמיתי אין לנו את סימון המומחה. המסר הוא שהתחלה טובה שווה הרבה.</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בדקנו מה קורה כשלגידול יש כמה חלקים נפרדים, כלומר חלקים שאין ביניהם אף פרוסה משותפת.</a:t>
            </a:r>
          </a:p>
          <a:p>
            <a:r>
              <a:t>זה קורה ב-35 מתוך 324 מטופלי המבחן, 11%. ברוב המקרים פרוסת ההתחלה נמצאת בחלק הגדול.</a:t>
            </a:r>
          </a:p>
          <a:p>
            <a:r>
              <a:t>את החלק הגדול MedSAM2 מוצא תמיד, 35 מתוך 35.</a:t>
            </a:r>
          </a:p>
          <a:p>
            <a:r>
              <a:t>בחלקים האחרים, בגודל 100 ווקסלים ומעלה: כש-YOLO נתן רמז על החלק, MedSAM2 מצא 7 מתוך 9. כש-YOLO פספס את החלק, MedSAM2 פספס את כל השבעה.</a:t>
            </a:r>
          </a:p>
          <a:p>
            <a:r>
              <a:t>הסיבה: הזיכרון מעביר את הגידול מפרוסה לפרוסה, אבל בפרוסות הריקות שבין החלקים אין מה להעביר, ולכן החלק הבא חייב להגיע מהרמז של YOLO.</a:t>
            </a:r>
          </a:p>
          <a:p>
            <a:r>
              <a:t>בשני מקרים MedSAM2 איבד חלק ש-YOLO מצא היטב; את הסיבה עוד לא בדקנו.</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השוואה בין שתי דרכים להעביר את הרמז של YOLO ל-MedSAM2. כאן רק הקלט, לא מה ש-MedSAM2 עושה איתו.</a:t>
            </a:r>
          </a:p>
          <a:p>
            <a:r>
              <a:t>max, מה שהשתמשנו בו בכל הריצות: לכל פיקסל ההסתברות של YOLO, והביטחון של הצורה לא נכנס.</a:t>
            </a:r>
          </a:p>
          <a:p>
            <a:r>
              <a:t>max_weighted: ההסתברות כפול הביטחון של הצורה, ואז אותו לוגיט כפול 8.</a:t>
            </a:r>
          </a:p>
          <a:p>
            <a:r>
              <a:t>בגרף העליון: ב-max כמעט חצי מהפיקסלים מקבלים את הערך המקסימלי, 44+. ב-max_weighted אין אף פיקסל מעל בערך 24+, כי הביטחון הכי גבוה הוא בערך 0.9.</a:t>
            </a:r>
          </a:p>
          <a:p>
            <a:r>
              <a:t>בגרף התחתון: כל צורה עם ביטחון מתחת ל-0.5 הופכת ב-max_weighted ל'לא גידול' לגמרי, כי הסתברות כפול ביטחון לא יכולה לעבור 0.5. ב-max אותן צורות עדיין אומרות 'גידול' ב-40% עד 63% מהפיקסלים.</a:t>
            </a:r>
          </a:p>
          <a:p>
            <a:r>
              <a:t>שימו לב: 77% מפיקסלי הצורות הם בצורות עם ביטחון מעל 0.75, אז רוב הרמז כמעט לא משתנה, חוץ מהעוצמה.</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בשקף הזה אנחנו שואלים: האם חלל הניתוח צריך להיחשב כגידול?</a:t>
            </a:r>
          </a:p>
          <a:p>
            <a:r>
              <a:t>היום המטרה שלנו היא כל תווית שאינה אפס, כולל תווית 4 – חלל הניתוח (RC). זה 17% מכל וקסלי הגידול, ו-270 מתוך 324 מטופלי הטסט הם אחרי ניתוח.</a:t>
            </a:r>
          </a:p>
          <a:p>
            <a:r>
              <a:t>החלל הוא החור שנשאר אחרי הוצאת הגידול – נוזל או דם – ולא גידול. גם בהגדרה של BraTS 2024, 'הגידול השלם' הוא NETC + SNFH + ET, והחלל נמדד בנפרד. לכן ההצעה: להפוך את החלל לרקע (0) ולאמן מחדש.</a:t>
            </a:r>
          </a:p>
          <a:p>
            <a:r>
              <a:t>מה יקרה ל-Dice? מדדנו על 324 מטופלי הטסט: היום 0.899. אותו מודל בלי אימון מחדש – 0.773, כי הוא עדיין מסמן את החלל. גם אם המודל ידלג על החלל בצורה מושלמת – 0.870. החלל גדול וקל (המודל מוצא 91% ממנו), ומה שנשאר הוא טבעת דקה של בצקת סביבו, שקשה לסמן. אחרי אימון מחדש אנחנו מעריכים 0.85–0.86.</a:t>
            </a:r>
          </a:p>
          <a:p>
            <a:r>
              <a:t>YOLO יורד באותה מידה, כך שהיתרון של MedSAM2 (כ-1.7 נקודות) נשמר.</a:t>
            </a:r>
          </a:p>
          <a:p>
            <a:r>
              <a:t>המסר: הורדת החלל הופכת את המשימה לכנה יותר וקשה יותר – הציון יורד כי המטרה קשה יותר, לא כי המודל גרוע יותר.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1325880"/>
            <a:ext cx="10515600" cy="707886"/>
          </a:xfrm>
          <a:prstGeom prst="rect">
            <a:avLst/>
          </a:prstGeom>
          <a:noFill/>
        </p:spPr>
        <p:txBody>
          <a:bodyPr wrap="square" lIns="45720" rIns="45720" anchor="t">
            <a:spAutoFit/>
          </a:bodyPr>
          <a:lstStyle/>
          <a:p>
            <a:pPr algn="l">
              <a:spcAft>
                <a:spcPts val="0"/>
              </a:spcAft>
            </a:pPr>
            <a:r>
              <a:rPr sz="4000" b="0" dirty="0">
                <a:solidFill>
                  <a:schemeClr val="bg1"/>
                </a:solidFill>
                <a:latin typeface="Segoe UI"/>
              </a:rPr>
              <a:t>Brain Tumor </a:t>
            </a:r>
            <a:r>
              <a:rPr lang="en-US" sz="4000" dirty="0">
                <a:solidFill>
                  <a:schemeClr val="bg1"/>
                </a:solidFill>
                <a:latin typeface="Segoe UI"/>
              </a:rPr>
              <a:t>V</a:t>
            </a:r>
            <a:r>
              <a:rPr lang="en-US" sz="4000" b="0" dirty="0">
                <a:solidFill>
                  <a:schemeClr val="bg1"/>
                </a:solidFill>
                <a:latin typeface="Segoe UI"/>
              </a:rPr>
              <a:t>olumetric </a:t>
            </a:r>
            <a:r>
              <a:rPr sz="4000" b="0" dirty="0">
                <a:solidFill>
                  <a:schemeClr val="bg1"/>
                </a:solidFill>
                <a:latin typeface="Segoe UI"/>
              </a:rPr>
              <a:t>Segmentation on MRI</a:t>
            </a:r>
          </a:p>
        </p:txBody>
      </p:sp>
      <p:sp>
        <p:nvSpPr>
          <p:cNvPr id="4" name="TextBox 3"/>
          <p:cNvSpPr txBox="1"/>
          <p:nvPr/>
        </p:nvSpPr>
        <p:spPr>
          <a:xfrm>
            <a:off x="640080" y="2588623"/>
            <a:ext cx="10515600" cy="1077218"/>
          </a:xfrm>
          <a:prstGeom prst="rect">
            <a:avLst/>
          </a:prstGeom>
          <a:noFill/>
        </p:spPr>
        <p:txBody>
          <a:bodyPr wrap="square" lIns="45720" rIns="45720" anchor="t">
            <a:spAutoFit/>
          </a:bodyPr>
          <a:lstStyle/>
          <a:p>
            <a:pPr>
              <a:spcAft>
                <a:spcPts val="600"/>
              </a:spcAft>
            </a:pPr>
            <a:r>
              <a:rPr lang="en-US" sz="1800" b="0" dirty="0">
                <a:solidFill>
                  <a:schemeClr val="bg1"/>
                </a:solidFill>
                <a:latin typeface="Segoe UI"/>
              </a:rPr>
              <a:t>Automated 3D delineation of the tumor via MRI modalities. </a:t>
            </a:r>
          </a:p>
          <a:p>
            <a:pPr algn="l">
              <a:spcAft>
                <a:spcPts val="600"/>
              </a:spcAft>
            </a:pPr>
            <a:r>
              <a:rPr sz="1800" b="0" dirty="0">
                <a:solidFill>
                  <a:schemeClr val="bg1"/>
                </a:solidFill>
                <a:latin typeface="Segoe UI"/>
              </a:rPr>
              <a:t>A fast 2D detector finds the tumo</a:t>
            </a:r>
            <a:r>
              <a:rPr lang="en-US" sz="1800" b="0" dirty="0">
                <a:solidFill>
                  <a:schemeClr val="bg1"/>
                </a:solidFill>
                <a:latin typeface="Segoe UI"/>
              </a:rPr>
              <a:t>r</a:t>
            </a:r>
            <a:r>
              <a:rPr sz="1800" b="0" dirty="0">
                <a:solidFill>
                  <a:schemeClr val="bg1"/>
                </a:solidFill>
                <a:latin typeface="Segoe UI"/>
              </a:rPr>
              <a:t> a promotable video model refines it in 3D. </a:t>
            </a:r>
            <a:endParaRPr lang="en-US" sz="1800" b="0" dirty="0">
              <a:solidFill>
                <a:schemeClr val="bg1"/>
              </a:solidFill>
              <a:latin typeface="Segoe UI"/>
            </a:endParaRPr>
          </a:p>
          <a:p>
            <a:pPr algn="l">
              <a:spcAft>
                <a:spcPts val="600"/>
              </a:spcAft>
            </a:pPr>
            <a:r>
              <a:rPr sz="1800" b="0" dirty="0" err="1">
                <a:solidFill>
                  <a:schemeClr val="bg1"/>
                </a:solidFill>
                <a:latin typeface="Segoe UI"/>
              </a:rPr>
              <a:t>BraTS</a:t>
            </a:r>
            <a:r>
              <a:rPr sz="1800" b="0" dirty="0">
                <a:solidFill>
                  <a:schemeClr val="bg1"/>
                </a:solidFill>
                <a:latin typeface="Segoe UI"/>
              </a:rPr>
              <a:t> 2024 adult glioma, 1,621 MRI scans.</a:t>
            </a:r>
          </a:p>
        </p:txBody>
      </p:sp>
      <p:pic>
        <p:nvPicPr>
          <p:cNvPr id="5" name="Picture 4" descr="ms_panels.png"/>
          <p:cNvPicPr>
            <a:picLocks noChangeAspect="1"/>
          </p:cNvPicPr>
          <p:nvPr/>
        </p:nvPicPr>
        <p:blipFill>
          <a:blip r:embed="rId3"/>
          <a:stretch>
            <a:fillRect/>
          </a:stretch>
        </p:blipFill>
        <p:spPr>
          <a:xfrm>
            <a:off x="2325848" y="3886200"/>
            <a:ext cx="7509824" cy="2194560"/>
          </a:xfrm>
          <a:prstGeom prst="rect">
            <a:avLst/>
          </a:prstGeom>
          <a:ln w="9525">
            <a:solidFill>
              <a:srgbClr val="2A2F47"/>
            </a:solidFill>
          </a:ln>
        </p:spPr>
      </p:pic>
      <p:sp>
        <p:nvSpPr>
          <p:cNvPr id="6" name="TextBox 5"/>
          <p:cNvSpPr txBox="1"/>
          <p:nvPr/>
        </p:nvSpPr>
        <p:spPr>
          <a:xfrm>
            <a:off x="2325848" y="6117336"/>
            <a:ext cx="7509824" cy="261610"/>
          </a:xfrm>
          <a:prstGeom prst="rect">
            <a:avLst/>
          </a:prstGeom>
          <a:noFill/>
        </p:spPr>
        <p:txBody>
          <a:bodyPr wrap="square" lIns="45720" rIns="45720" anchor="t">
            <a:spAutoFit/>
          </a:bodyPr>
          <a:lstStyle/>
          <a:p>
            <a:pPr algn="ctr">
              <a:spcAft>
                <a:spcPts val="600"/>
              </a:spcAft>
            </a:pPr>
            <a:r>
              <a:rPr sz="1100" b="0" dirty="0">
                <a:solidFill>
                  <a:schemeClr val="bg1"/>
                </a:solidFill>
                <a:latin typeface="Segoe UI"/>
              </a:rPr>
              <a:t>One slice: the MRI picture · YOLO's hint · YOLO's own mask · MedSAM2's answer (green = found, red = extra)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BACKGROUND</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Why segment brain tumors automatically?</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2</a:t>
            </a:r>
            <a:endParaRPr sz="1100" b="0" dirty="0">
              <a:solidFill>
                <a:schemeClr val="bg1"/>
              </a:solidFill>
              <a:latin typeface="Segoe UI"/>
            </a:endParaRPr>
          </a:p>
        </p:txBody>
      </p:sp>
      <p:sp>
        <p:nvSpPr>
          <p:cNvPr id="5" name="TextBox 4"/>
          <p:cNvSpPr txBox="1"/>
          <p:nvPr/>
        </p:nvSpPr>
        <p:spPr>
          <a:xfrm>
            <a:off x="548640" y="1463040"/>
            <a:ext cx="6583680" cy="3477875"/>
          </a:xfrm>
          <a:prstGeom prst="rect">
            <a:avLst/>
          </a:prstGeom>
          <a:noFill/>
        </p:spPr>
        <p:txBody>
          <a:bodyPr wrap="square" lIns="45720" rIns="45720" anchor="t">
            <a:spAutoFit/>
          </a:bodyPr>
          <a:lstStyle/>
          <a:p>
            <a:pPr algn="l">
              <a:spcAft>
                <a:spcPts val="1200"/>
              </a:spcAft>
            </a:pPr>
            <a:r>
              <a:rPr sz="1800" b="0" dirty="0">
                <a:solidFill>
                  <a:schemeClr val="bg1"/>
                </a:solidFill>
                <a:latin typeface="Segoe UI"/>
              </a:rPr>
              <a:t>•  </a:t>
            </a:r>
            <a:r>
              <a:rPr sz="1800" b="1" dirty="0">
                <a:solidFill>
                  <a:schemeClr val="bg1"/>
                </a:solidFill>
                <a:latin typeface="Segoe UI"/>
              </a:rPr>
              <a:t>Gliomas</a:t>
            </a:r>
            <a:r>
              <a:rPr sz="1800" b="0" dirty="0">
                <a:solidFill>
                  <a:schemeClr val="bg1"/>
                </a:solidFill>
                <a:latin typeface="Segoe UI"/>
              </a:rPr>
              <a:t> are the most common malignant primary brain tumors in adults.</a:t>
            </a:r>
          </a:p>
          <a:p>
            <a:pPr algn="l">
              <a:spcAft>
                <a:spcPts val="1200"/>
              </a:spcAft>
            </a:pPr>
            <a:r>
              <a:rPr sz="1800" b="0" dirty="0">
                <a:solidFill>
                  <a:schemeClr val="bg1"/>
                </a:solidFill>
                <a:latin typeface="Segoe UI"/>
              </a:rPr>
              <a:t>•  Doctors outline the tumor on MRI to </a:t>
            </a:r>
            <a:r>
              <a:rPr sz="1800" b="1" dirty="0">
                <a:solidFill>
                  <a:schemeClr val="bg1"/>
                </a:solidFill>
                <a:latin typeface="Segoe UI"/>
              </a:rPr>
              <a:t>plan surgery and radiotherapy</a:t>
            </a:r>
            <a:r>
              <a:rPr sz="1800" b="0" dirty="0">
                <a:solidFill>
                  <a:schemeClr val="bg1"/>
                </a:solidFill>
                <a:latin typeface="Segoe UI"/>
              </a:rPr>
              <a:t> and to </a:t>
            </a:r>
            <a:r>
              <a:rPr sz="1800" b="1" dirty="0">
                <a:solidFill>
                  <a:schemeClr val="bg1"/>
                </a:solidFill>
                <a:latin typeface="Segoe UI"/>
              </a:rPr>
              <a:t>track change</a:t>
            </a:r>
            <a:r>
              <a:rPr sz="1800" b="0" dirty="0">
                <a:solidFill>
                  <a:schemeClr val="bg1"/>
                </a:solidFill>
                <a:latin typeface="Segoe UI"/>
              </a:rPr>
              <a:t> between scans.</a:t>
            </a:r>
          </a:p>
          <a:p>
            <a:pPr algn="l">
              <a:spcAft>
                <a:spcPts val="1200"/>
              </a:spcAft>
            </a:pPr>
            <a:r>
              <a:rPr sz="1800" b="0" dirty="0">
                <a:solidFill>
                  <a:schemeClr val="bg1"/>
                </a:solidFill>
                <a:latin typeface="Segoe UI"/>
              </a:rPr>
              <a:t>•  Outlining by hand is </a:t>
            </a:r>
            <a:r>
              <a:rPr sz="1800" b="1" dirty="0">
                <a:solidFill>
                  <a:schemeClr val="bg1"/>
                </a:solidFill>
                <a:latin typeface="Segoe UI"/>
              </a:rPr>
              <a:t>slow</a:t>
            </a:r>
            <a:r>
              <a:rPr sz="1800" b="0" dirty="0">
                <a:solidFill>
                  <a:schemeClr val="bg1"/>
                </a:solidFill>
                <a:latin typeface="Segoe UI"/>
              </a:rPr>
              <a:t>: a scan has well over a hundred slices, each drawn separately.</a:t>
            </a:r>
          </a:p>
          <a:p>
            <a:pPr algn="l">
              <a:spcAft>
                <a:spcPts val="1200"/>
              </a:spcAft>
            </a:pPr>
            <a:r>
              <a:rPr sz="1800" b="0" dirty="0">
                <a:solidFill>
                  <a:schemeClr val="bg1"/>
                </a:solidFill>
                <a:latin typeface="Segoe UI"/>
              </a:rPr>
              <a:t>•  Experts </a:t>
            </a:r>
            <a:r>
              <a:rPr sz="1800" b="1" dirty="0">
                <a:solidFill>
                  <a:schemeClr val="bg1"/>
                </a:solidFill>
                <a:latin typeface="Segoe UI"/>
              </a:rPr>
              <a:t>don't agree perfectly</a:t>
            </a:r>
            <a:r>
              <a:rPr sz="1800" b="0" dirty="0">
                <a:solidFill>
                  <a:schemeClr val="bg1"/>
                </a:solidFill>
                <a:latin typeface="Segoe UI"/>
              </a:rPr>
              <a:t> with each other, so outlines vary between readers.</a:t>
            </a:r>
          </a:p>
          <a:p>
            <a:pPr algn="l">
              <a:spcAft>
                <a:spcPts val="1200"/>
              </a:spcAft>
            </a:pPr>
            <a:r>
              <a:rPr sz="1800" b="0" dirty="0">
                <a:solidFill>
                  <a:schemeClr val="bg1"/>
                </a:solidFill>
                <a:latin typeface="Segoe UI"/>
              </a:rPr>
              <a:t>•  Automation goal: a </a:t>
            </a:r>
            <a:r>
              <a:rPr sz="1800" b="1" dirty="0">
                <a:solidFill>
                  <a:schemeClr val="bg1"/>
                </a:solidFill>
                <a:latin typeface="Segoe UI"/>
              </a:rPr>
              <a:t>fast, consistent 3D outline</a:t>
            </a:r>
            <a:r>
              <a:rPr sz="1800" b="0" dirty="0">
                <a:solidFill>
                  <a:schemeClr val="bg1"/>
                </a:solidFill>
                <a:latin typeface="Segoe UI"/>
              </a:rPr>
              <a:t> a doctor only needs to check.</a:t>
            </a:r>
          </a:p>
        </p:txBody>
      </p:sp>
      <p:pic>
        <p:nvPicPr>
          <p:cNvPr id="6" name="Picture 5" descr="mri_flair_seg.png"/>
          <p:cNvPicPr>
            <a:picLocks noChangeAspect="1"/>
          </p:cNvPicPr>
          <p:nvPr/>
        </p:nvPicPr>
        <p:blipFill>
          <a:blip r:embed="rId3"/>
          <a:stretch>
            <a:fillRect/>
          </a:stretch>
        </p:blipFill>
        <p:spPr>
          <a:xfrm>
            <a:off x="8021917" y="1417320"/>
            <a:ext cx="3158565" cy="3749039"/>
          </a:xfrm>
          <a:prstGeom prst="rect">
            <a:avLst/>
          </a:prstGeom>
          <a:ln w="9525">
            <a:solidFill>
              <a:srgbClr val="2A2F47"/>
            </a:solidFill>
          </a:ln>
        </p:spPr>
      </p:pic>
      <p:sp>
        <p:nvSpPr>
          <p:cNvPr id="7" name="TextBox 6"/>
          <p:cNvSpPr txBox="1"/>
          <p:nvPr/>
        </p:nvSpPr>
        <p:spPr>
          <a:xfrm>
            <a:off x="8021917" y="5202935"/>
            <a:ext cx="3158565" cy="430887"/>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An expert outline on FLAIR (green = swelling, yellow = surgery cavity)</a:t>
            </a:r>
          </a:p>
        </p:txBody>
      </p:sp>
      <p:sp>
        <p:nvSpPr>
          <p:cNvPr id="8" name="Rounded Rectangle 7"/>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 name="TextBox 8"/>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a:t>
            </a:r>
            <a:r>
              <a:rPr sz="1600" b="0">
                <a:solidFill>
                  <a:schemeClr val="bg1"/>
                </a:solidFill>
                <a:latin typeface="Segoe UI"/>
              </a:rPr>
              <a:t> Automatic 3D segmentation saves expert time and makes tumour measurements consistent.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79ACE2-EDB4-9F4C-8A65-D51DD31A114F}"/>
              </a:ext>
            </a:extLst>
          </p:cNvPr>
          <p:cNvSpPr txBox="1"/>
          <p:nvPr/>
        </p:nvSpPr>
        <p:spPr>
          <a:xfrm>
            <a:off x="322449" y="198722"/>
            <a:ext cx="4642618" cy="584775"/>
          </a:xfrm>
          <a:prstGeom prst="rect">
            <a:avLst/>
          </a:prstGeom>
          <a:noFill/>
        </p:spPr>
        <p:txBody>
          <a:bodyPr wrap="none" rtlCol="0">
            <a:spAutoFit/>
          </a:bodyPr>
          <a:lstStyle/>
          <a:p>
            <a:r>
              <a:rPr lang="en-US" sz="3200" dirty="0">
                <a:solidFill>
                  <a:srgbClr val="E8EAF2"/>
                </a:solidFill>
                <a:latin typeface="Segoe UI"/>
              </a:rPr>
              <a:t>Radiologists' questioner </a:t>
            </a:r>
            <a:endParaRPr lang="en-IL" sz="3200" dirty="0">
              <a:solidFill>
                <a:srgbClr val="E8EAF2"/>
              </a:solidFill>
              <a:latin typeface="Segoe UI"/>
            </a:endParaRPr>
          </a:p>
        </p:txBody>
      </p:sp>
      <p:graphicFrame>
        <p:nvGraphicFramePr>
          <p:cNvPr id="6" name="Table 0">
            <a:extLst>
              <a:ext uri="{FF2B5EF4-FFF2-40B4-BE49-F238E27FC236}">
                <a16:creationId xmlns:a16="http://schemas.microsoft.com/office/drawing/2014/main" id="{0B042FEE-D24F-F594-013C-0E7ED1CF813F}"/>
              </a:ext>
            </a:extLst>
          </p:cNvPr>
          <p:cNvGraphicFramePr>
            <a:graphicFrameLocks noGrp="1"/>
          </p:cNvGraphicFramePr>
          <p:nvPr>
            <p:extLst>
              <p:ext uri="{D42A27DB-BD31-4B8C-83A1-F6EECF244321}">
                <p14:modId xmlns:p14="http://schemas.microsoft.com/office/powerpoint/2010/main" val="1128654714"/>
              </p:ext>
            </p:extLst>
          </p:nvPr>
        </p:nvGraphicFramePr>
        <p:xfrm>
          <a:off x="375528" y="1096135"/>
          <a:ext cx="11585109" cy="4180114"/>
        </p:xfrm>
        <a:graphic>
          <a:graphicData uri="http://schemas.openxmlformats.org/drawingml/2006/table">
            <a:tbl>
              <a:tblPr/>
              <a:tblGrid>
                <a:gridCol w="5550069">
                  <a:extLst>
                    <a:ext uri="{9D8B030D-6E8A-4147-A177-3AD203B41FA5}">
                      <a16:colId xmlns:a16="http://schemas.microsoft.com/office/drawing/2014/main" val="20000"/>
                    </a:ext>
                  </a:extLst>
                </a:gridCol>
                <a:gridCol w="3081528">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tblGrid>
              <a:tr h="484986">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Question &amp; response options</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16243B"/>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Answer A </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0E7C86"/>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Answer B  </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A85D28"/>
                    </a:solidFill>
                  </a:tcPr>
                </a:tc>
                <a:extLst>
                  <a:ext uri="{0D108BD9-81ED-4DB2-BD59-A6C34878D82A}">
                    <a16:rowId xmlns:a16="http://schemas.microsoft.com/office/drawing/2014/main" val="10000"/>
                  </a:ext>
                </a:extLst>
              </a:tr>
              <a:tr h="854498">
                <a:tc>
                  <a:txBody>
                    <a:bodyPr/>
                    <a:lstStyle/>
                    <a:p>
                      <a:pPr marL="0" indent="0" algn="l">
                        <a:buNone/>
                      </a:pPr>
                      <a:r>
                        <a:rPr lang="en-US" sz="1600" b="1" dirty="0">
                          <a:solidFill>
                            <a:srgbClr val="16243B"/>
                          </a:solidFill>
                          <a:latin typeface="Calibri" pitchFamily="34" charset="0"/>
                          <a:ea typeface="Calibri" pitchFamily="34" charset="-122"/>
                          <a:cs typeface="Calibri" pitchFamily="34" charset="-120"/>
                        </a:rPr>
                        <a:t>Q1   </a:t>
                      </a:r>
                      <a:r>
                        <a:rPr lang="en-US" sz="1600" b="1" dirty="0">
                          <a:solidFill>
                            <a:srgbClr val="1F2937"/>
                          </a:solidFill>
                          <a:latin typeface="Calibri" pitchFamily="34" charset="0"/>
                          <a:ea typeface="Calibri" pitchFamily="34" charset="-122"/>
                          <a:cs typeface="Calibri" pitchFamily="34" charset="-120"/>
                        </a:rPr>
                        <a:t>Years of experience reading brain MRI</a:t>
                      </a:r>
                      <a:endParaRPr lang="en-US" sz="1600" dirty="0">
                        <a:latin typeface="Calibri" charset="0"/>
                        <a:ea typeface="Calibri" charset="0"/>
                        <a:cs typeface="Calibri" charset="0"/>
                      </a:endParaRPr>
                    </a:p>
                    <a:p>
                      <a:pPr marL="0" indent="0" algn="l">
                        <a:buNone/>
                      </a:pPr>
                      <a:r>
                        <a:rPr lang="en-US" sz="1050" i="1" dirty="0">
                          <a:solidFill>
                            <a:srgbClr val="6B7280"/>
                          </a:solidFill>
                          <a:latin typeface="Calibri" pitchFamily="34" charset="0"/>
                          <a:ea typeface="Calibri" pitchFamily="34" charset="-122"/>
                          <a:cs typeface="Calibri" pitchFamily="34" charset="-120"/>
                        </a:rPr>
                        <a:t>Options:  </a:t>
                      </a:r>
                      <a:r>
                        <a:rPr lang="en-US" sz="1050" dirty="0">
                          <a:solidFill>
                            <a:srgbClr val="6B7280"/>
                          </a:solidFill>
                          <a:latin typeface="Calibri" pitchFamily="34" charset="0"/>
                          <a:ea typeface="Calibri" pitchFamily="34" charset="-122"/>
                          <a:cs typeface="Calibri" pitchFamily="34" charset="-120"/>
                        </a:rPr>
                        <a:t>In training (resident) · Less than 5 years · 5–10 years · 11–20 years · More than 20 years</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0E7C86"/>
                          </a:solidFill>
                          <a:latin typeface="Calibri" pitchFamily="34" charset="0"/>
                          <a:ea typeface="Calibri" pitchFamily="34" charset="-122"/>
                          <a:cs typeface="Calibri" pitchFamily="34" charset="-120"/>
                        </a:rPr>
                        <a:t>In training (resident)</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E7F2F3"/>
                    </a:solidFill>
                  </a:tcPr>
                </a:tc>
                <a:tc>
                  <a:txBody>
                    <a:bodyPr/>
                    <a:lstStyle/>
                    <a:p>
                      <a:pPr marL="0" indent="0" algn="l">
                        <a:buNone/>
                      </a:pPr>
                      <a:r>
                        <a:rPr lang="en-US" sz="1600" b="1" dirty="0">
                          <a:solidFill>
                            <a:srgbClr val="A85D28"/>
                          </a:solidFill>
                          <a:latin typeface="Calibri" pitchFamily="34" charset="0"/>
                          <a:ea typeface="Calibri" pitchFamily="34" charset="-122"/>
                          <a:cs typeface="Calibri" pitchFamily="34" charset="-120"/>
                        </a:rPr>
                        <a:t>More than 20 years</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7ECE2"/>
                    </a:solidFill>
                  </a:tcPr>
                </a:tc>
                <a:extLst>
                  <a:ext uri="{0D108BD9-81ED-4DB2-BD59-A6C34878D82A}">
                    <a16:rowId xmlns:a16="http://schemas.microsoft.com/office/drawing/2014/main" val="10001"/>
                  </a:ext>
                </a:extLst>
              </a:tr>
              <a:tr h="854498">
                <a:tc>
                  <a:txBody>
                    <a:bodyPr/>
                    <a:lstStyle/>
                    <a:p>
                      <a:pPr marL="0" indent="0" algn="l">
                        <a:buNone/>
                      </a:pPr>
                      <a:r>
                        <a:rPr lang="en-US" sz="1600" b="1" dirty="0">
                          <a:solidFill>
                            <a:srgbClr val="16243B"/>
                          </a:solidFill>
                          <a:latin typeface="Calibri" pitchFamily="34" charset="0"/>
                          <a:ea typeface="Calibri" pitchFamily="34" charset="-122"/>
                          <a:cs typeface="Calibri" pitchFamily="34" charset="-120"/>
                        </a:rPr>
                        <a:t>Q2   </a:t>
                      </a:r>
                      <a:r>
                        <a:rPr lang="en-US" sz="1600" b="1" dirty="0">
                          <a:solidFill>
                            <a:srgbClr val="1F2937"/>
                          </a:solidFill>
                          <a:latin typeface="Calibri" pitchFamily="34" charset="0"/>
                          <a:ea typeface="Calibri" pitchFamily="34" charset="-122"/>
                          <a:cs typeface="Calibri" pitchFamily="34" charset="-120"/>
                        </a:rPr>
                        <a:t>Roughly how many brain-tumor cases do you read or contour per week?</a:t>
                      </a:r>
                      <a:endParaRPr lang="en-US" sz="1600" dirty="0">
                        <a:latin typeface="Calibri" charset="0"/>
                        <a:ea typeface="Calibri" charset="0"/>
                        <a:cs typeface="Calibri" charset="0"/>
                      </a:endParaRPr>
                    </a:p>
                    <a:p>
                      <a:pPr marL="0" indent="0" algn="l">
                        <a:buNone/>
                      </a:pPr>
                      <a:r>
                        <a:rPr lang="en-US" sz="1050" i="1" dirty="0">
                          <a:solidFill>
                            <a:srgbClr val="6B7280"/>
                          </a:solidFill>
                          <a:latin typeface="Calibri" pitchFamily="34" charset="0"/>
                          <a:ea typeface="Calibri" pitchFamily="34" charset="-122"/>
                          <a:cs typeface="Calibri" pitchFamily="34" charset="-120"/>
                        </a:rPr>
                        <a:t>Options:  </a:t>
                      </a:r>
                      <a:r>
                        <a:rPr lang="en-US" sz="1050" dirty="0">
                          <a:solidFill>
                            <a:srgbClr val="6B7280"/>
                          </a:solidFill>
                          <a:latin typeface="Calibri" pitchFamily="34" charset="0"/>
                          <a:ea typeface="Calibri" pitchFamily="34" charset="-122"/>
                          <a:cs typeface="Calibri" pitchFamily="34" charset="-120"/>
                        </a:rPr>
                        <a:t>Less than 1 · 1-5 · 6-15 · 16-30 · More than 30</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0E7C86"/>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E7F2F3"/>
                    </a:solidFill>
                  </a:tcPr>
                </a:tc>
                <a:tc>
                  <a:txBody>
                    <a:bodyPr/>
                    <a:lstStyle/>
                    <a:p>
                      <a:pPr marL="0" indent="0" algn="l">
                        <a:buNone/>
                      </a:pPr>
                      <a:r>
                        <a:rPr lang="en-US" sz="1600" b="1" dirty="0">
                          <a:solidFill>
                            <a:srgbClr val="A85D28"/>
                          </a:solidFill>
                          <a:latin typeface="Calibri" pitchFamily="34" charset="0"/>
                          <a:ea typeface="Calibri" pitchFamily="34" charset="-122"/>
                          <a:cs typeface="Calibri" pitchFamily="34" charset="-120"/>
                        </a:rPr>
                        <a:t>Less than 1</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7ECE2"/>
                    </a:solidFill>
                  </a:tcPr>
                </a:tc>
                <a:extLst>
                  <a:ext uri="{0D108BD9-81ED-4DB2-BD59-A6C34878D82A}">
                    <a16:rowId xmlns:a16="http://schemas.microsoft.com/office/drawing/2014/main" val="10002"/>
                  </a:ext>
                </a:extLst>
              </a:tr>
              <a:tr h="1062350">
                <a:tc>
                  <a:txBody>
                    <a:bodyPr/>
                    <a:lstStyle/>
                    <a:p>
                      <a:pPr marL="0" indent="0" algn="l">
                        <a:buNone/>
                      </a:pPr>
                      <a:r>
                        <a:rPr lang="en-US" sz="1600" b="1" dirty="0">
                          <a:solidFill>
                            <a:srgbClr val="16243B"/>
                          </a:solidFill>
                          <a:latin typeface="Calibri" pitchFamily="34" charset="0"/>
                          <a:ea typeface="Calibri" pitchFamily="34" charset="-122"/>
                          <a:cs typeface="Calibri" pitchFamily="34" charset="-120"/>
                        </a:rPr>
                        <a:t>Q</a:t>
                      </a:r>
                      <a:r>
                        <a:rPr lang="he-IL" sz="1600" b="1" dirty="0">
                          <a:solidFill>
                            <a:srgbClr val="16243B"/>
                          </a:solidFill>
                          <a:latin typeface="Calibri" pitchFamily="34" charset="0"/>
                          <a:ea typeface="Calibri" pitchFamily="34" charset="-122"/>
                          <a:cs typeface="Calibri" pitchFamily="34" charset="-120"/>
                        </a:rPr>
                        <a:t>3</a:t>
                      </a:r>
                      <a:r>
                        <a:rPr lang="en-US" sz="1600" b="1" dirty="0">
                          <a:solidFill>
                            <a:srgbClr val="16243B"/>
                          </a:solidFill>
                          <a:latin typeface="Calibri" pitchFamily="34" charset="0"/>
                          <a:ea typeface="Calibri" pitchFamily="34" charset="-122"/>
                          <a:cs typeface="Calibri" pitchFamily="34" charset="-120"/>
                        </a:rPr>
                        <a:t>   </a:t>
                      </a:r>
                      <a:r>
                        <a:rPr lang="en-US" sz="1600" b="1" dirty="0">
                          <a:solidFill>
                            <a:srgbClr val="1F2937"/>
                          </a:solidFill>
                          <a:latin typeface="Calibri" pitchFamily="34" charset="0"/>
                          <a:ea typeface="Calibri" pitchFamily="34" charset="-122"/>
                          <a:cs typeface="Calibri" pitchFamily="34" charset="-120"/>
                        </a:rPr>
                        <a:t>In your experience, how similar or different are tumor outlines drawn by different radiologists for the same case?</a:t>
                      </a:r>
                      <a:endParaRPr lang="en-US" sz="1600" dirty="0">
                        <a:latin typeface="Calibri" charset="0"/>
                        <a:ea typeface="Calibri" charset="0"/>
                        <a:cs typeface="Calibri" charset="0"/>
                      </a:endParaRPr>
                    </a:p>
                    <a:p>
                      <a:pPr marL="0" indent="0" algn="l">
                        <a:buNone/>
                      </a:pPr>
                      <a:r>
                        <a:rPr lang="en-US" sz="1050" i="1" dirty="0">
                          <a:solidFill>
                            <a:srgbClr val="6B7280"/>
                          </a:solidFill>
                          <a:latin typeface="Calibri" pitchFamily="34" charset="0"/>
                          <a:ea typeface="Calibri" pitchFamily="34" charset="-122"/>
                          <a:cs typeface="Calibri" pitchFamily="34" charset="-120"/>
                        </a:rPr>
                        <a:t>Scale:  1 = Very similar  →  5 = Very different</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0E7C86"/>
                          </a:solidFill>
                          <a:latin typeface="Calibri" pitchFamily="34" charset="0"/>
                          <a:ea typeface="Calibri" pitchFamily="34" charset="-122"/>
                          <a:cs typeface="Calibri" pitchFamily="34" charset="-120"/>
                        </a:rPr>
                        <a:t>3</a:t>
                      </a:r>
                      <a:r>
                        <a:rPr lang="en-US" sz="1100" dirty="0">
                          <a:solidFill>
                            <a:srgbClr val="6B7280"/>
                          </a:solidFill>
                          <a:latin typeface="Calibri" pitchFamily="34" charset="0"/>
                          <a:ea typeface="Calibri" pitchFamily="34" charset="-122"/>
                          <a:cs typeface="Calibri" pitchFamily="34" charset="-120"/>
                        </a:rPr>
                        <a:t>  / 5</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E7F2F3"/>
                    </a:solidFill>
                  </a:tcPr>
                </a:tc>
                <a:tc>
                  <a:txBody>
                    <a:bodyPr/>
                    <a:lstStyle/>
                    <a:p>
                      <a:pPr marL="0" indent="0" algn="l">
                        <a:buNone/>
                      </a:pPr>
                      <a:r>
                        <a:rPr lang="en-US" sz="2000" b="1" dirty="0">
                          <a:solidFill>
                            <a:srgbClr val="A85D28"/>
                          </a:solidFill>
                          <a:latin typeface="Calibri" pitchFamily="34" charset="0"/>
                          <a:ea typeface="Calibri" pitchFamily="34" charset="-122"/>
                          <a:cs typeface="Calibri" pitchFamily="34" charset="-120"/>
                        </a:rPr>
                        <a:t>5</a:t>
                      </a:r>
                      <a:r>
                        <a:rPr lang="en-US" sz="1100" dirty="0">
                          <a:solidFill>
                            <a:srgbClr val="6B7280"/>
                          </a:solidFill>
                          <a:latin typeface="Calibri" pitchFamily="34" charset="0"/>
                          <a:ea typeface="Calibri" pitchFamily="34" charset="-122"/>
                          <a:cs typeface="Calibri" pitchFamily="34" charset="-120"/>
                        </a:rPr>
                        <a:t>  / 5</a:t>
                      </a:r>
                      <a:r>
                        <a:rPr lang="en-US" sz="1050" i="1" dirty="0">
                          <a:solidFill>
                            <a:srgbClr val="6B7280"/>
                          </a:solidFill>
                          <a:latin typeface="Calibri" pitchFamily="34" charset="0"/>
                          <a:ea typeface="Calibri" pitchFamily="34" charset="-122"/>
                          <a:cs typeface="Calibri" pitchFamily="34" charset="-120"/>
                        </a:rPr>
                        <a:t>   Very different</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7ECE2"/>
                    </a:solidFill>
                  </a:tcPr>
                </a:tc>
                <a:extLst>
                  <a:ext uri="{0D108BD9-81ED-4DB2-BD59-A6C34878D82A}">
                    <a16:rowId xmlns:a16="http://schemas.microsoft.com/office/drawing/2014/main" val="10003"/>
                  </a:ext>
                </a:extLst>
              </a:tr>
              <a:tr h="923782">
                <a:tc>
                  <a:txBody>
                    <a:bodyPr/>
                    <a:lstStyle/>
                    <a:p>
                      <a:pPr marL="0" indent="0" algn="l">
                        <a:buNone/>
                      </a:pPr>
                      <a:r>
                        <a:rPr lang="en-US" sz="1600" b="1" dirty="0">
                          <a:solidFill>
                            <a:srgbClr val="16243B"/>
                          </a:solidFill>
                          <a:latin typeface="Calibri" pitchFamily="34" charset="0"/>
                          <a:ea typeface="Calibri" pitchFamily="34" charset="-122"/>
                          <a:cs typeface="Calibri" pitchFamily="34" charset="-120"/>
                        </a:rPr>
                        <a:t>Q</a:t>
                      </a:r>
                      <a:r>
                        <a:rPr lang="he-IL" sz="1600" b="1" dirty="0">
                          <a:solidFill>
                            <a:srgbClr val="16243B"/>
                          </a:solidFill>
                          <a:latin typeface="Calibri" pitchFamily="34" charset="0"/>
                          <a:ea typeface="Calibri" pitchFamily="34" charset="-122"/>
                          <a:cs typeface="Calibri" pitchFamily="34" charset="-120"/>
                        </a:rPr>
                        <a:t>4</a:t>
                      </a:r>
                      <a:r>
                        <a:rPr lang="en-US" sz="1600" b="1" dirty="0">
                          <a:solidFill>
                            <a:srgbClr val="16243B"/>
                          </a:solidFill>
                          <a:latin typeface="Calibri" pitchFamily="34" charset="0"/>
                          <a:ea typeface="Calibri" pitchFamily="34" charset="-122"/>
                          <a:cs typeface="Calibri" pitchFamily="34" charset="-120"/>
                        </a:rPr>
                        <a:t>   </a:t>
                      </a:r>
                      <a:r>
                        <a:rPr lang="en-US" sz="1600" b="1" dirty="0">
                          <a:solidFill>
                            <a:srgbClr val="1F2937"/>
                          </a:solidFill>
                          <a:latin typeface="Calibri" pitchFamily="34" charset="0"/>
                          <a:ea typeface="Calibri" pitchFamily="34" charset="-122"/>
                          <a:cs typeface="Calibri" pitchFamily="34" charset="-120"/>
                        </a:rPr>
                        <a:t>How willing are you, in principle, to let a tool do the first outline and then correct it?</a:t>
                      </a:r>
                      <a:endParaRPr lang="en-US" sz="1600" dirty="0">
                        <a:latin typeface="Calibri" charset="0"/>
                        <a:ea typeface="Calibri" charset="0"/>
                        <a:cs typeface="Calibri" charset="0"/>
                      </a:endParaRPr>
                    </a:p>
                    <a:p>
                      <a:pPr marL="0" indent="0" algn="l">
                        <a:buNone/>
                      </a:pPr>
                      <a:r>
                        <a:rPr lang="en-US" sz="1050" i="1" dirty="0">
                          <a:solidFill>
                            <a:srgbClr val="6B7280"/>
                          </a:solidFill>
                          <a:latin typeface="Calibri" pitchFamily="34" charset="0"/>
                          <a:ea typeface="Calibri" pitchFamily="34" charset="-122"/>
                          <a:cs typeface="Calibri" pitchFamily="34" charset="-120"/>
                        </a:rPr>
                        <a:t>Scale:  1 = Not at all willing  →  5 = Very willing</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0E7C86"/>
                          </a:solidFill>
                          <a:latin typeface="Calibri" pitchFamily="34" charset="0"/>
                          <a:ea typeface="Calibri" pitchFamily="34" charset="-122"/>
                          <a:cs typeface="Calibri" pitchFamily="34" charset="-120"/>
                        </a:rPr>
                        <a:t>5</a:t>
                      </a:r>
                      <a:r>
                        <a:rPr lang="en-US" sz="1100" dirty="0">
                          <a:solidFill>
                            <a:srgbClr val="6B7280"/>
                          </a:solidFill>
                          <a:latin typeface="Calibri" pitchFamily="34" charset="0"/>
                          <a:ea typeface="Calibri" pitchFamily="34" charset="-122"/>
                          <a:cs typeface="Calibri" pitchFamily="34" charset="-120"/>
                        </a:rPr>
                        <a:t>  / 5</a:t>
                      </a:r>
                      <a:r>
                        <a:rPr lang="en-US" sz="1050" i="1" dirty="0">
                          <a:solidFill>
                            <a:srgbClr val="6B7280"/>
                          </a:solidFill>
                          <a:latin typeface="Calibri" pitchFamily="34" charset="0"/>
                          <a:ea typeface="Calibri" pitchFamily="34" charset="-122"/>
                          <a:cs typeface="Calibri" pitchFamily="34" charset="-120"/>
                        </a:rPr>
                        <a:t>   Very willing</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E7F2F3"/>
                    </a:solidFill>
                  </a:tcPr>
                </a:tc>
                <a:tc>
                  <a:txBody>
                    <a:bodyPr/>
                    <a:lstStyle/>
                    <a:p>
                      <a:pPr marL="0" indent="0" algn="l">
                        <a:buNone/>
                      </a:pPr>
                      <a:r>
                        <a:rPr lang="en-US" sz="2000" b="1" dirty="0">
                          <a:solidFill>
                            <a:srgbClr val="A85D28"/>
                          </a:solidFill>
                          <a:latin typeface="Calibri" pitchFamily="34" charset="0"/>
                          <a:ea typeface="Calibri" pitchFamily="34" charset="-122"/>
                          <a:cs typeface="Calibri" pitchFamily="34" charset="-120"/>
                        </a:rPr>
                        <a:t>5</a:t>
                      </a:r>
                      <a:r>
                        <a:rPr lang="en-US" sz="1100" dirty="0">
                          <a:solidFill>
                            <a:srgbClr val="6B7280"/>
                          </a:solidFill>
                          <a:latin typeface="Calibri" pitchFamily="34" charset="0"/>
                          <a:ea typeface="Calibri" pitchFamily="34" charset="-122"/>
                          <a:cs typeface="Calibri" pitchFamily="34" charset="-120"/>
                        </a:rPr>
                        <a:t>  / 5</a:t>
                      </a:r>
                      <a:r>
                        <a:rPr lang="en-US" sz="1050" i="1" dirty="0">
                          <a:solidFill>
                            <a:srgbClr val="6B7280"/>
                          </a:solidFill>
                          <a:latin typeface="Calibri" pitchFamily="34" charset="0"/>
                          <a:ea typeface="Calibri" pitchFamily="34" charset="-122"/>
                          <a:cs typeface="Calibri" pitchFamily="34" charset="-120"/>
                        </a:rPr>
                        <a:t>   Very willing</a:t>
                      </a:r>
                      <a:endParaRPr lang="en-US" sz="1600" dirty="0">
                        <a:latin typeface="Calibri" charset="0"/>
                        <a:ea typeface="Calibri" charset="0"/>
                        <a:cs typeface="Calibri" charset="0"/>
                      </a:endParaRPr>
                    </a:p>
                  </a:txBody>
                  <a:tcPr marL="88900" marR="88900" marT="63500" marB="63500" anchor="ctr">
                    <a:lnL w="9525" cap="flat" cmpd="sng" algn="ctr">
                      <a:solidFill>
                        <a:srgbClr val="D6DDE2"/>
                      </a:solidFill>
                      <a:prstDash val="solid"/>
                      <a:round/>
                      <a:headEnd type="none" w="med" len="med"/>
                      <a:tailEnd type="none" w="med" len="med"/>
                    </a:lnL>
                    <a:lnR w="9525" cap="flat" cmpd="sng" algn="ctr">
                      <a:solidFill>
                        <a:srgbClr val="D6DDE2"/>
                      </a:solidFill>
                      <a:prstDash val="solid"/>
                      <a:round/>
                      <a:headEnd type="none" w="med" len="med"/>
                      <a:tailEnd type="none" w="med" len="med"/>
                    </a:lnR>
                    <a:lnT w="9525" cap="flat" cmpd="sng" algn="ctr">
                      <a:solidFill>
                        <a:srgbClr val="D6DDE2"/>
                      </a:solidFill>
                      <a:prstDash val="solid"/>
                      <a:round/>
                      <a:headEnd type="none" w="med" len="med"/>
                      <a:tailEnd type="none" w="med" len="med"/>
                    </a:lnT>
                    <a:lnB w="9525" cap="flat" cmpd="sng" algn="ctr">
                      <a:solidFill>
                        <a:srgbClr val="D6DDE2"/>
                      </a:solidFill>
                      <a:prstDash val="solid"/>
                      <a:round/>
                      <a:headEnd type="none" w="med" len="med"/>
                      <a:tailEnd type="none" w="med" len="med"/>
                    </a:lnB>
                    <a:solidFill>
                      <a:srgbClr val="F7ECE2"/>
                    </a:solid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C8DAA4A3-5BC0-CB8D-33A9-E1CFC53C362F}"/>
              </a:ext>
            </a:extLst>
          </p:cNvPr>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3</a:t>
            </a:r>
            <a:endParaRPr sz="1100" b="0" dirty="0">
              <a:solidFill>
                <a:schemeClr val="bg1"/>
              </a:solidFill>
              <a:latin typeface="Segoe UI"/>
            </a:endParaRPr>
          </a:p>
        </p:txBody>
      </p:sp>
    </p:spTree>
    <p:extLst>
      <p:ext uri="{BB962C8B-B14F-4D97-AF65-F5344CB8AC3E}">
        <p14:creationId xmlns:p14="http://schemas.microsoft.com/office/powerpoint/2010/main" val="4153127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dirty="0">
                <a:solidFill>
                  <a:schemeClr val="bg1"/>
                </a:solidFill>
                <a:latin typeface="Segoe UI"/>
              </a:rPr>
              <a:t>BACKGROUND · PATIENT BRATS-GLI-00046-101, SLICE 115, ZOOMED ON THE TUMOUR</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Each MRI sequence shows a different part of the </a:t>
            </a:r>
            <a:r>
              <a:rPr sz="3200" b="0" dirty="0" err="1">
                <a:solidFill>
                  <a:schemeClr val="bg1"/>
                </a:solidFill>
                <a:latin typeface="Segoe UI"/>
              </a:rPr>
              <a:t>tumour</a:t>
            </a:r>
            <a:endParaRPr sz="3200" b="0" dirty="0">
              <a:solidFill>
                <a:schemeClr val="bg1"/>
              </a:solidFill>
              <a:latin typeface="Segoe UI"/>
            </a:endParaRP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4</a:t>
            </a:r>
            <a:endParaRPr sz="1100" b="0" dirty="0">
              <a:solidFill>
                <a:schemeClr val="bg1"/>
              </a:solidFill>
              <a:latin typeface="Segoe UI"/>
            </a:endParaRPr>
          </a:p>
        </p:txBody>
      </p:sp>
      <p:pic>
        <p:nvPicPr>
          <p:cNvPr id="5" name="Picture 4" descr="mod_t1.png"/>
          <p:cNvPicPr>
            <a:picLocks noChangeAspect="1"/>
          </p:cNvPicPr>
          <p:nvPr/>
        </p:nvPicPr>
        <p:blipFill>
          <a:blip r:embed="rId3"/>
          <a:stretch>
            <a:fillRect/>
          </a:stretch>
        </p:blipFill>
        <p:spPr>
          <a:xfrm>
            <a:off x="900684" y="1325880"/>
            <a:ext cx="1874519" cy="2829352"/>
          </a:xfrm>
          <a:prstGeom prst="rect">
            <a:avLst/>
          </a:prstGeom>
          <a:ln w="9525">
            <a:solidFill>
              <a:srgbClr val="2A2F47"/>
            </a:solidFill>
          </a:ln>
        </p:spPr>
      </p:pic>
      <p:sp>
        <p:nvSpPr>
          <p:cNvPr id="6" name="TextBox 5"/>
          <p:cNvSpPr txBox="1"/>
          <p:nvPr/>
        </p:nvSpPr>
        <p:spPr>
          <a:xfrm>
            <a:off x="900684" y="4210096"/>
            <a:ext cx="1874519" cy="292388"/>
          </a:xfrm>
          <a:prstGeom prst="rect">
            <a:avLst/>
          </a:prstGeom>
          <a:noFill/>
        </p:spPr>
        <p:txBody>
          <a:bodyPr wrap="square" lIns="45720" rIns="45720" anchor="t">
            <a:spAutoFit/>
          </a:bodyPr>
          <a:lstStyle/>
          <a:p>
            <a:pPr algn="ctr">
              <a:spcAft>
                <a:spcPts val="0"/>
              </a:spcAft>
            </a:pPr>
            <a:r>
              <a:rPr sz="1300" b="1">
                <a:solidFill>
                  <a:schemeClr val="bg1"/>
                </a:solidFill>
                <a:latin typeface="Segoe UI"/>
              </a:rPr>
              <a:t>T1 (no contrast)</a:t>
            </a:r>
          </a:p>
        </p:txBody>
      </p:sp>
      <p:sp>
        <p:nvSpPr>
          <p:cNvPr id="7" name="TextBox 6"/>
          <p:cNvSpPr txBox="1"/>
          <p:nvPr/>
        </p:nvSpPr>
        <p:spPr>
          <a:xfrm>
            <a:off x="900684" y="4466128"/>
            <a:ext cx="1874519"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Rim (ET, violet) barely visible. Not used by our models.</a:t>
            </a:r>
          </a:p>
        </p:txBody>
      </p:sp>
      <p:pic>
        <p:nvPicPr>
          <p:cNvPr id="8" name="Picture 7" descr="mod_t1c.png"/>
          <p:cNvPicPr>
            <a:picLocks noChangeAspect="1"/>
          </p:cNvPicPr>
          <p:nvPr/>
        </p:nvPicPr>
        <p:blipFill>
          <a:blip r:embed="rId4"/>
          <a:stretch>
            <a:fillRect/>
          </a:stretch>
        </p:blipFill>
        <p:spPr>
          <a:xfrm>
            <a:off x="3022092" y="1325880"/>
            <a:ext cx="1874519" cy="2829352"/>
          </a:xfrm>
          <a:prstGeom prst="rect">
            <a:avLst/>
          </a:prstGeom>
          <a:ln w="9525">
            <a:solidFill>
              <a:srgbClr val="2A2F47"/>
            </a:solidFill>
          </a:ln>
        </p:spPr>
      </p:pic>
      <p:sp>
        <p:nvSpPr>
          <p:cNvPr id="9" name="TextBox 8"/>
          <p:cNvSpPr txBox="1"/>
          <p:nvPr/>
        </p:nvSpPr>
        <p:spPr>
          <a:xfrm>
            <a:off x="3022092" y="4210096"/>
            <a:ext cx="1874519" cy="292388"/>
          </a:xfrm>
          <a:prstGeom prst="rect">
            <a:avLst/>
          </a:prstGeom>
          <a:noFill/>
        </p:spPr>
        <p:txBody>
          <a:bodyPr wrap="square" lIns="45720" rIns="45720" anchor="t">
            <a:spAutoFit/>
          </a:bodyPr>
          <a:lstStyle/>
          <a:p>
            <a:pPr algn="ctr">
              <a:spcAft>
                <a:spcPts val="0"/>
              </a:spcAft>
            </a:pPr>
            <a:r>
              <a:rPr sz="1300" b="1">
                <a:solidFill>
                  <a:schemeClr val="bg1"/>
                </a:solidFill>
                <a:latin typeface="Segoe UI"/>
              </a:rPr>
              <a:t>T1C (with contrast)</a:t>
            </a:r>
          </a:p>
        </p:txBody>
      </p:sp>
      <p:sp>
        <p:nvSpPr>
          <p:cNvPr id="10" name="TextBox 9"/>
          <p:cNvSpPr txBox="1"/>
          <p:nvPr/>
        </p:nvSpPr>
        <p:spPr>
          <a:xfrm>
            <a:off x="3022092" y="4466128"/>
            <a:ext cx="1874519"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Rim lights up (ET, violet); dead core dark (NETC, red).</a:t>
            </a:r>
          </a:p>
        </p:txBody>
      </p:sp>
      <p:pic>
        <p:nvPicPr>
          <p:cNvPr id="11" name="Picture 10" descr="mod_t2.png"/>
          <p:cNvPicPr>
            <a:picLocks noChangeAspect="1"/>
          </p:cNvPicPr>
          <p:nvPr/>
        </p:nvPicPr>
        <p:blipFill>
          <a:blip r:embed="rId5"/>
          <a:stretch>
            <a:fillRect/>
          </a:stretch>
        </p:blipFill>
        <p:spPr>
          <a:xfrm>
            <a:off x="5143500" y="1325880"/>
            <a:ext cx="1874519" cy="2829352"/>
          </a:xfrm>
          <a:prstGeom prst="rect">
            <a:avLst/>
          </a:prstGeom>
          <a:ln w="9525">
            <a:solidFill>
              <a:srgbClr val="2A2F47"/>
            </a:solidFill>
          </a:ln>
        </p:spPr>
      </p:pic>
      <p:sp>
        <p:nvSpPr>
          <p:cNvPr id="12" name="TextBox 11"/>
          <p:cNvSpPr txBox="1"/>
          <p:nvPr/>
        </p:nvSpPr>
        <p:spPr>
          <a:xfrm>
            <a:off x="5143500" y="4210096"/>
            <a:ext cx="1874519" cy="292388"/>
          </a:xfrm>
          <a:prstGeom prst="rect">
            <a:avLst/>
          </a:prstGeom>
          <a:noFill/>
        </p:spPr>
        <p:txBody>
          <a:bodyPr wrap="square" lIns="45720" rIns="45720" anchor="t">
            <a:spAutoFit/>
          </a:bodyPr>
          <a:lstStyle/>
          <a:p>
            <a:pPr algn="ctr">
              <a:spcAft>
                <a:spcPts val="0"/>
              </a:spcAft>
            </a:pPr>
            <a:r>
              <a:rPr sz="1300" b="1">
                <a:solidFill>
                  <a:schemeClr val="bg1"/>
                </a:solidFill>
                <a:latin typeface="Segoe UI"/>
              </a:rPr>
              <a:t>T2</a:t>
            </a:r>
          </a:p>
        </p:txBody>
      </p:sp>
      <p:sp>
        <p:nvSpPr>
          <p:cNvPr id="13" name="TextBox 12"/>
          <p:cNvSpPr txBox="1"/>
          <p:nvPr/>
        </p:nvSpPr>
        <p:spPr>
          <a:xfrm>
            <a:off x="5143500" y="4466128"/>
            <a:ext cx="1874519"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Swelling and fluid bright (SNFH, green).</a:t>
            </a:r>
          </a:p>
        </p:txBody>
      </p:sp>
      <p:pic>
        <p:nvPicPr>
          <p:cNvPr id="14" name="Picture 13" descr="mod_flair.png"/>
          <p:cNvPicPr>
            <a:picLocks noChangeAspect="1"/>
          </p:cNvPicPr>
          <p:nvPr/>
        </p:nvPicPr>
        <p:blipFill>
          <a:blip r:embed="rId6"/>
          <a:stretch>
            <a:fillRect/>
          </a:stretch>
        </p:blipFill>
        <p:spPr>
          <a:xfrm>
            <a:off x="7264908" y="1325880"/>
            <a:ext cx="1874519" cy="2829352"/>
          </a:xfrm>
          <a:prstGeom prst="rect">
            <a:avLst/>
          </a:prstGeom>
          <a:ln w="9525">
            <a:solidFill>
              <a:srgbClr val="2A2F47"/>
            </a:solidFill>
          </a:ln>
        </p:spPr>
      </p:pic>
      <p:sp>
        <p:nvSpPr>
          <p:cNvPr id="15" name="TextBox 14"/>
          <p:cNvSpPr txBox="1"/>
          <p:nvPr/>
        </p:nvSpPr>
        <p:spPr>
          <a:xfrm>
            <a:off x="7264908" y="4210096"/>
            <a:ext cx="1874519" cy="292388"/>
          </a:xfrm>
          <a:prstGeom prst="rect">
            <a:avLst/>
          </a:prstGeom>
          <a:noFill/>
        </p:spPr>
        <p:txBody>
          <a:bodyPr wrap="square" lIns="45720" rIns="45720" anchor="t">
            <a:spAutoFit/>
          </a:bodyPr>
          <a:lstStyle/>
          <a:p>
            <a:pPr algn="ctr">
              <a:spcAft>
                <a:spcPts val="0"/>
              </a:spcAft>
            </a:pPr>
            <a:r>
              <a:rPr sz="1300" b="1">
                <a:solidFill>
                  <a:schemeClr val="bg1"/>
                </a:solidFill>
                <a:latin typeface="Segoe UI"/>
              </a:rPr>
              <a:t>FLAIR</a:t>
            </a:r>
          </a:p>
        </p:txBody>
      </p:sp>
      <p:sp>
        <p:nvSpPr>
          <p:cNvPr id="16" name="TextBox 15"/>
          <p:cNvSpPr txBox="1"/>
          <p:nvPr/>
        </p:nvSpPr>
        <p:spPr>
          <a:xfrm>
            <a:off x="7264908" y="4466128"/>
            <a:ext cx="1874519"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Like T2, but brain fluid is dark: swelling stands out.</a:t>
            </a:r>
          </a:p>
        </p:txBody>
      </p:sp>
      <p:pic>
        <p:nvPicPr>
          <p:cNvPr id="17" name="Picture 16" descr="mod_labels.png"/>
          <p:cNvPicPr>
            <a:picLocks noChangeAspect="1"/>
          </p:cNvPicPr>
          <p:nvPr/>
        </p:nvPicPr>
        <p:blipFill>
          <a:blip r:embed="rId7"/>
          <a:stretch>
            <a:fillRect/>
          </a:stretch>
        </p:blipFill>
        <p:spPr>
          <a:xfrm>
            <a:off x="9386316" y="1325880"/>
            <a:ext cx="1874519" cy="2829352"/>
          </a:xfrm>
          <a:prstGeom prst="rect">
            <a:avLst/>
          </a:prstGeom>
          <a:ln w="9525">
            <a:solidFill>
              <a:srgbClr val="2A2F47"/>
            </a:solidFill>
          </a:ln>
        </p:spPr>
      </p:pic>
      <p:sp>
        <p:nvSpPr>
          <p:cNvPr id="18" name="TextBox 17"/>
          <p:cNvSpPr txBox="1"/>
          <p:nvPr/>
        </p:nvSpPr>
        <p:spPr>
          <a:xfrm>
            <a:off x="9386316" y="4210096"/>
            <a:ext cx="1874519" cy="292388"/>
          </a:xfrm>
          <a:prstGeom prst="rect">
            <a:avLst/>
          </a:prstGeom>
          <a:noFill/>
        </p:spPr>
        <p:txBody>
          <a:bodyPr wrap="square" lIns="45720" rIns="45720" anchor="t">
            <a:spAutoFit/>
          </a:bodyPr>
          <a:lstStyle/>
          <a:p>
            <a:pPr algn="ctr">
              <a:spcAft>
                <a:spcPts val="0"/>
              </a:spcAft>
            </a:pPr>
            <a:r>
              <a:rPr sz="1300" b="1">
                <a:solidFill>
                  <a:schemeClr val="bg1"/>
                </a:solidFill>
                <a:latin typeface="Segoe UI"/>
              </a:rPr>
              <a:t>Expert labels</a:t>
            </a:r>
          </a:p>
        </p:txBody>
      </p:sp>
      <p:sp>
        <p:nvSpPr>
          <p:cNvPr id="19" name="TextBox 18"/>
          <p:cNvSpPr txBox="1"/>
          <p:nvPr/>
        </p:nvSpPr>
        <p:spPr>
          <a:xfrm>
            <a:off x="9386316" y="4466128"/>
            <a:ext cx="1874519"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NETC red · SNFH green · ET violet · RC (cavity) yellow</a:t>
            </a:r>
          </a:p>
        </p:txBody>
      </p:sp>
      <p:sp>
        <p:nvSpPr>
          <p:cNvPr id="20" name="TextBox 19"/>
          <p:cNvSpPr txBox="1"/>
          <p:nvPr/>
        </p:nvSpPr>
        <p:spPr>
          <a:xfrm>
            <a:off x="548640" y="4983480"/>
            <a:ext cx="11064240" cy="561692"/>
          </a:xfrm>
          <a:prstGeom prst="rect">
            <a:avLst/>
          </a:prstGeom>
          <a:noFill/>
        </p:spPr>
        <p:txBody>
          <a:bodyPr wrap="square" lIns="45720" rIns="45720" anchor="t">
            <a:spAutoFit/>
          </a:bodyPr>
          <a:lstStyle/>
          <a:p>
            <a:pPr algn="l">
              <a:spcAft>
                <a:spcPts val="300"/>
              </a:spcAft>
            </a:pPr>
            <a:r>
              <a:rPr sz="1400" b="0">
                <a:solidFill>
                  <a:schemeClr val="bg1"/>
                </a:solidFill>
                <a:latin typeface="Segoe UI"/>
              </a:rPr>
              <a:t>•  Target: the </a:t>
            </a:r>
            <a:r>
              <a:rPr sz="1400" b="1">
                <a:solidFill>
                  <a:schemeClr val="bg1"/>
                </a:solidFill>
                <a:latin typeface="Segoe UI"/>
              </a:rPr>
              <a:t>whole tumour</a:t>
            </a:r>
            <a:r>
              <a:rPr sz="1400" b="0">
                <a:solidFill>
                  <a:schemeClr val="bg1"/>
                </a:solidFill>
                <a:latin typeface="Segoe UI"/>
              </a:rPr>
              <a:t> (all four parts). Our models see T1C, T2 and FLAIR as one colour picture.</a:t>
            </a:r>
          </a:p>
          <a:p>
            <a:pPr algn="l">
              <a:spcAft>
                <a:spcPts val="300"/>
              </a:spcAft>
            </a:pPr>
            <a:r>
              <a:rPr sz="1400" b="0">
                <a:solidFill>
                  <a:schemeClr val="bg1"/>
                </a:solidFill>
                <a:latin typeface="Segoe UI"/>
              </a:rPr>
              <a:t>•  Score: </a:t>
            </a:r>
            <a:r>
              <a:rPr sz="1400" b="1">
                <a:solidFill>
                  <a:schemeClr val="bg1"/>
                </a:solidFill>
                <a:latin typeface="Segoe UI"/>
              </a:rPr>
              <a:t>3D Dice</a:t>
            </a:r>
            <a:r>
              <a:rPr sz="1400" b="0">
                <a:solidFill>
                  <a:schemeClr val="bg1"/>
                </a:solidFill>
                <a:latin typeface="Segoe UI"/>
              </a:rPr>
              <a:t> = 2 × overlap ÷ (model + expert), from 0 to 1, per patient.</a:t>
            </a:r>
          </a:p>
        </p:txBody>
      </p:sp>
      <p:sp>
        <p:nvSpPr>
          <p:cNvPr id="21" name="Rounded Rectangle 20"/>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 name="TextBox 21"/>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a:t>
            </a:r>
            <a:r>
              <a:rPr sz="1600" b="0">
                <a:solidFill>
                  <a:schemeClr val="bg1"/>
                </a:solidFill>
                <a:latin typeface="Segoe UI"/>
              </a:rPr>
              <a:t> No single sequence shows the whole tumour, so the models look at several sequences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dirty="0">
                <a:solidFill>
                  <a:schemeClr val="bg1"/>
                </a:solidFill>
                <a:latin typeface="Segoe UI"/>
              </a:rPr>
              <a:t>METHOD · PATIENT BRATS-GLI-00046-101, SLICE 115</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Normalization: raw MRI values to one colour picture</a:t>
            </a:r>
            <a:endParaRPr sz="3200" b="0" dirty="0">
              <a:solidFill>
                <a:schemeClr val="bg1"/>
              </a:solidFill>
              <a:latin typeface="Segoe UI"/>
            </a:endParaRP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5</a:t>
            </a:r>
            <a:endParaRPr sz="1100" b="0" dirty="0">
              <a:solidFill>
                <a:schemeClr val="bg1"/>
              </a:solidFill>
              <a:latin typeface="Segoe UI"/>
            </a:endParaRPr>
          </a:p>
        </p:txBody>
      </p:sp>
      <p:pic>
        <p:nvPicPr>
          <p:cNvPr id="5" name="Picture 4" descr="norm_steps.png"/>
          <p:cNvPicPr>
            <a:picLocks noChangeAspect="1"/>
          </p:cNvPicPr>
          <p:nvPr/>
        </p:nvPicPr>
        <p:blipFill>
          <a:blip r:embed="rId2"/>
          <a:stretch>
            <a:fillRect/>
          </a:stretch>
        </p:blipFill>
        <p:spPr>
          <a:xfrm>
            <a:off x="548640" y="1325880"/>
            <a:ext cx="5943600" cy="3615655"/>
          </a:xfrm>
          <a:prstGeom prst="rect">
            <a:avLst/>
          </a:prstGeom>
        </p:spPr>
      </p:pic>
      <p:pic>
        <p:nvPicPr>
          <p:cNvPr id="6" name="Picture 5" descr="norm_hist.png"/>
          <p:cNvPicPr>
            <a:picLocks noChangeAspect="1"/>
          </p:cNvPicPr>
          <p:nvPr/>
        </p:nvPicPr>
        <p:blipFill>
          <a:blip r:embed="rId3"/>
          <a:stretch>
            <a:fillRect/>
          </a:stretch>
        </p:blipFill>
        <p:spPr>
          <a:xfrm>
            <a:off x="6720840" y="1325880"/>
            <a:ext cx="4892040" cy="2067500"/>
          </a:xfrm>
          <a:prstGeom prst="rect">
            <a:avLst/>
          </a:prstGeom>
        </p:spPr>
      </p:pic>
      <p:sp>
        <p:nvSpPr>
          <p:cNvPr id="20" name="TextBox 19"/>
          <p:cNvSpPr txBox="1"/>
          <p:nvPr/>
        </p:nvSpPr>
        <p:spPr>
          <a:xfrm>
            <a:off x="6720840" y="3520440"/>
            <a:ext cx="4892040" cy="2148840"/>
          </a:xfrm>
          <a:prstGeom prst="rect">
            <a:avLst/>
          </a:prstGeom>
          <a:noFill/>
        </p:spPr>
        <p:txBody>
          <a:bodyPr wrap="square" lIns="45720" rIns="45720" anchor="t">
            <a:spAutoFit/>
          </a:bodyPr>
          <a:lstStyle/>
          <a:p>
            <a:pPr algn="l">
              <a:spcAft>
                <a:spcPts val="300"/>
              </a:spcAft>
            </a:pPr>
            <a:r>
              <a:rPr sz="1400" b="0">
                <a:solidFill>
                  <a:schemeClr val="bg1"/>
                </a:solidFill>
                <a:latin typeface="Segoe UI"/>
              </a:rPr>
              <a:t>•  MRI has no fixed units: each sequence and scan has its own scale (here T1C up to 10,205, FLAIR up to 2,370).</a:t>
            </a:r>
          </a:p>
          <a:p>
            <a:pPr algn="l">
              <a:spcAft>
                <a:spcPts val="300"/>
              </a:spcAft>
            </a:pPr>
            <a:r>
              <a:rPr sz="1400" b="0">
                <a:solidFill>
                  <a:schemeClr val="bg1"/>
                </a:solidFill>
                <a:latin typeface="Segoe UI"/>
              </a:rPr>
              <a:t>•  Per slice and per sequence, brain voxels only: the 0.5th percentile → 0, the 99.5th → 255, the rest clipped.</a:t>
            </a:r>
          </a:p>
          <a:p>
            <a:pPr algn="l">
              <a:spcAft>
                <a:spcPts val="300"/>
              </a:spcAft>
            </a:pPr>
            <a:r>
              <a:rPr sz="1400" b="0">
                <a:solidFill>
                  <a:schemeClr val="bg1"/>
                </a:solidFill>
                <a:latin typeface="Segoe UI"/>
              </a:rPr>
              <a:t>•  T1C, T2 and FLAIR become red, green and blue: the same 8-bit picture for both models.</a:t>
            </a:r>
          </a:p>
          <a:p>
            <a:pPr algn="l">
              <a:spcAft>
                <a:spcPts val="300"/>
              </a:spcAft>
            </a:pPr>
            <a:r>
              <a:rPr sz="1400" b="0">
                <a:solidFill>
                  <a:schemeClr val="bg1"/>
                </a:solidFill>
                <a:latin typeface="Segoe UI"/>
              </a:rPr>
              <a:t>•  YOLO scales it to 0–1 at 512 px. MedSAM2: ÷ 255, stretched to 512 × 512, then ImageNet mean/std, as SAM2 was pretrained.</a:t>
            </a:r>
          </a:p>
        </p:txBody>
      </p:sp>
      <p:sp>
        <p:nvSpPr>
          <p:cNvPr id="21" name="Rounded Rectangle 20"/>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 name="TextBox 21"/>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 </a:t>
            </a:r>
            <a:r>
              <a:rPr sz="1600" b="0">
                <a:solidFill>
                  <a:schemeClr val="bg1"/>
                </a:solidFill>
                <a:latin typeface="Segoe UI"/>
              </a:rPr>
              <a:t>every slice is scaled on its own, so all scanners and sequences land on the same 0–255 range.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YOLO11-seg: one slice in, shapes out</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sz="1100" b="0">
                <a:solidFill>
                  <a:schemeClr val="bg1"/>
                </a:solidFill>
                <a:latin typeface="Segoe UI"/>
              </a:rPr>
              <a:t>6</a:t>
            </a:r>
          </a:p>
        </p:txBody>
      </p:sp>
      <p:pic>
        <p:nvPicPr>
          <p:cNvPr id="5" name="Picture 4" descr="io_yolo_input.png"/>
          <p:cNvPicPr>
            <a:picLocks noChangeAspect="1"/>
          </p:cNvPicPr>
          <p:nvPr/>
        </p:nvPicPr>
        <p:blipFill>
          <a:blip r:embed="rId3"/>
          <a:stretch>
            <a:fillRect/>
          </a:stretch>
        </p:blipFill>
        <p:spPr>
          <a:xfrm>
            <a:off x="548640" y="1371600"/>
            <a:ext cx="2370830" cy="2839785"/>
          </a:xfrm>
          <a:prstGeom prst="rect">
            <a:avLst/>
          </a:prstGeom>
          <a:ln w="9525">
            <a:solidFill>
              <a:srgbClr val="2A2F47"/>
            </a:solidFill>
          </a:ln>
        </p:spPr>
      </p:pic>
      <p:sp>
        <p:nvSpPr>
          <p:cNvPr id="6" name="TextBox 5"/>
          <p:cNvSpPr txBox="1"/>
          <p:nvPr/>
        </p:nvSpPr>
        <p:spPr>
          <a:xfrm>
            <a:off x="548640" y="4230685"/>
            <a:ext cx="2560320" cy="646331"/>
          </a:xfrm>
          <a:prstGeom prst="rect">
            <a:avLst/>
          </a:prstGeom>
          <a:noFill/>
        </p:spPr>
        <p:txBody>
          <a:bodyPr wrap="square" lIns="45720" rIns="45720" anchor="t">
            <a:spAutoFit/>
          </a:bodyPr>
          <a:lstStyle/>
          <a:p>
            <a:pPr algn="ctr">
              <a:spcAft>
                <a:spcPts val="600"/>
              </a:spcAft>
            </a:pPr>
            <a:r>
              <a:rPr sz="1200" b="1">
                <a:solidFill>
                  <a:schemeClr val="bg1"/>
                </a:solidFill>
                <a:latin typeface="Segoe UI"/>
              </a:rPr>
              <a:t>Input:</a:t>
            </a:r>
            <a:r>
              <a:rPr sz="1200" b="0">
                <a:solidFill>
                  <a:schemeClr val="bg1"/>
                </a:solidFill>
                <a:latin typeface="Segoe UI"/>
              </a:rPr>
              <a:t> one slice as a colour picture (red = T1C, green = T2, blue = FLAIR), 512 × 512</a:t>
            </a:r>
          </a:p>
        </p:txBody>
      </p:sp>
      <p:sp>
        <p:nvSpPr>
          <p:cNvPr id="7" name="Right Arrow 6"/>
          <p:cNvSpPr/>
          <p:nvPr/>
        </p:nvSpPr>
        <p:spPr>
          <a:xfrm>
            <a:off x="3246120" y="2551176"/>
            <a:ext cx="365760" cy="292608"/>
          </a:xfrm>
          <a:prstGeom prst="rightArrow">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8" name="Rounded Rectangle 7"/>
          <p:cNvSpPr/>
          <p:nvPr/>
        </p:nvSpPr>
        <p:spPr>
          <a:xfrm>
            <a:off x="3703320" y="1965960"/>
            <a:ext cx="1737360" cy="1463040"/>
          </a:xfrm>
          <a:prstGeom prst="roundRect">
            <a:avLst>
              <a:gd name="adj" fmla="val 12000"/>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9" name="TextBox 8"/>
          <p:cNvSpPr txBox="1"/>
          <p:nvPr/>
        </p:nvSpPr>
        <p:spPr>
          <a:xfrm>
            <a:off x="3749040" y="2130552"/>
            <a:ext cx="1645920" cy="353943"/>
          </a:xfrm>
          <a:prstGeom prst="rect">
            <a:avLst/>
          </a:prstGeom>
          <a:noFill/>
        </p:spPr>
        <p:txBody>
          <a:bodyPr wrap="square" lIns="45720" rIns="45720" anchor="t">
            <a:spAutoFit/>
          </a:bodyPr>
          <a:lstStyle/>
          <a:p>
            <a:pPr algn="ctr">
              <a:spcAft>
                <a:spcPts val="600"/>
              </a:spcAft>
            </a:pPr>
            <a:r>
              <a:rPr sz="1700" b="1">
                <a:solidFill>
                  <a:schemeClr val="bg1"/>
                </a:solidFill>
                <a:latin typeface="Segoe UI"/>
              </a:rPr>
              <a:t>YOLO11-seg</a:t>
            </a:r>
          </a:p>
        </p:txBody>
      </p:sp>
      <p:sp>
        <p:nvSpPr>
          <p:cNvPr id="10" name="TextBox 9"/>
          <p:cNvSpPr txBox="1"/>
          <p:nvPr/>
        </p:nvSpPr>
        <p:spPr>
          <a:xfrm>
            <a:off x="3749040" y="2606040"/>
            <a:ext cx="1645920" cy="538609"/>
          </a:xfrm>
          <a:prstGeom prst="rect">
            <a:avLst/>
          </a:prstGeom>
          <a:noFill/>
        </p:spPr>
        <p:txBody>
          <a:bodyPr wrap="square" lIns="45720" rIns="45720" anchor="t">
            <a:spAutoFit/>
          </a:bodyPr>
          <a:lstStyle/>
          <a:p>
            <a:pPr algn="ctr">
              <a:spcAft>
                <a:spcPts val="600"/>
              </a:spcAft>
            </a:pPr>
            <a:r>
              <a:rPr sz="1200" b="0">
                <a:solidFill>
                  <a:schemeClr val="bg1"/>
                </a:solidFill>
                <a:latin typeface="Segoe UI"/>
              </a:rPr>
              <a:t>medium model
2D, slice by slice</a:t>
            </a:r>
          </a:p>
        </p:txBody>
      </p:sp>
      <p:sp>
        <p:nvSpPr>
          <p:cNvPr id="11" name="Right Arrow 10"/>
          <p:cNvSpPr/>
          <p:nvPr/>
        </p:nvSpPr>
        <p:spPr>
          <a:xfrm>
            <a:off x="5532120" y="2551176"/>
            <a:ext cx="365760" cy="292608"/>
          </a:xfrm>
          <a:prstGeom prst="rightArrow">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pic>
        <p:nvPicPr>
          <p:cNvPr id="12" name="Picture 11" descr="io_yolo_output.png"/>
          <p:cNvPicPr>
            <a:picLocks noChangeAspect="1"/>
          </p:cNvPicPr>
          <p:nvPr/>
        </p:nvPicPr>
        <p:blipFill>
          <a:blip r:embed="rId4"/>
          <a:stretch>
            <a:fillRect/>
          </a:stretch>
        </p:blipFill>
        <p:spPr>
          <a:xfrm>
            <a:off x="6096000" y="1371600"/>
            <a:ext cx="2407920" cy="2884032"/>
          </a:xfrm>
          <a:prstGeom prst="rect">
            <a:avLst/>
          </a:prstGeom>
          <a:ln w="9525">
            <a:solidFill>
              <a:srgbClr val="2A2F47"/>
            </a:solidFill>
          </a:ln>
        </p:spPr>
      </p:pic>
      <p:sp>
        <p:nvSpPr>
          <p:cNvPr id="13" name="TextBox 12"/>
          <p:cNvSpPr txBox="1"/>
          <p:nvPr/>
        </p:nvSpPr>
        <p:spPr>
          <a:xfrm>
            <a:off x="5943600" y="4263545"/>
            <a:ext cx="2560320" cy="461665"/>
          </a:xfrm>
          <a:prstGeom prst="rect">
            <a:avLst/>
          </a:prstGeom>
          <a:noFill/>
        </p:spPr>
        <p:txBody>
          <a:bodyPr wrap="square" lIns="45720" rIns="45720" anchor="t">
            <a:spAutoFit/>
          </a:bodyPr>
          <a:lstStyle/>
          <a:p>
            <a:pPr algn="ctr">
              <a:spcAft>
                <a:spcPts val="600"/>
              </a:spcAft>
            </a:pPr>
            <a:r>
              <a:rPr sz="1200" b="1" dirty="0">
                <a:solidFill>
                  <a:schemeClr val="bg1"/>
                </a:solidFill>
                <a:latin typeface="Segoe UI"/>
              </a:rPr>
              <a:t>Output:</a:t>
            </a:r>
            <a:r>
              <a:rPr sz="1200" b="0" dirty="0">
                <a:solidFill>
                  <a:schemeClr val="bg1"/>
                </a:solidFill>
                <a:latin typeface="Segoe UI"/>
              </a:rPr>
              <a:t> for every shape a box, a confidence (0–1) and a mask</a:t>
            </a:r>
          </a:p>
        </p:txBody>
      </p:sp>
      <p:sp>
        <p:nvSpPr>
          <p:cNvPr id="14" name="TextBox 13"/>
          <p:cNvSpPr txBox="1"/>
          <p:nvPr/>
        </p:nvSpPr>
        <p:spPr>
          <a:xfrm>
            <a:off x="8869680" y="1463040"/>
            <a:ext cx="2743200" cy="3247043"/>
          </a:xfrm>
          <a:prstGeom prst="rect">
            <a:avLst/>
          </a:prstGeom>
          <a:noFill/>
        </p:spPr>
        <p:txBody>
          <a:bodyPr wrap="square" lIns="45720" rIns="45720" anchor="t">
            <a:spAutoFit/>
          </a:bodyPr>
          <a:lstStyle/>
          <a:p>
            <a:pPr algn="l">
              <a:spcAft>
                <a:spcPts val="1000"/>
              </a:spcAft>
            </a:pPr>
            <a:r>
              <a:rPr sz="1500" b="0" dirty="0">
                <a:solidFill>
                  <a:schemeClr val="bg1"/>
                </a:solidFill>
                <a:latin typeface="Segoe UI"/>
              </a:rPr>
              <a:t>•  Sees </a:t>
            </a:r>
            <a:r>
              <a:rPr sz="1500" b="1" dirty="0">
                <a:solidFill>
                  <a:schemeClr val="bg1"/>
                </a:solidFill>
                <a:latin typeface="Segoe UI"/>
              </a:rPr>
              <a:t>one 2D slice at a time</a:t>
            </a:r>
            <a:r>
              <a:rPr sz="1500" b="0" dirty="0">
                <a:solidFill>
                  <a:schemeClr val="bg1"/>
                </a:solidFill>
                <a:latin typeface="Segoe UI"/>
              </a:rPr>
              <a:t>, with no memory of the slices around it.</a:t>
            </a:r>
          </a:p>
          <a:p>
            <a:pPr algn="l">
              <a:spcAft>
                <a:spcPts val="1000"/>
              </a:spcAft>
            </a:pPr>
            <a:r>
              <a:rPr sz="1500" b="0" dirty="0">
                <a:solidFill>
                  <a:schemeClr val="bg1"/>
                </a:solidFill>
                <a:latin typeface="Segoe UI"/>
              </a:rPr>
              <a:t>•  Finds each tumor shape and gives it a </a:t>
            </a:r>
            <a:r>
              <a:rPr sz="1500" b="1" dirty="0">
                <a:solidFill>
                  <a:srgbClr val="92D050"/>
                </a:solidFill>
                <a:latin typeface="Segoe UI"/>
              </a:rPr>
              <a:t>confidence</a:t>
            </a:r>
            <a:r>
              <a:rPr sz="1500" b="0" dirty="0">
                <a:solidFill>
                  <a:schemeClr val="bg1"/>
                </a:solidFill>
                <a:latin typeface="Segoe UI"/>
              </a:rPr>
              <a:t> from 0 to 1.</a:t>
            </a:r>
          </a:p>
          <a:p>
            <a:pPr algn="l">
              <a:spcAft>
                <a:spcPts val="1000"/>
              </a:spcAft>
            </a:pPr>
            <a:r>
              <a:rPr sz="1500" b="0" dirty="0">
                <a:solidFill>
                  <a:schemeClr val="bg1"/>
                </a:solidFill>
                <a:latin typeface="Segoe UI"/>
              </a:rPr>
              <a:t>•  We keep every shape at </a:t>
            </a:r>
            <a:r>
              <a:rPr sz="1500" b="1" dirty="0">
                <a:solidFill>
                  <a:schemeClr val="bg1"/>
                </a:solidFill>
                <a:latin typeface="Segoe UI"/>
              </a:rPr>
              <a:t>0.05 or more</a:t>
            </a:r>
            <a:r>
              <a:rPr lang="en-US" sz="1500" b="1" dirty="0">
                <a:solidFill>
                  <a:schemeClr val="bg1"/>
                </a:solidFill>
                <a:latin typeface="Segoe UI"/>
              </a:rPr>
              <a:t>,</a:t>
            </a:r>
            <a:r>
              <a:rPr sz="1500" b="0" dirty="0">
                <a:solidFill>
                  <a:schemeClr val="bg1"/>
                </a:solidFill>
                <a:latin typeface="Segoe UI"/>
              </a:rPr>
              <a:t> on this slice: 0.75 and 0.35.</a:t>
            </a:r>
          </a:p>
          <a:p>
            <a:pPr algn="l">
              <a:spcAft>
                <a:spcPts val="1000"/>
              </a:spcAft>
            </a:pPr>
            <a:r>
              <a:rPr sz="1500" b="0" dirty="0">
                <a:solidFill>
                  <a:schemeClr val="bg1"/>
                </a:solidFill>
                <a:latin typeface="Segoe UI"/>
              </a:rPr>
              <a:t>•  Fine-tuned from a model pretrained on everyday photos (yolo11m-seg).</a:t>
            </a:r>
          </a:p>
        </p:txBody>
      </p:sp>
      <p:sp>
        <p:nvSpPr>
          <p:cNvPr id="15" name="Rounded Rectangle 14"/>
          <p:cNvSpPr/>
          <p:nvPr/>
        </p:nvSpPr>
        <p:spPr>
          <a:xfrm>
            <a:off x="803564" y="4920579"/>
            <a:ext cx="10489276" cy="461665"/>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6" name="TextBox 15"/>
          <p:cNvSpPr txBox="1"/>
          <p:nvPr/>
        </p:nvSpPr>
        <p:spPr>
          <a:xfrm>
            <a:off x="1109288" y="5009383"/>
            <a:ext cx="10744200" cy="338554"/>
          </a:xfrm>
          <a:prstGeom prst="rect">
            <a:avLst/>
          </a:prstGeom>
          <a:noFill/>
        </p:spPr>
        <p:txBody>
          <a:bodyPr wrap="square" lIns="45720" rIns="45720" anchor="ctr">
            <a:spAutoFit/>
          </a:bodyPr>
          <a:lstStyle/>
          <a:p>
            <a:pPr algn="l">
              <a:spcAft>
                <a:spcPts val="0"/>
              </a:spcAft>
            </a:pPr>
            <a:r>
              <a:rPr sz="1600" b="1" dirty="0">
                <a:solidFill>
                  <a:schemeClr val="bg1"/>
                </a:solidFill>
                <a:latin typeface="Segoe UI"/>
              </a:rPr>
              <a:t>Key takeaway:</a:t>
            </a:r>
            <a:r>
              <a:rPr sz="1600" b="0" dirty="0">
                <a:solidFill>
                  <a:schemeClr val="bg1"/>
                </a:solidFill>
                <a:latin typeface="Segoe UI"/>
              </a:rPr>
              <a:t> YOLO turns each slice into shapes with confidences, fast, but blind to the slices around it.</a:t>
            </a:r>
          </a:p>
        </p:txBody>
      </p:sp>
      <p:pic>
        <p:nvPicPr>
          <p:cNvPr id="20" name="Picture 19">
            <a:extLst>
              <a:ext uri="{FF2B5EF4-FFF2-40B4-BE49-F238E27FC236}">
                <a16:creationId xmlns:a16="http://schemas.microsoft.com/office/drawing/2014/main" id="{B831A1DF-F459-B8B4-EA40-BBFD0D8D6F38}"/>
              </a:ext>
            </a:extLst>
          </p:cNvPr>
          <p:cNvPicPr>
            <a:picLocks noChangeAspect="1"/>
          </p:cNvPicPr>
          <p:nvPr/>
        </p:nvPicPr>
        <p:blipFill>
          <a:blip r:embed="rId5"/>
          <a:stretch>
            <a:fillRect/>
          </a:stretch>
        </p:blipFill>
        <p:spPr>
          <a:xfrm>
            <a:off x="548640" y="5715000"/>
            <a:ext cx="3503171" cy="987552"/>
          </a:xfrm>
          <a:prstGeom prst="rect">
            <a:avLst/>
          </a:prstGeom>
        </p:spPr>
      </p:pic>
      <p:pic>
        <p:nvPicPr>
          <p:cNvPr id="22" name="Picture 21">
            <a:extLst>
              <a:ext uri="{FF2B5EF4-FFF2-40B4-BE49-F238E27FC236}">
                <a16:creationId xmlns:a16="http://schemas.microsoft.com/office/drawing/2014/main" id="{C54AD075-688F-7C51-69F7-620EBAB48CEF}"/>
              </a:ext>
            </a:extLst>
          </p:cNvPr>
          <p:cNvPicPr>
            <a:picLocks noChangeAspect="1"/>
          </p:cNvPicPr>
          <p:nvPr/>
        </p:nvPicPr>
        <p:blipFill>
          <a:blip r:embed="rId6"/>
          <a:stretch>
            <a:fillRect/>
          </a:stretch>
        </p:blipFill>
        <p:spPr>
          <a:xfrm>
            <a:off x="7498795" y="5715000"/>
            <a:ext cx="3336845" cy="987552"/>
          </a:xfrm>
          <a:prstGeom prst="rect">
            <a:avLst/>
          </a:prstGeom>
        </p:spPr>
      </p:pic>
      <p:pic>
        <p:nvPicPr>
          <p:cNvPr id="24" name="Picture 23">
            <a:extLst>
              <a:ext uri="{FF2B5EF4-FFF2-40B4-BE49-F238E27FC236}">
                <a16:creationId xmlns:a16="http://schemas.microsoft.com/office/drawing/2014/main" id="{E011620A-F619-D4BD-663C-E8ED36C1ED77}"/>
              </a:ext>
            </a:extLst>
          </p:cNvPr>
          <p:cNvPicPr>
            <a:picLocks noChangeAspect="1"/>
          </p:cNvPicPr>
          <p:nvPr/>
        </p:nvPicPr>
        <p:blipFill>
          <a:blip r:embed="rId7"/>
          <a:srcRect l="1264" t="88756" r="93967" b="3535"/>
          <a:stretch>
            <a:fillRect/>
          </a:stretch>
        </p:blipFill>
        <p:spPr>
          <a:xfrm>
            <a:off x="5004863" y="5870448"/>
            <a:ext cx="409790" cy="191414"/>
          </a:xfrm>
          <a:prstGeom prst="rect">
            <a:avLst/>
          </a:prstGeom>
        </p:spPr>
      </p:pic>
      <p:pic>
        <p:nvPicPr>
          <p:cNvPr id="26" name="Picture 25">
            <a:extLst>
              <a:ext uri="{FF2B5EF4-FFF2-40B4-BE49-F238E27FC236}">
                <a16:creationId xmlns:a16="http://schemas.microsoft.com/office/drawing/2014/main" id="{D3A414AA-4F88-407D-D39D-DBBFCFF20C0C}"/>
              </a:ext>
            </a:extLst>
          </p:cNvPr>
          <p:cNvPicPr>
            <a:picLocks noChangeAspect="1"/>
          </p:cNvPicPr>
          <p:nvPr/>
        </p:nvPicPr>
        <p:blipFill>
          <a:blip r:embed="rId7"/>
          <a:srcRect l="6437" t="88756" r="78881" b="3535"/>
          <a:stretch>
            <a:fillRect/>
          </a:stretch>
        </p:blipFill>
        <p:spPr>
          <a:xfrm>
            <a:off x="5004863" y="6144768"/>
            <a:ext cx="1261657" cy="191414"/>
          </a:xfrm>
          <a:prstGeom prst="rect">
            <a:avLst/>
          </a:prstGeom>
        </p:spPr>
      </p:pic>
      <p:pic>
        <p:nvPicPr>
          <p:cNvPr id="28" name="Picture 27">
            <a:extLst>
              <a:ext uri="{FF2B5EF4-FFF2-40B4-BE49-F238E27FC236}">
                <a16:creationId xmlns:a16="http://schemas.microsoft.com/office/drawing/2014/main" id="{67F7422F-AD5D-FF62-1B27-558330D1220C}"/>
              </a:ext>
            </a:extLst>
          </p:cNvPr>
          <p:cNvPicPr>
            <a:picLocks noChangeAspect="1"/>
          </p:cNvPicPr>
          <p:nvPr/>
        </p:nvPicPr>
        <p:blipFill>
          <a:blip r:embed="rId7"/>
          <a:srcRect l="20912" t="88756" r="61156" b="3535"/>
          <a:stretch>
            <a:fillRect/>
          </a:stretch>
        </p:blipFill>
        <p:spPr>
          <a:xfrm>
            <a:off x="5004863" y="6419088"/>
            <a:ext cx="1540879" cy="191414"/>
          </a:xfrm>
          <a:prstGeom prst="rect">
            <a:avLst/>
          </a:prstGeom>
        </p:spPr>
      </p:pic>
      <p:sp>
        <p:nvSpPr>
          <p:cNvPr id="6" name="TextBox 5"/>
          <p:cNvSpPr txBox="1"/>
          <p:nvPr/>
        </p:nvSpPr>
        <p:spPr>
          <a:xfrm>
            <a:off x="548640" y="5440680"/>
            <a:ext cx="11064240" cy="256032"/>
          </a:xfrm>
          <a:prstGeom prst="rect">
            <a:avLst/>
          </a:prstGeom>
          <a:noFill/>
        </p:spPr>
        <p:txBody>
          <a:bodyPr wrap="square" lIns="45720" rIns="45720" anchor="t">
            <a:spAutoFit/>
          </a:bodyPr>
          <a:lstStyle/>
          <a:p>
            <a:pPr algn="ctr">
              <a:spcAft>
                <a:spcPts val="600"/>
              </a:spcAft>
            </a:pPr>
            <a:r>
              <a:rPr sz="1200" b="0">
                <a:solidFill>
                  <a:schemeClr val="bg1"/>
                </a:solidFill>
                <a:latin typeface="Segoe UI"/>
              </a:rPr>
              <a:t>Slice by slice on two test patients: BraTS-GLI-02621-100 (left) and BraTS-GLI-02285-102 (right)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MedSAM2: three inputs, one corrected mask</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7</a:t>
            </a:r>
            <a:endParaRPr sz="1100" b="0" dirty="0">
              <a:solidFill>
                <a:schemeClr val="bg1"/>
              </a:solidFill>
              <a:latin typeface="Segoe UI"/>
            </a:endParaRPr>
          </a:p>
        </p:txBody>
      </p:sp>
      <p:pic>
        <p:nvPicPr>
          <p:cNvPr id="5" name="Picture 4" descr="io_yolo_input.png"/>
          <p:cNvPicPr>
            <a:picLocks noChangeAspect="1"/>
          </p:cNvPicPr>
          <p:nvPr/>
        </p:nvPicPr>
        <p:blipFill>
          <a:blip r:embed="rId3"/>
          <a:stretch>
            <a:fillRect/>
          </a:stretch>
        </p:blipFill>
        <p:spPr>
          <a:xfrm>
            <a:off x="548640" y="1371600"/>
            <a:ext cx="1143000" cy="1369087"/>
          </a:xfrm>
          <a:prstGeom prst="rect">
            <a:avLst/>
          </a:prstGeom>
          <a:ln w="9525">
            <a:solidFill>
              <a:srgbClr val="2A2F47"/>
            </a:solidFill>
          </a:ln>
        </p:spPr>
      </p:pic>
      <p:sp>
        <p:nvSpPr>
          <p:cNvPr id="6" name="TextBox 5"/>
          <p:cNvSpPr txBox="1"/>
          <p:nvPr/>
        </p:nvSpPr>
        <p:spPr>
          <a:xfrm>
            <a:off x="2377440" y="1691640"/>
            <a:ext cx="2194560" cy="320040"/>
          </a:xfrm>
          <a:prstGeom prst="rect">
            <a:avLst/>
          </a:prstGeom>
          <a:noFill/>
        </p:spPr>
        <p:txBody>
          <a:bodyPr wrap="square" lIns="45720" rIns="45720" anchor="t">
            <a:spAutoFit/>
          </a:bodyPr>
          <a:lstStyle/>
          <a:p>
            <a:pPr algn="l">
              <a:spcAft>
                <a:spcPts val="0"/>
              </a:spcAft>
            </a:pPr>
            <a:r>
              <a:rPr sz="1500" b="1">
                <a:solidFill>
                  <a:schemeClr val="bg1"/>
                </a:solidFill>
                <a:latin typeface="Segoe UI"/>
              </a:rPr>
              <a:t>1. The picture</a:t>
            </a:r>
          </a:p>
        </p:txBody>
      </p:sp>
      <p:sp>
        <p:nvSpPr>
          <p:cNvPr id="7" name="TextBox 6"/>
          <p:cNvSpPr txBox="1"/>
          <p:nvPr/>
        </p:nvSpPr>
        <p:spPr>
          <a:xfrm>
            <a:off x="2377440" y="2029968"/>
            <a:ext cx="2194560" cy="276999"/>
          </a:xfrm>
          <a:prstGeom prst="rect">
            <a:avLst/>
          </a:prstGeom>
          <a:noFill/>
        </p:spPr>
        <p:txBody>
          <a:bodyPr wrap="square" lIns="45720" rIns="45720" anchor="t">
            <a:spAutoFit/>
          </a:bodyPr>
          <a:lstStyle/>
          <a:p>
            <a:pPr algn="l">
              <a:spcAft>
                <a:spcPts val="0"/>
              </a:spcAft>
            </a:pPr>
            <a:r>
              <a:rPr sz="1200" b="0">
                <a:solidFill>
                  <a:schemeClr val="bg1"/>
                </a:solidFill>
                <a:latin typeface="Segoe UI"/>
              </a:rPr>
              <a:t>the same colour slice</a:t>
            </a:r>
          </a:p>
        </p:txBody>
      </p:sp>
      <p:pic>
        <p:nvPicPr>
          <p:cNvPr id="8" name="Picture 7" descr="io_ms_hint.png"/>
          <p:cNvPicPr>
            <a:picLocks noChangeAspect="1"/>
          </p:cNvPicPr>
          <p:nvPr/>
        </p:nvPicPr>
        <p:blipFill>
          <a:blip r:embed="rId4"/>
          <a:stretch>
            <a:fillRect/>
          </a:stretch>
        </p:blipFill>
        <p:spPr>
          <a:xfrm>
            <a:off x="548640" y="2834640"/>
            <a:ext cx="1143000" cy="1369087"/>
          </a:xfrm>
          <a:prstGeom prst="rect">
            <a:avLst/>
          </a:prstGeom>
          <a:ln w="9525">
            <a:solidFill>
              <a:srgbClr val="2A2F47"/>
            </a:solidFill>
          </a:ln>
        </p:spPr>
      </p:pic>
      <p:sp>
        <p:nvSpPr>
          <p:cNvPr id="9" name="TextBox 8"/>
          <p:cNvSpPr txBox="1"/>
          <p:nvPr/>
        </p:nvSpPr>
        <p:spPr>
          <a:xfrm>
            <a:off x="2377440" y="3154680"/>
            <a:ext cx="2194560" cy="320040"/>
          </a:xfrm>
          <a:prstGeom prst="rect">
            <a:avLst/>
          </a:prstGeom>
          <a:noFill/>
        </p:spPr>
        <p:txBody>
          <a:bodyPr wrap="square" lIns="45720" rIns="45720" anchor="t">
            <a:spAutoFit/>
          </a:bodyPr>
          <a:lstStyle/>
          <a:p>
            <a:pPr algn="l">
              <a:spcAft>
                <a:spcPts val="0"/>
              </a:spcAft>
            </a:pPr>
            <a:r>
              <a:rPr sz="1500" b="1">
                <a:solidFill>
                  <a:schemeClr val="bg1"/>
                </a:solidFill>
                <a:latin typeface="Segoe UI"/>
              </a:rPr>
              <a:t>2. YOLO's hint</a:t>
            </a:r>
          </a:p>
        </p:txBody>
      </p:sp>
      <p:sp>
        <p:nvSpPr>
          <p:cNvPr id="10" name="TextBox 9"/>
          <p:cNvSpPr txBox="1"/>
          <p:nvPr/>
        </p:nvSpPr>
        <p:spPr>
          <a:xfrm>
            <a:off x="2377440" y="3493008"/>
            <a:ext cx="2194560" cy="276999"/>
          </a:xfrm>
          <a:prstGeom prst="rect">
            <a:avLst/>
          </a:prstGeom>
          <a:noFill/>
        </p:spPr>
        <p:txBody>
          <a:bodyPr wrap="square" lIns="45720" rIns="45720" anchor="t">
            <a:spAutoFit/>
          </a:bodyPr>
          <a:lstStyle/>
          <a:p>
            <a:pPr algn="l">
              <a:spcAft>
                <a:spcPts val="0"/>
              </a:spcAft>
            </a:pPr>
            <a:r>
              <a:rPr sz="1200" b="0">
                <a:solidFill>
                  <a:schemeClr val="bg1"/>
                </a:solidFill>
                <a:latin typeface="Segoe UI"/>
              </a:rPr>
              <a:t>how sure YOLO is, per pixel</a:t>
            </a:r>
          </a:p>
        </p:txBody>
      </p:sp>
      <p:pic>
        <p:nvPicPr>
          <p:cNvPr id="11" name="Picture 10" descr="io_ms_mem0.png"/>
          <p:cNvPicPr>
            <a:picLocks noChangeAspect="1"/>
          </p:cNvPicPr>
          <p:nvPr/>
        </p:nvPicPr>
        <p:blipFill>
          <a:blip r:embed="rId5"/>
          <a:stretch>
            <a:fillRect/>
          </a:stretch>
        </p:blipFill>
        <p:spPr>
          <a:xfrm>
            <a:off x="548640" y="4663440"/>
            <a:ext cx="530352" cy="635256"/>
          </a:xfrm>
          <a:prstGeom prst="rect">
            <a:avLst/>
          </a:prstGeom>
          <a:ln w="9525">
            <a:solidFill>
              <a:srgbClr val="2A2F47"/>
            </a:solidFill>
          </a:ln>
        </p:spPr>
      </p:pic>
      <p:pic>
        <p:nvPicPr>
          <p:cNvPr id="12" name="Picture 11" descr="io_ms_mem1.png"/>
          <p:cNvPicPr>
            <a:picLocks noChangeAspect="1"/>
          </p:cNvPicPr>
          <p:nvPr/>
        </p:nvPicPr>
        <p:blipFill>
          <a:blip r:embed="rId6"/>
          <a:stretch>
            <a:fillRect/>
          </a:stretch>
        </p:blipFill>
        <p:spPr>
          <a:xfrm>
            <a:off x="1115568" y="4663440"/>
            <a:ext cx="530352" cy="635256"/>
          </a:xfrm>
          <a:prstGeom prst="rect">
            <a:avLst/>
          </a:prstGeom>
          <a:ln w="9525">
            <a:solidFill>
              <a:srgbClr val="2A2F47"/>
            </a:solidFill>
          </a:ln>
        </p:spPr>
      </p:pic>
      <p:pic>
        <p:nvPicPr>
          <p:cNvPr id="13" name="Picture 12" descr="io_ms_mem2.png"/>
          <p:cNvPicPr>
            <a:picLocks noChangeAspect="1"/>
          </p:cNvPicPr>
          <p:nvPr/>
        </p:nvPicPr>
        <p:blipFill>
          <a:blip r:embed="rId7"/>
          <a:stretch>
            <a:fillRect/>
          </a:stretch>
        </p:blipFill>
        <p:spPr>
          <a:xfrm>
            <a:off x="1682496" y="4663440"/>
            <a:ext cx="530352" cy="635256"/>
          </a:xfrm>
          <a:prstGeom prst="rect">
            <a:avLst/>
          </a:prstGeom>
          <a:ln w="9525">
            <a:solidFill>
              <a:srgbClr val="2A2F47"/>
            </a:solidFill>
          </a:ln>
        </p:spPr>
      </p:pic>
      <p:sp>
        <p:nvSpPr>
          <p:cNvPr id="14" name="TextBox 13"/>
          <p:cNvSpPr txBox="1"/>
          <p:nvPr/>
        </p:nvSpPr>
        <p:spPr>
          <a:xfrm>
            <a:off x="2377440" y="4617720"/>
            <a:ext cx="2194560" cy="320040"/>
          </a:xfrm>
          <a:prstGeom prst="rect">
            <a:avLst/>
          </a:prstGeom>
          <a:noFill/>
        </p:spPr>
        <p:txBody>
          <a:bodyPr wrap="square" lIns="45720" rIns="45720" anchor="t">
            <a:spAutoFit/>
          </a:bodyPr>
          <a:lstStyle/>
          <a:p>
            <a:pPr algn="l">
              <a:spcAft>
                <a:spcPts val="0"/>
              </a:spcAft>
            </a:pPr>
            <a:r>
              <a:rPr sz="1500" b="1">
                <a:solidFill>
                  <a:schemeClr val="bg1"/>
                </a:solidFill>
                <a:latin typeface="Segoe UI"/>
              </a:rPr>
              <a:t>3. Memory</a:t>
            </a:r>
          </a:p>
        </p:txBody>
      </p:sp>
      <p:sp>
        <p:nvSpPr>
          <p:cNvPr id="15" name="TextBox 14"/>
          <p:cNvSpPr txBox="1"/>
          <p:nvPr/>
        </p:nvSpPr>
        <p:spPr>
          <a:xfrm>
            <a:off x="2377440" y="4956048"/>
            <a:ext cx="2194560" cy="276999"/>
          </a:xfrm>
          <a:prstGeom prst="rect">
            <a:avLst/>
          </a:prstGeom>
          <a:noFill/>
        </p:spPr>
        <p:txBody>
          <a:bodyPr wrap="square" lIns="45720" rIns="45720" anchor="t">
            <a:spAutoFit/>
          </a:bodyPr>
          <a:lstStyle/>
          <a:p>
            <a:pPr algn="l">
              <a:spcAft>
                <a:spcPts val="0"/>
              </a:spcAft>
            </a:pPr>
            <a:r>
              <a:rPr sz="1200" b="0">
                <a:solidFill>
                  <a:schemeClr val="bg1"/>
                </a:solidFill>
                <a:latin typeface="Segoe UI"/>
              </a:rPr>
              <a:t>start slice + the last 6 slices</a:t>
            </a:r>
          </a:p>
        </p:txBody>
      </p:sp>
      <p:sp>
        <p:nvSpPr>
          <p:cNvPr id="16" name="Right Arrow 15"/>
          <p:cNvSpPr/>
          <p:nvPr/>
        </p:nvSpPr>
        <p:spPr>
          <a:xfrm>
            <a:off x="4663440" y="3282696"/>
            <a:ext cx="365760" cy="292608"/>
          </a:xfrm>
          <a:prstGeom prst="rightArrow">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Rounded Rectangle 16"/>
          <p:cNvSpPr/>
          <p:nvPr/>
        </p:nvSpPr>
        <p:spPr>
          <a:xfrm>
            <a:off x="5120640" y="2697480"/>
            <a:ext cx="1737360" cy="1463040"/>
          </a:xfrm>
          <a:prstGeom prst="roundRect">
            <a:avLst>
              <a:gd name="adj" fmla="val 12000"/>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 name="TextBox 17"/>
          <p:cNvSpPr txBox="1"/>
          <p:nvPr/>
        </p:nvSpPr>
        <p:spPr>
          <a:xfrm>
            <a:off x="5166360" y="2862072"/>
            <a:ext cx="1645920" cy="353943"/>
          </a:xfrm>
          <a:prstGeom prst="rect">
            <a:avLst/>
          </a:prstGeom>
          <a:noFill/>
        </p:spPr>
        <p:txBody>
          <a:bodyPr wrap="square" lIns="45720" rIns="45720" anchor="t">
            <a:spAutoFit/>
          </a:bodyPr>
          <a:lstStyle/>
          <a:p>
            <a:pPr algn="ctr">
              <a:spcAft>
                <a:spcPts val="600"/>
              </a:spcAft>
            </a:pPr>
            <a:r>
              <a:rPr sz="1700" b="1">
                <a:solidFill>
                  <a:schemeClr val="bg1"/>
                </a:solidFill>
                <a:latin typeface="Segoe UI"/>
              </a:rPr>
              <a:t>MedSAM2</a:t>
            </a:r>
          </a:p>
        </p:txBody>
      </p:sp>
      <p:sp>
        <p:nvSpPr>
          <p:cNvPr id="19" name="TextBox 18"/>
          <p:cNvSpPr txBox="1"/>
          <p:nvPr/>
        </p:nvSpPr>
        <p:spPr>
          <a:xfrm>
            <a:off x="5166360" y="3337560"/>
            <a:ext cx="1645920" cy="538609"/>
          </a:xfrm>
          <a:prstGeom prst="rect">
            <a:avLst/>
          </a:prstGeom>
          <a:noFill/>
        </p:spPr>
        <p:txBody>
          <a:bodyPr wrap="square" lIns="45720" rIns="45720" anchor="t">
            <a:spAutoFit/>
          </a:bodyPr>
          <a:lstStyle/>
          <a:p>
            <a:pPr algn="ctr">
              <a:spcAft>
                <a:spcPts val="600"/>
              </a:spcAft>
            </a:pPr>
            <a:r>
              <a:rPr sz="1200" b="0">
                <a:solidFill>
                  <a:schemeClr val="bg1"/>
                </a:solidFill>
                <a:latin typeface="Segoe UI"/>
              </a:rPr>
              <a:t>SAM2 trained on
medical scans</a:t>
            </a:r>
          </a:p>
        </p:txBody>
      </p:sp>
      <p:sp>
        <p:nvSpPr>
          <p:cNvPr id="20" name="Right Arrow 19"/>
          <p:cNvSpPr/>
          <p:nvPr/>
        </p:nvSpPr>
        <p:spPr>
          <a:xfrm>
            <a:off x="6949440" y="3282696"/>
            <a:ext cx="365760" cy="292608"/>
          </a:xfrm>
          <a:prstGeom prst="rightArrow">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pic>
        <p:nvPicPr>
          <p:cNvPr id="21" name="Picture 20" descr="io_ms_output.png"/>
          <p:cNvPicPr>
            <a:picLocks noChangeAspect="1"/>
          </p:cNvPicPr>
          <p:nvPr/>
        </p:nvPicPr>
        <p:blipFill>
          <a:blip r:embed="rId8"/>
          <a:stretch>
            <a:fillRect/>
          </a:stretch>
        </p:blipFill>
        <p:spPr>
          <a:xfrm>
            <a:off x="7406640" y="1371600"/>
            <a:ext cx="2103120" cy="2519121"/>
          </a:xfrm>
          <a:prstGeom prst="rect">
            <a:avLst/>
          </a:prstGeom>
          <a:ln w="9525">
            <a:solidFill>
              <a:srgbClr val="2A2F47"/>
            </a:solidFill>
          </a:ln>
        </p:spPr>
      </p:pic>
      <p:sp>
        <p:nvSpPr>
          <p:cNvPr id="22" name="TextBox 21"/>
          <p:cNvSpPr txBox="1"/>
          <p:nvPr/>
        </p:nvSpPr>
        <p:spPr>
          <a:xfrm>
            <a:off x="7406640" y="3936441"/>
            <a:ext cx="2103120" cy="276999"/>
          </a:xfrm>
          <a:prstGeom prst="rect">
            <a:avLst/>
          </a:prstGeom>
          <a:noFill/>
        </p:spPr>
        <p:txBody>
          <a:bodyPr wrap="square" lIns="45720" rIns="45720" anchor="t">
            <a:spAutoFit/>
          </a:bodyPr>
          <a:lstStyle/>
          <a:p>
            <a:pPr algn="ctr">
              <a:spcAft>
                <a:spcPts val="600"/>
              </a:spcAft>
            </a:pPr>
            <a:r>
              <a:rPr sz="1200" b="1">
                <a:solidFill>
                  <a:schemeClr val="bg1"/>
                </a:solidFill>
                <a:latin typeface="Segoe UI"/>
              </a:rPr>
              <a:t>Output:</a:t>
            </a:r>
            <a:r>
              <a:rPr sz="1200" b="0">
                <a:solidFill>
                  <a:schemeClr val="bg1"/>
                </a:solidFill>
                <a:latin typeface="Segoe UI"/>
              </a:rPr>
              <a:t> the corrected mask</a:t>
            </a:r>
          </a:p>
        </p:txBody>
      </p:sp>
      <p:sp>
        <p:nvSpPr>
          <p:cNvPr id="23" name="Rounded Rectangle 22"/>
          <p:cNvSpPr/>
          <p:nvPr/>
        </p:nvSpPr>
        <p:spPr>
          <a:xfrm>
            <a:off x="9692640" y="1371600"/>
            <a:ext cx="1920240" cy="2560320"/>
          </a:xfrm>
          <a:prstGeom prst="roundRect">
            <a:avLst>
              <a:gd name="adj" fmla="val 8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6" name="TextBox 25"/>
          <p:cNvSpPr txBox="1"/>
          <p:nvPr/>
        </p:nvSpPr>
        <p:spPr>
          <a:xfrm>
            <a:off x="9738360" y="2128099"/>
            <a:ext cx="1828800" cy="502920"/>
          </a:xfrm>
          <a:prstGeom prst="rect">
            <a:avLst/>
          </a:prstGeom>
          <a:noFill/>
        </p:spPr>
        <p:txBody>
          <a:bodyPr wrap="square" lIns="45720" rIns="45720" anchor="t">
            <a:spAutoFit/>
          </a:bodyPr>
          <a:lstStyle/>
          <a:p>
            <a:pPr algn="ctr">
              <a:spcAft>
                <a:spcPts val="0"/>
              </a:spcAft>
            </a:pPr>
            <a:r>
              <a:rPr sz="2600" b="1">
                <a:solidFill>
                  <a:schemeClr val="bg1"/>
                </a:solidFill>
                <a:latin typeface="Segoe UI"/>
              </a:rPr>
              <a:t>0.882</a:t>
            </a:r>
          </a:p>
        </p:txBody>
      </p:sp>
      <p:sp>
        <p:nvSpPr>
          <p:cNvPr id="27" name="TextBox 26"/>
          <p:cNvSpPr txBox="1"/>
          <p:nvPr/>
        </p:nvSpPr>
        <p:spPr>
          <a:xfrm>
            <a:off x="9738360" y="2631019"/>
            <a:ext cx="1828800" cy="461665"/>
          </a:xfrm>
          <a:prstGeom prst="rect">
            <a:avLst/>
          </a:prstGeom>
          <a:noFill/>
        </p:spPr>
        <p:txBody>
          <a:bodyPr wrap="square" lIns="45720" rIns="45720" anchor="t">
            <a:spAutoFit/>
          </a:bodyPr>
          <a:lstStyle/>
          <a:p>
            <a:pPr algn="ctr">
              <a:spcAft>
                <a:spcPts val="0"/>
              </a:spcAft>
            </a:pPr>
            <a:r>
              <a:rPr sz="1200" b="0">
                <a:solidFill>
                  <a:schemeClr val="bg1"/>
                </a:solidFill>
                <a:latin typeface="Segoe UI"/>
              </a:rPr>
              <a:t>Dice on this slice
(YOLO alone 0.852)</a:t>
            </a:r>
          </a:p>
        </p:txBody>
      </p:sp>
      <p:sp>
        <p:nvSpPr>
          <p:cNvPr id="28" name="TextBox 27"/>
          <p:cNvSpPr txBox="1"/>
          <p:nvPr/>
        </p:nvSpPr>
        <p:spPr>
          <a:xfrm>
            <a:off x="7406640" y="4434840"/>
            <a:ext cx="4206240" cy="1031051"/>
          </a:xfrm>
          <a:prstGeom prst="rect">
            <a:avLst/>
          </a:prstGeom>
          <a:noFill/>
        </p:spPr>
        <p:txBody>
          <a:bodyPr wrap="square" lIns="45720" rIns="45720" anchor="t">
            <a:spAutoFit/>
          </a:bodyPr>
          <a:lstStyle/>
          <a:p>
            <a:pPr algn="l">
              <a:spcAft>
                <a:spcPts val="600"/>
              </a:spcAft>
            </a:pPr>
            <a:r>
              <a:rPr sz="1400" b="0" dirty="0">
                <a:solidFill>
                  <a:schemeClr val="bg1"/>
                </a:solidFill>
                <a:latin typeface="Segoe UI"/>
              </a:rPr>
              <a:t>•  Goes </a:t>
            </a:r>
            <a:r>
              <a:rPr sz="1400" b="1" dirty="0">
                <a:solidFill>
                  <a:schemeClr val="bg1"/>
                </a:solidFill>
                <a:latin typeface="Segoe UI"/>
              </a:rPr>
              <a:t>up, then down</a:t>
            </a:r>
            <a:r>
              <a:rPr sz="1400" b="0" dirty="0">
                <a:solidFill>
                  <a:schemeClr val="bg1"/>
                </a:solidFill>
                <a:latin typeface="Segoe UI"/>
              </a:rPr>
              <a:t> from the start slice; each answer joins the memory.</a:t>
            </a:r>
          </a:p>
          <a:p>
            <a:pPr algn="l">
              <a:spcAft>
                <a:spcPts val="600"/>
              </a:spcAft>
            </a:pPr>
            <a:r>
              <a:rPr sz="1400" b="0" dirty="0">
                <a:solidFill>
                  <a:schemeClr val="bg1"/>
                </a:solidFill>
                <a:latin typeface="Segoe UI"/>
              </a:rPr>
              <a:t>•  39 M weights: image encoder 70%, memory 19%, mask decoder 11%.</a:t>
            </a:r>
          </a:p>
        </p:txBody>
      </p:sp>
      <p:sp>
        <p:nvSpPr>
          <p:cNvPr id="29" name="Rounded Rectangle 28"/>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0" name="TextBox 29"/>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a:t>
            </a:r>
            <a:r>
              <a:rPr sz="1600" b="0">
                <a:solidFill>
                  <a:schemeClr val="bg1"/>
                </a:solidFill>
                <a:latin typeface="Segoe UI"/>
              </a:rPr>
              <a:t> MedSAM2 combines the picture, YOLO's hint and its memory into a corrected mask per slice.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320040"/>
          </a:xfrm>
          <a:prstGeom prst="rect">
            <a:avLst/>
          </a:prstGeom>
          <a:noFill/>
        </p:spPr>
        <p:txBody>
          <a:bodyPr wrap="square" lIns="45720" rIns="45720" anchor="t">
            <a:spAutoFit/>
          </a:bodyPr>
          <a:lstStyle/>
          <a:p>
            <a:pPr algn="l">
              <a:spcAft>
                <a:spcPts val="600"/>
              </a:spcAft>
            </a:pPr>
            <a:r>
              <a:rPr sz="1200" b="0">
                <a:solidFill>
                  <a:srgbClr val="E06A2E"/>
                </a:solidFill>
                <a:latin typeface="Segoe UI"/>
              </a:rPr>
              <a:t>DATA</a:t>
            </a:r>
          </a:p>
        </p:txBody>
      </p:sp>
      <p:sp>
        <p:nvSpPr>
          <p:cNvPr id="3" name="TextBox 2"/>
          <p:cNvSpPr txBox="1"/>
          <p:nvPr/>
        </p:nvSpPr>
        <p:spPr>
          <a:xfrm>
            <a:off x="548640" y="475488"/>
            <a:ext cx="11064240" cy="731520"/>
          </a:xfrm>
          <a:prstGeom prst="rect">
            <a:avLst/>
          </a:prstGeom>
          <a:noFill/>
        </p:spPr>
        <p:txBody>
          <a:bodyPr wrap="square" lIns="45720" rIns="45720" anchor="t">
            <a:spAutoFit/>
          </a:bodyPr>
          <a:lstStyle/>
          <a:p>
            <a:pPr algn="l">
              <a:spcAft>
                <a:spcPts val="0"/>
              </a:spcAft>
            </a:pPr>
            <a:r>
              <a:rPr sz="3200" b="0">
                <a:solidFill>
                  <a:srgbClr val="E8EAF2"/>
                </a:solidFill>
                <a:latin typeface="Segoe UI"/>
              </a:rPr>
              <a:t>Data: 1,621 scans from 731 people, split by person</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8</a:t>
            </a:r>
            <a:endParaRPr sz="1100" b="0" dirty="0">
              <a:solidFill>
                <a:schemeClr val="bg1"/>
              </a:solidFill>
              <a:latin typeface="Segoe UI"/>
            </a:endParaRPr>
          </a:p>
        </p:txBody>
      </p:sp>
      <p:pic>
        <p:nvPicPr>
          <p:cNvPr id="5" name="Picture 4" descr="an_manifest.png"/>
          <p:cNvPicPr>
            <a:picLocks noChangeAspect="1"/>
          </p:cNvPicPr>
          <p:nvPr/>
        </p:nvPicPr>
        <p:blipFill>
          <a:blip r:embed="rId3"/>
          <a:stretch>
            <a:fillRect/>
          </a:stretch>
        </p:blipFill>
        <p:spPr>
          <a:xfrm>
            <a:off x="858826" y="1417320"/>
            <a:ext cx="4500268" cy="4206240"/>
          </a:xfrm>
          <a:prstGeom prst="rect">
            <a:avLst/>
          </a:prstGeom>
          <a:ln w="9525">
            <a:solidFill>
              <a:srgbClr val="2A2F47"/>
            </a:solidFill>
          </a:ln>
        </p:spPr>
      </p:pic>
      <p:sp>
        <p:nvSpPr>
          <p:cNvPr id="6" name="TextBox 5"/>
          <p:cNvSpPr txBox="1"/>
          <p:nvPr/>
        </p:nvSpPr>
        <p:spPr>
          <a:xfrm>
            <a:off x="5943600" y="1463040"/>
            <a:ext cx="5669280" cy="4206240"/>
          </a:xfrm>
          <a:prstGeom prst="rect">
            <a:avLst/>
          </a:prstGeom>
          <a:noFill/>
        </p:spPr>
        <p:txBody>
          <a:bodyPr wrap="square" lIns="45720" rIns="45720" anchor="t">
            <a:spAutoFit/>
          </a:bodyPr>
          <a:lstStyle/>
          <a:p>
            <a:pPr algn="l">
              <a:spcAft>
                <a:spcPts val="1000"/>
              </a:spcAft>
            </a:pPr>
            <a:r>
              <a:rPr sz="1600" b="0">
                <a:solidFill>
                  <a:srgbClr val="E8EAF2"/>
                </a:solidFill>
                <a:latin typeface="Segoe UI"/>
              </a:rPr>
              <a:t>•  Five pools: YOLO train 471 · YOLO val 81 · MedSAM2 train 500 · MedSAM2 val 245 · </a:t>
            </a:r>
            <a:r>
              <a:rPr sz="1600" b="1">
                <a:solidFill>
                  <a:srgbClr val="E8EAF2"/>
                </a:solidFill>
                <a:latin typeface="Segoe UI"/>
              </a:rPr>
              <a:t>test 324</a:t>
            </a:r>
            <a:r>
              <a:rPr sz="1600" b="0">
                <a:solidFill>
                  <a:srgbClr val="E8EAF2"/>
                </a:solidFill>
                <a:latin typeface="Segoe UI"/>
              </a:rPr>
              <a:t> scans.</a:t>
            </a:r>
          </a:p>
          <a:p>
            <a:pPr algn="l">
              <a:spcAft>
                <a:spcPts val="1000"/>
              </a:spcAft>
            </a:pPr>
            <a:r>
              <a:rPr sz="1600" b="0">
                <a:solidFill>
                  <a:srgbClr val="E8EAF2"/>
                </a:solidFill>
                <a:latin typeface="Segoe UI"/>
              </a:rPr>
              <a:t>•  </a:t>
            </a:r>
            <a:r>
              <a:rPr sz="1600" b="1">
                <a:solidFill>
                  <a:srgbClr val="E8EAF2"/>
                </a:solidFill>
                <a:latin typeface="Segoe UI"/>
              </a:rPr>
              <a:t>No person is in both a YOLO pool and a MedSAM2 pool</a:t>
            </a:r>
            <a:r>
              <a:rPr sz="1600" b="0">
                <a:solidFill>
                  <a:srgbClr val="E8EAF2"/>
                </a:solidFill>
                <a:latin typeface="Segoe UI"/>
              </a:rPr>
              <a:t>, so MedSAM2 trains on hints YOLO made for people it never saw, like real use.</a:t>
            </a:r>
          </a:p>
          <a:p>
            <a:pPr algn="l">
              <a:spcAft>
                <a:spcPts val="1000"/>
              </a:spcAft>
            </a:pPr>
            <a:r>
              <a:rPr sz="1600" b="0">
                <a:solidFill>
                  <a:srgbClr val="E8EAF2"/>
                </a:solidFill>
                <a:latin typeface="Segoe UI"/>
              </a:rPr>
              <a:t>•  Pool sizes set by learning curves: MedSAM2 barely improved past 500 patients (250 → 500 → 721: 0.884 → 0.886 → 0.886), while YOLO still gained from more data.</a:t>
            </a:r>
          </a:p>
          <a:p>
            <a:pPr algn="l">
              <a:spcAft>
                <a:spcPts val="1000"/>
              </a:spcAft>
            </a:pPr>
            <a:r>
              <a:rPr sz="1600" b="0">
                <a:solidFill>
                  <a:srgbClr val="E8EAF2"/>
                </a:solidFill>
                <a:latin typeface="Segoe UI"/>
              </a:rPr>
              <a:t>•  Caveat: test shares some people (other scans) with training pools, from the original split; kept so all test scores stay comparable.</a:t>
            </a:r>
          </a:p>
        </p:txBody>
      </p:sp>
      <p:sp>
        <p:nvSpPr>
          <p:cNvPr id="7" name="Rounded Rectangle 6"/>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5806440"/>
            <a:ext cx="10744200" cy="566928"/>
          </a:xfrm>
          <a:prstGeom prst="rect">
            <a:avLst/>
          </a:prstGeom>
          <a:noFill/>
        </p:spPr>
        <p:txBody>
          <a:bodyPr wrap="square" lIns="45720" rIns="45720" anchor="ctr">
            <a:spAutoFit/>
          </a:bodyPr>
          <a:lstStyle/>
          <a:p>
            <a:pPr algn="l">
              <a:spcAft>
                <a:spcPts val="0"/>
              </a:spcAft>
            </a:pPr>
            <a:r>
              <a:rPr sz="1600" b="1">
                <a:solidFill>
                  <a:srgbClr val="E8EAF2"/>
                </a:solidFill>
                <a:latin typeface="Segoe UI"/>
              </a:rPr>
              <a:t>Key takeaway:</a:t>
            </a:r>
            <a:r>
              <a:rPr sz="1600" b="0">
                <a:solidFill>
                  <a:srgbClr val="E8EAF2"/>
                </a:solidFill>
                <a:latin typeface="Segoe UI"/>
              </a:rPr>
              <a:t> Keeping the two models' people apart makes MedSAM2's training hints realistic.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METHOD · PATIENT BRATS-GLI-00046-101, SLICE 120</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a:solidFill>
                  <a:schemeClr val="bg1"/>
                </a:solidFill>
                <a:latin typeface="Segoe UI"/>
              </a:rPr>
              <a:t>YOLO's hint vs YOLO's own mask</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9</a:t>
            </a:r>
            <a:endParaRPr sz="1100" b="0" dirty="0">
              <a:solidFill>
                <a:schemeClr val="bg1"/>
              </a:solidFill>
              <a:latin typeface="Segoe UI"/>
            </a:endParaRPr>
          </a:p>
        </p:txBody>
      </p:sp>
      <p:sp>
        <p:nvSpPr>
          <p:cNvPr id="5" name="TextBox 4"/>
          <p:cNvSpPr txBox="1"/>
          <p:nvPr/>
        </p:nvSpPr>
        <p:spPr>
          <a:xfrm>
            <a:off x="548640" y="1280160"/>
            <a:ext cx="2286000" cy="320040"/>
          </a:xfrm>
          <a:prstGeom prst="rect">
            <a:avLst/>
          </a:prstGeom>
          <a:noFill/>
        </p:spPr>
        <p:txBody>
          <a:bodyPr wrap="square" lIns="45720" rIns="45720" anchor="t">
            <a:spAutoFit/>
          </a:bodyPr>
          <a:lstStyle/>
          <a:p>
            <a:pPr algn="ctr">
              <a:spcAft>
                <a:spcPts val="0"/>
              </a:spcAft>
            </a:pPr>
            <a:r>
              <a:rPr sz="1400" b="1" dirty="0">
                <a:solidFill>
                  <a:schemeClr val="bg1"/>
                </a:solidFill>
                <a:latin typeface="Segoe UI"/>
              </a:rPr>
              <a:t>1 · YOLO hint</a:t>
            </a:r>
          </a:p>
        </p:txBody>
      </p:sp>
      <p:pic>
        <p:nvPicPr>
          <p:cNvPr id="6" name="Picture 5" descr="hvm_hint.png"/>
          <p:cNvPicPr>
            <a:picLocks noChangeAspect="1"/>
          </p:cNvPicPr>
          <p:nvPr/>
        </p:nvPicPr>
        <p:blipFill>
          <a:blip r:embed="rId3"/>
          <a:stretch>
            <a:fillRect/>
          </a:stretch>
        </p:blipFill>
        <p:spPr>
          <a:xfrm>
            <a:off x="548640" y="1627632"/>
            <a:ext cx="2207526" cy="2788920"/>
          </a:xfrm>
          <a:prstGeom prst="rect">
            <a:avLst/>
          </a:prstGeom>
          <a:ln w="9525">
            <a:solidFill>
              <a:srgbClr val="2A2F47"/>
            </a:solidFill>
          </a:ln>
        </p:spPr>
      </p:pic>
      <p:sp>
        <p:nvSpPr>
          <p:cNvPr id="7" name="TextBox 6"/>
          <p:cNvSpPr txBox="1"/>
          <p:nvPr/>
        </p:nvSpPr>
        <p:spPr>
          <a:xfrm>
            <a:off x="548640" y="4453128"/>
            <a:ext cx="2286000"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7 shapes: 0.90 is kept by both; 0.06–0.23 only in the hint</a:t>
            </a:r>
          </a:p>
        </p:txBody>
      </p:sp>
      <p:sp>
        <p:nvSpPr>
          <p:cNvPr id="8" name="TextBox 7"/>
          <p:cNvSpPr txBox="1"/>
          <p:nvPr/>
        </p:nvSpPr>
        <p:spPr>
          <a:xfrm>
            <a:off x="2944368" y="1280160"/>
            <a:ext cx="2286000" cy="320040"/>
          </a:xfrm>
          <a:prstGeom prst="rect">
            <a:avLst/>
          </a:prstGeom>
          <a:noFill/>
        </p:spPr>
        <p:txBody>
          <a:bodyPr wrap="square" lIns="45720" rIns="45720" anchor="t">
            <a:spAutoFit/>
          </a:bodyPr>
          <a:lstStyle/>
          <a:p>
            <a:pPr algn="ctr">
              <a:spcAft>
                <a:spcPts val="0"/>
              </a:spcAft>
            </a:pPr>
            <a:r>
              <a:rPr sz="1400" b="1">
                <a:solidFill>
                  <a:schemeClr val="bg1"/>
                </a:solidFill>
                <a:latin typeface="Segoe UI"/>
              </a:rPr>
              <a:t>2 · YOLO's own mask</a:t>
            </a:r>
          </a:p>
        </p:txBody>
      </p:sp>
      <p:pic>
        <p:nvPicPr>
          <p:cNvPr id="9" name="Picture 8" descr="hvm_own.png"/>
          <p:cNvPicPr>
            <a:picLocks noChangeAspect="1"/>
          </p:cNvPicPr>
          <p:nvPr/>
        </p:nvPicPr>
        <p:blipFill>
          <a:blip r:embed="rId4"/>
          <a:stretch>
            <a:fillRect/>
          </a:stretch>
        </p:blipFill>
        <p:spPr>
          <a:xfrm>
            <a:off x="2944368" y="1627632"/>
            <a:ext cx="2207526" cy="2788920"/>
          </a:xfrm>
          <a:prstGeom prst="rect">
            <a:avLst/>
          </a:prstGeom>
          <a:ln w="9525">
            <a:solidFill>
              <a:srgbClr val="2A2F47"/>
            </a:solidFill>
          </a:ln>
        </p:spPr>
      </p:pic>
      <p:sp>
        <p:nvSpPr>
          <p:cNvPr id="10" name="TextBox 9"/>
          <p:cNvSpPr txBox="1"/>
          <p:nvPr/>
        </p:nvSpPr>
        <p:spPr>
          <a:xfrm>
            <a:off x="2944368" y="4453128"/>
            <a:ext cx="2286000" cy="261610"/>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blue = mask, green line = expert</a:t>
            </a:r>
          </a:p>
        </p:txBody>
      </p:sp>
      <p:sp>
        <p:nvSpPr>
          <p:cNvPr id="11" name="TextBox 10"/>
          <p:cNvSpPr txBox="1"/>
          <p:nvPr/>
        </p:nvSpPr>
        <p:spPr>
          <a:xfrm>
            <a:off x="5340096" y="1280160"/>
            <a:ext cx="2286000" cy="320040"/>
          </a:xfrm>
          <a:prstGeom prst="rect">
            <a:avLst/>
          </a:prstGeom>
          <a:noFill/>
        </p:spPr>
        <p:txBody>
          <a:bodyPr wrap="square" lIns="45720" rIns="45720" anchor="t">
            <a:spAutoFit/>
          </a:bodyPr>
          <a:lstStyle/>
          <a:p>
            <a:pPr algn="ctr">
              <a:spcAft>
                <a:spcPts val="0"/>
              </a:spcAft>
            </a:pPr>
            <a:r>
              <a:rPr sz="1400" b="1" dirty="0">
                <a:solidFill>
                  <a:schemeClr val="bg1"/>
                </a:solidFill>
                <a:latin typeface="Segoe UI"/>
              </a:rPr>
              <a:t>3 · Only in the hint</a:t>
            </a:r>
          </a:p>
        </p:txBody>
      </p:sp>
      <p:pic>
        <p:nvPicPr>
          <p:cNvPr id="12" name="Picture 11" descr="hvm_extra.png"/>
          <p:cNvPicPr>
            <a:picLocks noChangeAspect="1"/>
          </p:cNvPicPr>
          <p:nvPr/>
        </p:nvPicPr>
        <p:blipFill>
          <a:blip r:embed="rId5"/>
          <a:stretch>
            <a:fillRect/>
          </a:stretch>
        </p:blipFill>
        <p:spPr>
          <a:xfrm>
            <a:off x="5340096" y="1627632"/>
            <a:ext cx="2207526" cy="2788920"/>
          </a:xfrm>
          <a:prstGeom prst="rect">
            <a:avLst/>
          </a:prstGeom>
          <a:ln w="9525">
            <a:solidFill>
              <a:srgbClr val="2A2F47"/>
            </a:solidFill>
          </a:ln>
        </p:spPr>
      </p:pic>
      <p:sp>
        <p:nvSpPr>
          <p:cNvPr id="13" name="TextBox 12"/>
          <p:cNvSpPr txBox="1"/>
          <p:nvPr/>
        </p:nvSpPr>
        <p:spPr>
          <a:xfrm>
            <a:off x="5340096" y="4453128"/>
            <a:ext cx="2286000" cy="430887"/>
          </a:xfrm>
          <a:prstGeom prst="rect">
            <a:avLst/>
          </a:prstGeom>
          <a:noFill/>
        </p:spPr>
        <p:txBody>
          <a:bodyPr wrap="square" lIns="45720" rIns="45720" anchor="t">
            <a:spAutoFit/>
          </a:bodyPr>
          <a:lstStyle/>
          <a:p>
            <a:pPr algn="ctr">
              <a:spcAft>
                <a:spcPts val="0"/>
              </a:spcAft>
            </a:pPr>
            <a:r>
              <a:rPr sz="1100" b="0">
                <a:solidFill>
                  <a:schemeClr val="bg1"/>
                </a:solidFill>
                <a:latin typeface="Segoe UI"/>
              </a:rPr>
              <a:t>orange: weak shapes + the faint edge of the strong one</a:t>
            </a:r>
          </a:p>
        </p:txBody>
      </p:sp>
      <p:sp>
        <p:nvSpPr>
          <p:cNvPr id="14" name="Rounded Rectangle 13"/>
          <p:cNvSpPr/>
          <p:nvPr/>
        </p:nvSpPr>
        <p:spPr>
          <a:xfrm>
            <a:off x="7909560" y="1280160"/>
            <a:ext cx="3703320" cy="1737360"/>
          </a:xfrm>
          <a:prstGeom prst="roundRect">
            <a:avLst>
              <a:gd name="adj" fmla="val 7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5" name="TextBox 14"/>
          <p:cNvSpPr txBox="1"/>
          <p:nvPr/>
        </p:nvSpPr>
        <p:spPr>
          <a:xfrm>
            <a:off x="8092440" y="1389888"/>
            <a:ext cx="3383280" cy="365760"/>
          </a:xfrm>
          <a:prstGeom prst="rect">
            <a:avLst/>
          </a:prstGeom>
          <a:noFill/>
        </p:spPr>
        <p:txBody>
          <a:bodyPr wrap="square" lIns="45720" rIns="45720" anchor="t">
            <a:spAutoFit/>
          </a:bodyPr>
          <a:lstStyle/>
          <a:p>
            <a:pPr algn="l">
              <a:spcAft>
                <a:spcPts val="0"/>
              </a:spcAft>
            </a:pPr>
            <a:r>
              <a:rPr sz="1500" b="1">
                <a:solidFill>
                  <a:srgbClr val="E06A2E"/>
                </a:solidFill>
                <a:latin typeface="Segoe UI"/>
              </a:rPr>
              <a:t>YOLO hint  ·  shapes ≥ 0.05</a:t>
            </a:r>
          </a:p>
        </p:txBody>
      </p:sp>
      <p:sp>
        <p:nvSpPr>
          <p:cNvPr id="16" name="TextBox 15"/>
          <p:cNvSpPr txBox="1"/>
          <p:nvPr/>
        </p:nvSpPr>
        <p:spPr>
          <a:xfrm>
            <a:off x="8092440" y="1783080"/>
            <a:ext cx="3383280" cy="956672"/>
          </a:xfrm>
          <a:prstGeom prst="rect">
            <a:avLst/>
          </a:prstGeom>
          <a:noFill/>
        </p:spPr>
        <p:txBody>
          <a:bodyPr wrap="square" lIns="45720" rIns="45720" anchor="t">
            <a:spAutoFit/>
          </a:bodyPr>
          <a:lstStyle/>
          <a:p>
            <a:pPr algn="l">
              <a:spcAft>
                <a:spcPts val="500"/>
              </a:spcAft>
            </a:pPr>
            <a:r>
              <a:rPr sz="1300" b="0">
                <a:solidFill>
                  <a:schemeClr val="bg1"/>
                </a:solidFill>
                <a:latin typeface="Segoe UI"/>
              </a:rPr>
              <a:t>•  A </a:t>
            </a:r>
            <a:r>
              <a:rPr sz="1300" b="1">
                <a:solidFill>
                  <a:schemeClr val="bg1"/>
                </a:solidFill>
                <a:latin typeface="Segoe UI"/>
              </a:rPr>
              <a:t>probability per pixel</a:t>
            </a:r>
            <a:r>
              <a:rPr sz="1300" b="0">
                <a:solidFill>
                  <a:schemeClr val="bg1"/>
                </a:solidFill>
                <a:latin typeface="Segoe UI"/>
              </a:rPr>
              <a:t>, 0 to 1: how sure YOLO is that the pixel is tumour.</a:t>
            </a:r>
          </a:p>
          <a:p>
            <a:pPr algn="l">
              <a:spcAft>
                <a:spcPts val="500"/>
              </a:spcAft>
            </a:pPr>
            <a:r>
              <a:rPr sz="1300" b="0">
                <a:solidFill>
                  <a:schemeClr val="bg1"/>
                </a:solidFill>
                <a:latin typeface="Segoe UI"/>
              </a:rPr>
              <a:t>•  Gives MedSAM2 </a:t>
            </a:r>
            <a:r>
              <a:rPr sz="1300" b="1">
                <a:solidFill>
                  <a:schemeClr val="bg1"/>
                </a:solidFill>
                <a:latin typeface="Segoe UI"/>
              </a:rPr>
              <a:t>more information</a:t>
            </a:r>
            <a:r>
              <a:rPr sz="1300" b="0">
                <a:solidFill>
                  <a:schemeClr val="bg1"/>
                </a:solidFill>
                <a:latin typeface="Segoe UI"/>
              </a:rPr>
              <a:t>, including YOLO's weaker guesses.</a:t>
            </a:r>
          </a:p>
        </p:txBody>
      </p:sp>
      <p:sp>
        <p:nvSpPr>
          <p:cNvPr id="17" name="Rounded Rectangle 16"/>
          <p:cNvSpPr/>
          <p:nvPr/>
        </p:nvSpPr>
        <p:spPr>
          <a:xfrm>
            <a:off x="7909560" y="3154679"/>
            <a:ext cx="3703320" cy="1737360"/>
          </a:xfrm>
          <a:prstGeom prst="roundRect">
            <a:avLst>
              <a:gd name="adj" fmla="val 7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8" name="TextBox 17"/>
          <p:cNvSpPr txBox="1"/>
          <p:nvPr/>
        </p:nvSpPr>
        <p:spPr>
          <a:xfrm>
            <a:off x="8092440" y="3264407"/>
            <a:ext cx="3383280" cy="365760"/>
          </a:xfrm>
          <a:prstGeom prst="rect">
            <a:avLst/>
          </a:prstGeom>
          <a:noFill/>
        </p:spPr>
        <p:txBody>
          <a:bodyPr wrap="square" lIns="45720" rIns="45720" anchor="t">
            <a:spAutoFit/>
          </a:bodyPr>
          <a:lstStyle/>
          <a:p>
            <a:pPr algn="l">
              <a:spcAft>
                <a:spcPts val="0"/>
              </a:spcAft>
            </a:pPr>
            <a:r>
              <a:rPr sz="1500" b="1">
                <a:solidFill>
                  <a:srgbClr val="3987E5"/>
                </a:solidFill>
                <a:latin typeface="Segoe UI"/>
              </a:rPr>
              <a:t>YOLO's own mask  ·  shapes ≥ 0.25</a:t>
            </a:r>
          </a:p>
        </p:txBody>
      </p:sp>
      <p:sp>
        <p:nvSpPr>
          <p:cNvPr id="19" name="TextBox 18"/>
          <p:cNvSpPr txBox="1"/>
          <p:nvPr/>
        </p:nvSpPr>
        <p:spPr>
          <a:xfrm>
            <a:off x="8092440" y="3657599"/>
            <a:ext cx="3383280" cy="956672"/>
          </a:xfrm>
          <a:prstGeom prst="rect">
            <a:avLst/>
          </a:prstGeom>
          <a:noFill/>
        </p:spPr>
        <p:txBody>
          <a:bodyPr wrap="square" lIns="45720" rIns="45720" anchor="t">
            <a:spAutoFit/>
          </a:bodyPr>
          <a:lstStyle/>
          <a:p>
            <a:pPr algn="l">
              <a:spcAft>
                <a:spcPts val="500"/>
              </a:spcAft>
            </a:pPr>
            <a:r>
              <a:rPr sz="1300" b="0">
                <a:solidFill>
                  <a:schemeClr val="bg1"/>
                </a:solidFill>
                <a:latin typeface="Segoe UI"/>
              </a:rPr>
              <a:t>•  A </a:t>
            </a:r>
            <a:r>
              <a:rPr sz="1300" b="1">
                <a:solidFill>
                  <a:schemeClr val="bg1"/>
                </a:solidFill>
                <a:latin typeface="Segoe UI"/>
              </a:rPr>
              <a:t>yes/no answer per pixel</a:t>
            </a:r>
            <a:r>
              <a:rPr sz="1300" b="0">
                <a:solidFill>
                  <a:schemeClr val="bg1"/>
                </a:solidFill>
                <a:latin typeface="Segoe UI"/>
              </a:rPr>
              <a:t>: tumour when its probability is above 0.5.</a:t>
            </a:r>
          </a:p>
          <a:p>
            <a:pPr algn="l">
              <a:spcAft>
                <a:spcPts val="500"/>
              </a:spcAft>
            </a:pPr>
            <a:r>
              <a:rPr sz="1300" b="0">
                <a:solidFill>
                  <a:schemeClr val="bg1"/>
                </a:solidFill>
                <a:latin typeface="Segoe UI"/>
              </a:rPr>
              <a:t>•  YOLO's final answer, </a:t>
            </a:r>
            <a:r>
              <a:rPr sz="1300" b="1">
                <a:solidFill>
                  <a:schemeClr val="bg1"/>
                </a:solidFill>
                <a:latin typeface="Segoe UI"/>
              </a:rPr>
              <a:t>used only to compare</a:t>
            </a:r>
            <a:r>
              <a:rPr sz="1300" b="0">
                <a:solidFill>
                  <a:schemeClr val="bg1"/>
                </a:solidFill>
                <a:latin typeface="Segoe UI"/>
              </a:rPr>
              <a:t> against MedSAM2.</a:t>
            </a:r>
          </a:p>
        </p:txBody>
      </p:sp>
      <p:sp>
        <p:nvSpPr>
          <p:cNvPr id="20" name="TextBox 19"/>
          <p:cNvSpPr txBox="1"/>
          <p:nvPr/>
        </p:nvSpPr>
        <p:spPr>
          <a:xfrm>
            <a:off x="548640" y="4983480"/>
            <a:ext cx="11064240" cy="561692"/>
          </a:xfrm>
          <a:prstGeom prst="rect">
            <a:avLst/>
          </a:prstGeom>
          <a:noFill/>
        </p:spPr>
        <p:txBody>
          <a:bodyPr wrap="square" lIns="45720" rIns="45720" anchor="t">
            <a:spAutoFit/>
          </a:bodyPr>
          <a:lstStyle/>
          <a:p>
            <a:pPr algn="l">
              <a:spcAft>
                <a:spcPts val="300"/>
              </a:spcAft>
            </a:pPr>
            <a:r>
              <a:rPr sz="1400" b="0">
                <a:solidFill>
                  <a:schemeClr val="bg1"/>
                </a:solidFill>
                <a:latin typeface="Segoe UI"/>
              </a:rPr>
              <a:t>•  On this slice: hint 3,800 px · own mask 2,638 px · expert 2,570 px.</a:t>
            </a:r>
          </a:p>
          <a:p>
            <a:pPr algn="l">
              <a:spcAft>
                <a:spcPts val="300"/>
              </a:spcAft>
            </a:pPr>
            <a:r>
              <a:rPr sz="1400" b="0">
                <a:solidFill>
                  <a:schemeClr val="bg1"/>
                </a:solidFill>
                <a:latin typeface="Segoe UI"/>
              </a:rPr>
              <a:t>•  Of the 1,162 pixels only in the hint, just 99 are real tumour: MedSAM2 has to learn which extra guesses to trust.</a:t>
            </a:r>
          </a:p>
        </p:txBody>
      </p:sp>
      <p:sp>
        <p:nvSpPr>
          <p:cNvPr id="21" name="Rounded Rectangle 20"/>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2" name="TextBox 21"/>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a:t>
            </a:r>
            <a:r>
              <a:rPr sz="1600" b="0">
                <a:solidFill>
                  <a:schemeClr val="bg1"/>
                </a:solidFill>
                <a:latin typeface="Segoe UI"/>
              </a:rPr>
              <a:t> The hint carries everything YOLO suspects; the own mask is only YOLO's confident final answer.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METHOD · PATIENT BRATS-GLI-00046-101, SLICE 115</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a:solidFill>
                  <a:schemeClr val="bg1"/>
                </a:solidFill>
                <a:latin typeface="Segoe UI"/>
              </a:rPr>
              <a:t>The hint, step by step</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10</a:t>
            </a:r>
            <a:endParaRPr sz="1100" b="0" dirty="0">
              <a:solidFill>
                <a:schemeClr val="bg1"/>
              </a:solidFill>
              <a:latin typeface="Segoe UI"/>
            </a:endParaRPr>
          </a:p>
        </p:txBody>
      </p:sp>
      <p:pic>
        <p:nvPicPr>
          <p:cNvPr id="5" name="Picture 4" descr="hint_steps.png"/>
          <p:cNvPicPr>
            <a:picLocks noChangeAspect="1"/>
          </p:cNvPicPr>
          <p:nvPr/>
        </p:nvPicPr>
        <p:blipFill>
          <a:blip r:embed="rId3"/>
          <a:stretch>
            <a:fillRect/>
          </a:stretch>
        </p:blipFill>
        <p:spPr>
          <a:xfrm>
            <a:off x="548640" y="1325881"/>
            <a:ext cx="6775027" cy="1924608"/>
          </a:xfrm>
          <a:prstGeom prst="rect">
            <a:avLst/>
          </a:prstGeom>
          <a:ln w="9525">
            <a:solidFill>
              <a:srgbClr val="2A2F47"/>
            </a:solidFill>
          </a:ln>
        </p:spPr>
      </p:pic>
      <p:sp>
        <p:nvSpPr>
          <p:cNvPr id="6" name="TextBox 5"/>
          <p:cNvSpPr txBox="1"/>
          <p:nvPr/>
        </p:nvSpPr>
        <p:spPr>
          <a:xfrm>
            <a:off x="7501467" y="1437265"/>
            <a:ext cx="4631266" cy="1651734"/>
          </a:xfrm>
          <a:prstGeom prst="rect">
            <a:avLst/>
          </a:prstGeom>
          <a:noFill/>
        </p:spPr>
        <p:txBody>
          <a:bodyPr wrap="square" lIns="45720" rIns="45720" anchor="t">
            <a:spAutoFit/>
          </a:bodyPr>
          <a:lstStyle/>
          <a:p>
            <a:pPr algn="l">
              <a:spcAft>
                <a:spcPts val="700"/>
              </a:spcAft>
            </a:pPr>
            <a:r>
              <a:rPr sz="1300" b="1" dirty="0">
                <a:solidFill>
                  <a:schemeClr val="bg1"/>
                </a:solidFill>
                <a:latin typeface="Segoe UI"/>
              </a:rPr>
              <a:t>A · Store:</a:t>
            </a:r>
            <a:r>
              <a:rPr sz="1300" b="0" dirty="0">
                <a:solidFill>
                  <a:schemeClr val="bg1"/>
                </a:solidFill>
                <a:latin typeface="Segoe UI"/>
              </a:rPr>
              <a:t> YOLO's probability per pixel (0–1) is saved as 0–255.</a:t>
            </a:r>
          </a:p>
          <a:p>
            <a:pPr algn="l">
              <a:spcAft>
                <a:spcPts val="700"/>
              </a:spcAft>
            </a:pPr>
            <a:r>
              <a:rPr sz="1300" b="1" dirty="0">
                <a:solidFill>
                  <a:schemeClr val="bg1"/>
                </a:solidFill>
                <a:latin typeface="Segoe UI"/>
              </a:rPr>
              <a:t>B · Logit:</a:t>
            </a:r>
            <a:r>
              <a:rPr sz="1300" b="0" dirty="0">
                <a:solidFill>
                  <a:schemeClr val="bg1"/>
                </a:solidFill>
                <a:latin typeface="Segoe UI"/>
              </a:rPr>
              <a:t> ln(p / (1 − p)) gives −5.5 … +5.5, where 0 = 50%.</a:t>
            </a:r>
          </a:p>
          <a:p>
            <a:pPr algn="l">
              <a:spcAft>
                <a:spcPts val="700"/>
              </a:spcAft>
            </a:pPr>
            <a:r>
              <a:rPr sz="1300" b="1" dirty="0">
                <a:solidFill>
                  <a:schemeClr val="bg1"/>
                </a:solidFill>
                <a:latin typeface="Segoe UI"/>
              </a:rPr>
              <a:t>C · × 8:</a:t>
            </a:r>
            <a:r>
              <a:rPr sz="1300" b="0" dirty="0">
                <a:solidFill>
                  <a:schemeClr val="bg1"/>
                </a:solidFill>
                <a:latin typeface="Segoe UI"/>
              </a:rPr>
              <a:t> now about −44 … +44.</a:t>
            </a:r>
          </a:p>
          <a:p>
            <a:pPr algn="l">
              <a:spcAft>
                <a:spcPts val="700"/>
              </a:spcAft>
            </a:pPr>
            <a:r>
              <a:rPr sz="1300" b="1" dirty="0">
                <a:solidFill>
                  <a:schemeClr val="bg1"/>
                </a:solidFill>
                <a:latin typeface="Segoe UI"/>
              </a:rPr>
              <a:t>D · 'Nothing here' = −20:</a:t>
            </a:r>
            <a:r>
              <a:rPr sz="1300" b="0" dirty="0">
                <a:solidFill>
                  <a:schemeClr val="bg1"/>
                </a:solidFill>
                <a:latin typeface="Segoe UI"/>
              </a:rPr>
              <a:t> every slice with no YOLO shape (68 of 137 here) and everything outside the head.</a:t>
            </a:r>
          </a:p>
          <a:p>
            <a:pPr algn="l">
              <a:spcAft>
                <a:spcPts val="700"/>
              </a:spcAft>
            </a:pPr>
            <a:r>
              <a:rPr sz="1300" b="0" dirty="0">
                <a:solidFill>
                  <a:schemeClr val="bg1"/>
                </a:solidFill>
                <a:latin typeface="Segoe UI"/>
              </a:rPr>
              <a:t>Inside the head = any of T1C, T2, FLAIR is not 0.</a:t>
            </a:r>
          </a:p>
        </p:txBody>
      </p:sp>
      <p:pic>
        <p:nvPicPr>
          <p:cNvPr id="7" name="Picture 6" descr="hint_hist.png"/>
          <p:cNvPicPr>
            <a:picLocks noChangeAspect="1"/>
          </p:cNvPicPr>
          <p:nvPr/>
        </p:nvPicPr>
        <p:blipFill>
          <a:blip r:embed="rId4"/>
          <a:stretch>
            <a:fillRect/>
          </a:stretch>
        </p:blipFill>
        <p:spPr>
          <a:xfrm>
            <a:off x="548639" y="3826595"/>
            <a:ext cx="5236871" cy="1586653"/>
          </a:xfrm>
          <a:prstGeom prst="rect">
            <a:avLst/>
          </a:prstGeom>
          <a:ln w="9525">
            <a:solidFill>
              <a:srgbClr val="2A2F47"/>
            </a:solidFill>
          </a:ln>
        </p:spPr>
      </p:pic>
      <p:sp>
        <p:nvSpPr>
          <p:cNvPr id="8" name="TextBox 7"/>
          <p:cNvSpPr txBox="1"/>
          <p:nvPr/>
        </p:nvSpPr>
        <p:spPr>
          <a:xfrm>
            <a:off x="548640" y="5400335"/>
            <a:ext cx="5120640" cy="246221"/>
          </a:xfrm>
          <a:prstGeom prst="rect">
            <a:avLst/>
          </a:prstGeom>
          <a:noFill/>
        </p:spPr>
        <p:txBody>
          <a:bodyPr wrap="square" lIns="45720" rIns="45720" anchor="t">
            <a:spAutoFit/>
          </a:bodyPr>
          <a:lstStyle/>
          <a:p>
            <a:pPr algn="l">
              <a:spcAft>
                <a:spcPts val="0"/>
              </a:spcAft>
            </a:pPr>
            <a:r>
              <a:rPr sz="1000" b="0" dirty="0">
                <a:solidFill>
                  <a:schemeClr val="bg1"/>
                </a:solidFill>
                <a:latin typeface="Segoe UI"/>
              </a:rPr>
              <a:t>All 150,618 non-zero pixels YOLO gave this patient</a:t>
            </a:r>
            <a:r>
              <a:rPr lang="en-US" sz="1000" b="0" dirty="0">
                <a:solidFill>
                  <a:schemeClr val="bg1"/>
                </a:solidFill>
                <a:latin typeface="Segoe UI"/>
              </a:rPr>
              <a:t> (all slices)</a:t>
            </a:r>
            <a:r>
              <a:rPr sz="1000" b="0" dirty="0">
                <a:solidFill>
                  <a:schemeClr val="bg1"/>
                </a:solidFill>
                <a:latin typeface="Segoe UI"/>
              </a:rPr>
              <a:t>: mostly 'sure' or 'barely'</a:t>
            </a:r>
          </a:p>
        </p:txBody>
      </p:sp>
      <p:graphicFrame>
        <p:nvGraphicFramePr>
          <p:cNvPr id="9" name="Table 8"/>
          <p:cNvGraphicFramePr>
            <a:graphicFrameLocks noGrp="1"/>
          </p:cNvGraphicFramePr>
          <p:nvPr>
            <p:extLst>
              <p:ext uri="{D42A27DB-BD31-4B8C-83A1-F6EECF244321}">
                <p14:modId xmlns:p14="http://schemas.microsoft.com/office/powerpoint/2010/main" val="3021023253"/>
              </p:ext>
            </p:extLst>
          </p:nvPr>
        </p:nvGraphicFramePr>
        <p:xfrm>
          <a:off x="6217920" y="3825588"/>
          <a:ext cx="5669280" cy="1207008"/>
        </p:xfrm>
        <a:graphic>
          <a:graphicData uri="http://schemas.openxmlformats.org/drawingml/2006/table">
            <a:tbl>
              <a:tblPr firstRow="1" bandRow="1">
                <a:tableStyleId>{5C22544A-7EE6-4342-B048-85BDC9FD1C3A}</a:tableStyleId>
              </a:tblPr>
              <a:tblGrid>
                <a:gridCol w="987552">
                  <a:extLst>
                    <a:ext uri="{9D8B030D-6E8A-4147-A177-3AD203B41FA5}">
                      <a16:colId xmlns:a16="http://schemas.microsoft.com/office/drawing/2014/main" val="20000"/>
                    </a:ext>
                  </a:extLst>
                </a:gridCol>
                <a:gridCol w="585216">
                  <a:extLst>
                    <a:ext uri="{9D8B030D-6E8A-4147-A177-3AD203B41FA5}">
                      <a16:colId xmlns:a16="http://schemas.microsoft.com/office/drawing/2014/main" val="20001"/>
                    </a:ext>
                  </a:extLst>
                </a:gridCol>
                <a:gridCol w="585216">
                  <a:extLst>
                    <a:ext uri="{9D8B030D-6E8A-4147-A177-3AD203B41FA5}">
                      <a16:colId xmlns:a16="http://schemas.microsoft.com/office/drawing/2014/main" val="20002"/>
                    </a:ext>
                  </a:extLst>
                </a:gridCol>
                <a:gridCol w="585216">
                  <a:extLst>
                    <a:ext uri="{9D8B030D-6E8A-4147-A177-3AD203B41FA5}">
                      <a16:colId xmlns:a16="http://schemas.microsoft.com/office/drawing/2014/main" val="20003"/>
                    </a:ext>
                  </a:extLst>
                </a:gridCol>
                <a:gridCol w="585216">
                  <a:extLst>
                    <a:ext uri="{9D8B030D-6E8A-4147-A177-3AD203B41FA5}">
                      <a16:colId xmlns:a16="http://schemas.microsoft.com/office/drawing/2014/main" val="20004"/>
                    </a:ext>
                  </a:extLst>
                </a:gridCol>
                <a:gridCol w="585216">
                  <a:extLst>
                    <a:ext uri="{9D8B030D-6E8A-4147-A177-3AD203B41FA5}">
                      <a16:colId xmlns:a16="http://schemas.microsoft.com/office/drawing/2014/main" val="20005"/>
                    </a:ext>
                  </a:extLst>
                </a:gridCol>
                <a:gridCol w="585216">
                  <a:extLst>
                    <a:ext uri="{9D8B030D-6E8A-4147-A177-3AD203B41FA5}">
                      <a16:colId xmlns:a16="http://schemas.microsoft.com/office/drawing/2014/main" val="20006"/>
                    </a:ext>
                  </a:extLst>
                </a:gridCol>
                <a:gridCol w="585216">
                  <a:extLst>
                    <a:ext uri="{9D8B030D-6E8A-4147-A177-3AD203B41FA5}">
                      <a16:colId xmlns:a16="http://schemas.microsoft.com/office/drawing/2014/main" val="20007"/>
                    </a:ext>
                  </a:extLst>
                </a:gridCol>
                <a:gridCol w="585216">
                  <a:extLst>
                    <a:ext uri="{9D8B030D-6E8A-4147-A177-3AD203B41FA5}">
                      <a16:colId xmlns:a16="http://schemas.microsoft.com/office/drawing/2014/main" val="20008"/>
                    </a:ext>
                  </a:extLst>
                </a:gridCol>
              </a:tblGrid>
              <a:tr h="301752">
                <a:tc>
                  <a:txBody>
                    <a:bodyPr/>
                    <a:lstStyle/>
                    <a:p>
                      <a:pPr algn="l"/>
                      <a:r>
                        <a:rPr sz="1200" b="1">
                          <a:solidFill>
                            <a:srgbClr val="9AA0B8"/>
                          </a:solidFill>
                          <a:latin typeface="Segoe UI"/>
                        </a:rPr>
                        <a:t>p</a:t>
                      </a:r>
                    </a:p>
                  </a:txBody>
                  <a:tcPr marL="36576" marR="36576" marT="18288" marB="18288">
                    <a:solidFill>
                      <a:srgbClr val="232842"/>
                    </a:solidFill>
                  </a:tcPr>
                </a:tc>
                <a:tc>
                  <a:txBody>
                    <a:bodyPr/>
                    <a:lstStyle/>
                    <a:p>
                      <a:pPr algn="ctr"/>
                      <a:r>
                        <a:rPr sz="1200" b="0">
                          <a:solidFill>
                            <a:srgbClr val="E8EAF2"/>
                          </a:solidFill>
                          <a:latin typeface="Segoe UI"/>
                        </a:rPr>
                        <a:t>0.00</a:t>
                      </a:r>
                    </a:p>
                  </a:txBody>
                  <a:tcPr marL="36576" marR="36576" marT="18288" marB="18288">
                    <a:solidFill>
                      <a:srgbClr val="232842"/>
                    </a:solidFill>
                  </a:tcPr>
                </a:tc>
                <a:tc>
                  <a:txBody>
                    <a:bodyPr/>
                    <a:lstStyle/>
                    <a:p>
                      <a:pPr algn="ctr"/>
                      <a:r>
                        <a:rPr sz="1200" b="0">
                          <a:solidFill>
                            <a:srgbClr val="E8EAF2"/>
                          </a:solidFill>
                          <a:latin typeface="Segoe UI"/>
                        </a:rPr>
                        <a:t>0.05</a:t>
                      </a:r>
                    </a:p>
                  </a:txBody>
                  <a:tcPr marL="36576" marR="36576" marT="18288" marB="18288">
                    <a:solidFill>
                      <a:srgbClr val="232842"/>
                    </a:solidFill>
                  </a:tcPr>
                </a:tc>
                <a:tc>
                  <a:txBody>
                    <a:bodyPr/>
                    <a:lstStyle/>
                    <a:p>
                      <a:pPr algn="ctr"/>
                      <a:r>
                        <a:rPr sz="1200" b="0">
                          <a:solidFill>
                            <a:srgbClr val="E8EAF2"/>
                          </a:solidFill>
                          <a:latin typeface="Segoe UI"/>
                        </a:rPr>
                        <a:t>0.25</a:t>
                      </a:r>
                    </a:p>
                  </a:txBody>
                  <a:tcPr marL="36576" marR="36576" marT="18288" marB="18288">
                    <a:solidFill>
                      <a:srgbClr val="232842"/>
                    </a:solidFill>
                  </a:tcPr>
                </a:tc>
                <a:tc>
                  <a:txBody>
                    <a:bodyPr/>
                    <a:lstStyle/>
                    <a:p>
                      <a:pPr algn="ctr"/>
                      <a:r>
                        <a:rPr sz="1200" b="0">
                          <a:solidFill>
                            <a:srgbClr val="E8EAF2"/>
                          </a:solidFill>
                          <a:latin typeface="Segoe UI"/>
                        </a:rPr>
                        <a:t>0.50</a:t>
                      </a:r>
                    </a:p>
                  </a:txBody>
                  <a:tcPr marL="36576" marR="36576" marT="18288" marB="18288">
                    <a:solidFill>
                      <a:srgbClr val="232842"/>
                    </a:solidFill>
                  </a:tcPr>
                </a:tc>
                <a:tc>
                  <a:txBody>
                    <a:bodyPr/>
                    <a:lstStyle/>
                    <a:p>
                      <a:pPr algn="ctr"/>
                      <a:r>
                        <a:rPr sz="1200" b="0">
                          <a:solidFill>
                            <a:srgbClr val="E8EAF2"/>
                          </a:solidFill>
                          <a:latin typeface="Segoe UI"/>
                        </a:rPr>
                        <a:t>0.75</a:t>
                      </a:r>
                    </a:p>
                  </a:txBody>
                  <a:tcPr marL="36576" marR="36576" marT="18288" marB="18288">
                    <a:solidFill>
                      <a:srgbClr val="232842"/>
                    </a:solidFill>
                  </a:tcPr>
                </a:tc>
                <a:tc>
                  <a:txBody>
                    <a:bodyPr/>
                    <a:lstStyle/>
                    <a:p>
                      <a:pPr algn="ctr"/>
                      <a:r>
                        <a:rPr sz="1200" b="0">
                          <a:solidFill>
                            <a:srgbClr val="E8EAF2"/>
                          </a:solidFill>
                          <a:latin typeface="Segoe UI"/>
                        </a:rPr>
                        <a:t>0.95</a:t>
                      </a:r>
                    </a:p>
                  </a:txBody>
                  <a:tcPr marL="36576" marR="36576" marT="18288" marB="18288">
                    <a:solidFill>
                      <a:srgbClr val="232842"/>
                    </a:solidFill>
                  </a:tcPr>
                </a:tc>
                <a:tc>
                  <a:txBody>
                    <a:bodyPr/>
                    <a:lstStyle/>
                    <a:p>
                      <a:pPr algn="ctr"/>
                      <a:r>
                        <a:rPr sz="1200" b="0">
                          <a:solidFill>
                            <a:srgbClr val="E8EAF2"/>
                          </a:solidFill>
                          <a:latin typeface="Segoe UI"/>
                        </a:rPr>
                        <a:t>0.99</a:t>
                      </a:r>
                    </a:p>
                  </a:txBody>
                  <a:tcPr marL="36576" marR="36576" marT="18288" marB="18288">
                    <a:solidFill>
                      <a:srgbClr val="232842"/>
                    </a:solidFill>
                  </a:tcPr>
                </a:tc>
                <a:tc>
                  <a:txBody>
                    <a:bodyPr/>
                    <a:lstStyle/>
                    <a:p>
                      <a:pPr algn="ctr"/>
                      <a:r>
                        <a:rPr sz="1200" b="0">
                          <a:solidFill>
                            <a:srgbClr val="E8EAF2"/>
                          </a:solidFill>
                          <a:latin typeface="Segoe UI"/>
                        </a:rPr>
                        <a:t>1.00</a:t>
                      </a:r>
                    </a:p>
                  </a:txBody>
                  <a:tcPr marL="36576" marR="36576" marT="18288" marB="18288">
                    <a:solidFill>
                      <a:srgbClr val="232842"/>
                    </a:solidFill>
                  </a:tcPr>
                </a:tc>
                <a:extLst>
                  <a:ext uri="{0D108BD9-81ED-4DB2-BD59-A6C34878D82A}">
                    <a16:rowId xmlns:a16="http://schemas.microsoft.com/office/drawing/2014/main" val="10000"/>
                  </a:ext>
                </a:extLst>
              </a:tr>
              <a:tr h="301752">
                <a:tc>
                  <a:txBody>
                    <a:bodyPr/>
                    <a:lstStyle/>
                    <a:p>
                      <a:pPr algn="l"/>
                      <a:r>
                        <a:rPr sz="1200" b="1">
                          <a:solidFill>
                            <a:srgbClr val="9AA0B8"/>
                          </a:solidFill>
                          <a:latin typeface="Segoe UI"/>
                        </a:rPr>
                        <a:t>Stored</a:t>
                      </a:r>
                    </a:p>
                  </a:txBody>
                  <a:tcPr marL="36576" marR="36576" marT="18288" marB="18288">
                    <a:solidFill>
                      <a:srgbClr val="1A1F33"/>
                    </a:solidFill>
                  </a:tcPr>
                </a:tc>
                <a:tc>
                  <a:txBody>
                    <a:bodyPr/>
                    <a:lstStyle/>
                    <a:p>
                      <a:pPr algn="ctr"/>
                      <a:r>
                        <a:rPr sz="1200" b="0">
                          <a:solidFill>
                            <a:srgbClr val="E8EAF2"/>
                          </a:solidFill>
                          <a:latin typeface="Segoe UI"/>
                        </a:rPr>
                        <a:t>0</a:t>
                      </a:r>
                    </a:p>
                  </a:txBody>
                  <a:tcPr marL="36576" marR="36576" marT="18288" marB="18288">
                    <a:solidFill>
                      <a:srgbClr val="1A1F33"/>
                    </a:solidFill>
                  </a:tcPr>
                </a:tc>
                <a:tc>
                  <a:txBody>
                    <a:bodyPr/>
                    <a:lstStyle/>
                    <a:p>
                      <a:pPr algn="ctr"/>
                      <a:r>
                        <a:rPr sz="1200" b="0">
                          <a:solidFill>
                            <a:srgbClr val="E8EAF2"/>
                          </a:solidFill>
                          <a:latin typeface="Segoe UI"/>
                        </a:rPr>
                        <a:t>13</a:t>
                      </a:r>
                    </a:p>
                  </a:txBody>
                  <a:tcPr marL="36576" marR="36576" marT="18288" marB="18288">
                    <a:solidFill>
                      <a:srgbClr val="1A1F33"/>
                    </a:solidFill>
                  </a:tcPr>
                </a:tc>
                <a:tc>
                  <a:txBody>
                    <a:bodyPr/>
                    <a:lstStyle/>
                    <a:p>
                      <a:pPr algn="ctr"/>
                      <a:r>
                        <a:rPr sz="1200" b="0">
                          <a:solidFill>
                            <a:srgbClr val="E8EAF2"/>
                          </a:solidFill>
                          <a:latin typeface="Segoe UI"/>
                        </a:rPr>
                        <a:t>64</a:t>
                      </a:r>
                    </a:p>
                  </a:txBody>
                  <a:tcPr marL="36576" marR="36576" marT="18288" marB="18288">
                    <a:solidFill>
                      <a:srgbClr val="1A1F33"/>
                    </a:solidFill>
                  </a:tcPr>
                </a:tc>
                <a:tc>
                  <a:txBody>
                    <a:bodyPr/>
                    <a:lstStyle/>
                    <a:p>
                      <a:pPr algn="ctr"/>
                      <a:r>
                        <a:rPr sz="1200" b="0">
                          <a:solidFill>
                            <a:srgbClr val="E8EAF2"/>
                          </a:solidFill>
                          <a:latin typeface="Segoe UI"/>
                        </a:rPr>
                        <a:t>128</a:t>
                      </a:r>
                    </a:p>
                  </a:txBody>
                  <a:tcPr marL="36576" marR="36576" marT="18288" marB="18288">
                    <a:solidFill>
                      <a:srgbClr val="1A1F33"/>
                    </a:solidFill>
                  </a:tcPr>
                </a:tc>
                <a:tc>
                  <a:txBody>
                    <a:bodyPr/>
                    <a:lstStyle/>
                    <a:p>
                      <a:pPr algn="ctr"/>
                      <a:r>
                        <a:rPr sz="1200" b="0">
                          <a:solidFill>
                            <a:srgbClr val="E8EAF2"/>
                          </a:solidFill>
                          <a:latin typeface="Segoe UI"/>
                        </a:rPr>
                        <a:t>191</a:t>
                      </a:r>
                    </a:p>
                  </a:txBody>
                  <a:tcPr marL="36576" marR="36576" marT="18288" marB="18288">
                    <a:solidFill>
                      <a:srgbClr val="1A1F33"/>
                    </a:solidFill>
                  </a:tcPr>
                </a:tc>
                <a:tc>
                  <a:txBody>
                    <a:bodyPr/>
                    <a:lstStyle/>
                    <a:p>
                      <a:pPr algn="ctr"/>
                      <a:r>
                        <a:rPr sz="1200" b="0">
                          <a:solidFill>
                            <a:srgbClr val="E8EAF2"/>
                          </a:solidFill>
                          <a:latin typeface="Segoe UI"/>
                        </a:rPr>
                        <a:t>242</a:t>
                      </a:r>
                    </a:p>
                  </a:txBody>
                  <a:tcPr marL="36576" marR="36576" marT="18288" marB="18288">
                    <a:solidFill>
                      <a:srgbClr val="1A1F33"/>
                    </a:solidFill>
                  </a:tcPr>
                </a:tc>
                <a:tc>
                  <a:txBody>
                    <a:bodyPr/>
                    <a:lstStyle/>
                    <a:p>
                      <a:pPr algn="ctr"/>
                      <a:r>
                        <a:rPr sz="1200" b="0">
                          <a:solidFill>
                            <a:srgbClr val="E8EAF2"/>
                          </a:solidFill>
                          <a:latin typeface="Segoe UI"/>
                        </a:rPr>
                        <a:t>252</a:t>
                      </a:r>
                    </a:p>
                  </a:txBody>
                  <a:tcPr marL="36576" marR="36576" marT="18288" marB="18288">
                    <a:solidFill>
                      <a:srgbClr val="1A1F33"/>
                    </a:solidFill>
                  </a:tcPr>
                </a:tc>
                <a:tc>
                  <a:txBody>
                    <a:bodyPr/>
                    <a:lstStyle/>
                    <a:p>
                      <a:pPr algn="ctr"/>
                      <a:r>
                        <a:rPr sz="1200" b="0">
                          <a:solidFill>
                            <a:srgbClr val="E8EAF2"/>
                          </a:solidFill>
                          <a:latin typeface="Segoe UI"/>
                        </a:rPr>
                        <a:t>255</a:t>
                      </a:r>
                    </a:p>
                  </a:txBody>
                  <a:tcPr marL="36576" marR="36576" marT="18288" marB="18288">
                    <a:solidFill>
                      <a:srgbClr val="1A1F33"/>
                    </a:solidFill>
                  </a:tcPr>
                </a:tc>
                <a:extLst>
                  <a:ext uri="{0D108BD9-81ED-4DB2-BD59-A6C34878D82A}">
                    <a16:rowId xmlns:a16="http://schemas.microsoft.com/office/drawing/2014/main" val="10001"/>
                  </a:ext>
                </a:extLst>
              </a:tr>
              <a:tr h="301752">
                <a:tc>
                  <a:txBody>
                    <a:bodyPr/>
                    <a:lstStyle/>
                    <a:p>
                      <a:pPr algn="l"/>
                      <a:r>
                        <a:rPr sz="1200" b="1">
                          <a:solidFill>
                            <a:srgbClr val="9AA0B8"/>
                          </a:solidFill>
                          <a:latin typeface="Segoe UI"/>
                        </a:rPr>
                        <a:t>Logit</a:t>
                      </a:r>
                    </a:p>
                  </a:txBody>
                  <a:tcPr marL="36576" marR="36576" marT="18288" marB="18288">
                    <a:solidFill>
                      <a:srgbClr val="232842"/>
                    </a:solidFill>
                  </a:tcPr>
                </a:tc>
                <a:tc>
                  <a:txBody>
                    <a:bodyPr/>
                    <a:lstStyle/>
                    <a:p>
                      <a:pPr algn="ctr"/>
                      <a:r>
                        <a:rPr sz="1200" b="0">
                          <a:solidFill>
                            <a:srgbClr val="E8EAF2"/>
                          </a:solidFill>
                          <a:latin typeface="Segoe UI"/>
                        </a:rPr>
                        <a:t>−5.54</a:t>
                      </a:r>
                    </a:p>
                  </a:txBody>
                  <a:tcPr marL="36576" marR="36576" marT="18288" marB="18288">
                    <a:solidFill>
                      <a:srgbClr val="232842"/>
                    </a:solidFill>
                  </a:tcPr>
                </a:tc>
                <a:tc>
                  <a:txBody>
                    <a:bodyPr/>
                    <a:lstStyle/>
                    <a:p>
                      <a:pPr algn="ctr"/>
                      <a:r>
                        <a:rPr sz="1200" b="0">
                          <a:solidFill>
                            <a:srgbClr val="E8EAF2"/>
                          </a:solidFill>
                          <a:latin typeface="Segoe UI"/>
                        </a:rPr>
                        <a:t>−2.92</a:t>
                      </a:r>
                    </a:p>
                  </a:txBody>
                  <a:tcPr marL="36576" marR="36576" marT="18288" marB="18288">
                    <a:solidFill>
                      <a:srgbClr val="232842"/>
                    </a:solidFill>
                  </a:tcPr>
                </a:tc>
                <a:tc>
                  <a:txBody>
                    <a:bodyPr/>
                    <a:lstStyle/>
                    <a:p>
                      <a:pPr algn="ctr"/>
                      <a:r>
                        <a:rPr sz="1200" b="0">
                          <a:solidFill>
                            <a:srgbClr val="E8EAF2"/>
                          </a:solidFill>
                          <a:latin typeface="Segoe UI"/>
                        </a:rPr>
                        <a:t>−1.09</a:t>
                      </a:r>
                    </a:p>
                  </a:txBody>
                  <a:tcPr marL="36576" marR="36576" marT="18288" marB="18288">
                    <a:solidFill>
                      <a:srgbClr val="232842"/>
                    </a:solidFill>
                  </a:tcPr>
                </a:tc>
                <a:tc>
                  <a:txBody>
                    <a:bodyPr/>
                    <a:lstStyle/>
                    <a:p>
                      <a:pPr algn="ctr"/>
                      <a:r>
                        <a:rPr sz="1200" b="0">
                          <a:solidFill>
                            <a:srgbClr val="E8EAF2"/>
                          </a:solidFill>
                          <a:latin typeface="Segoe UI"/>
                        </a:rPr>
                        <a:t>0</a:t>
                      </a:r>
                    </a:p>
                  </a:txBody>
                  <a:tcPr marL="36576" marR="36576" marT="18288" marB="18288">
                    <a:solidFill>
                      <a:srgbClr val="232842"/>
                    </a:solidFill>
                  </a:tcPr>
                </a:tc>
                <a:tc>
                  <a:txBody>
                    <a:bodyPr/>
                    <a:lstStyle/>
                    <a:p>
                      <a:pPr algn="ctr"/>
                      <a:r>
                        <a:rPr sz="1200" b="0">
                          <a:solidFill>
                            <a:srgbClr val="E8EAF2"/>
                          </a:solidFill>
                          <a:latin typeface="Segoe UI"/>
                        </a:rPr>
                        <a:t>+1.09</a:t>
                      </a:r>
                    </a:p>
                  </a:txBody>
                  <a:tcPr marL="36576" marR="36576" marT="18288" marB="18288">
                    <a:solidFill>
                      <a:srgbClr val="232842"/>
                    </a:solidFill>
                  </a:tcPr>
                </a:tc>
                <a:tc>
                  <a:txBody>
                    <a:bodyPr/>
                    <a:lstStyle/>
                    <a:p>
                      <a:pPr algn="ctr"/>
                      <a:r>
                        <a:rPr sz="1200" b="0">
                          <a:solidFill>
                            <a:srgbClr val="E8EAF2"/>
                          </a:solidFill>
                          <a:latin typeface="Segoe UI"/>
                        </a:rPr>
                        <a:t>+2.92</a:t>
                      </a:r>
                    </a:p>
                  </a:txBody>
                  <a:tcPr marL="36576" marR="36576" marT="18288" marB="18288">
                    <a:solidFill>
                      <a:srgbClr val="232842"/>
                    </a:solidFill>
                  </a:tcPr>
                </a:tc>
                <a:tc>
                  <a:txBody>
                    <a:bodyPr/>
                    <a:lstStyle/>
                    <a:p>
                      <a:pPr algn="ctr"/>
                      <a:r>
                        <a:rPr sz="1200" b="0">
                          <a:solidFill>
                            <a:srgbClr val="E8EAF2"/>
                          </a:solidFill>
                          <a:latin typeface="Segoe UI"/>
                        </a:rPr>
                        <a:t>+4.43</a:t>
                      </a:r>
                    </a:p>
                  </a:txBody>
                  <a:tcPr marL="36576" marR="36576" marT="18288" marB="18288">
                    <a:solidFill>
                      <a:srgbClr val="232842"/>
                    </a:solidFill>
                  </a:tcPr>
                </a:tc>
                <a:tc>
                  <a:txBody>
                    <a:bodyPr/>
                    <a:lstStyle/>
                    <a:p>
                      <a:pPr algn="ctr"/>
                      <a:r>
                        <a:rPr sz="1200" b="0">
                          <a:solidFill>
                            <a:srgbClr val="E8EAF2"/>
                          </a:solidFill>
                          <a:latin typeface="Segoe UI"/>
                        </a:rPr>
                        <a:t>+5.54</a:t>
                      </a:r>
                    </a:p>
                  </a:txBody>
                  <a:tcPr marL="36576" marR="36576" marT="18288" marB="18288">
                    <a:solidFill>
                      <a:srgbClr val="232842"/>
                    </a:solidFill>
                  </a:tcPr>
                </a:tc>
                <a:extLst>
                  <a:ext uri="{0D108BD9-81ED-4DB2-BD59-A6C34878D82A}">
                    <a16:rowId xmlns:a16="http://schemas.microsoft.com/office/drawing/2014/main" val="10002"/>
                  </a:ext>
                </a:extLst>
              </a:tr>
              <a:tr h="301752">
                <a:tc>
                  <a:txBody>
                    <a:bodyPr/>
                    <a:lstStyle/>
                    <a:p>
                      <a:pPr algn="l"/>
                      <a:r>
                        <a:rPr sz="1200" b="1">
                          <a:solidFill>
                            <a:srgbClr val="9AA0B8"/>
                          </a:solidFill>
                          <a:latin typeface="Segoe UI"/>
                        </a:rPr>
                        <a:t>Logit × 8</a:t>
                      </a:r>
                    </a:p>
                  </a:txBody>
                  <a:tcPr marL="36576" marR="36576" marT="18288" marB="18288">
                    <a:solidFill>
                      <a:srgbClr val="1A1F33"/>
                    </a:solidFill>
                  </a:tcPr>
                </a:tc>
                <a:tc>
                  <a:txBody>
                    <a:bodyPr/>
                    <a:lstStyle/>
                    <a:p>
                      <a:pPr algn="ctr"/>
                      <a:r>
                        <a:rPr sz="1200" b="1">
                          <a:solidFill>
                            <a:srgbClr val="E06A2E"/>
                          </a:solidFill>
                          <a:latin typeface="Segoe UI"/>
                        </a:rPr>
                        <a:t>−44</a:t>
                      </a:r>
                    </a:p>
                  </a:txBody>
                  <a:tcPr marL="36576" marR="36576" marT="18288" marB="18288">
                    <a:solidFill>
                      <a:srgbClr val="1A1F33"/>
                    </a:solidFill>
                  </a:tcPr>
                </a:tc>
                <a:tc>
                  <a:txBody>
                    <a:bodyPr/>
                    <a:lstStyle/>
                    <a:p>
                      <a:pPr algn="ctr"/>
                      <a:r>
                        <a:rPr sz="1200" b="1">
                          <a:solidFill>
                            <a:srgbClr val="E06A2E"/>
                          </a:solidFill>
                          <a:latin typeface="Segoe UI"/>
                        </a:rPr>
                        <a:t>−23</a:t>
                      </a:r>
                    </a:p>
                  </a:txBody>
                  <a:tcPr marL="36576" marR="36576" marT="18288" marB="18288">
                    <a:solidFill>
                      <a:srgbClr val="1A1F33"/>
                    </a:solidFill>
                  </a:tcPr>
                </a:tc>
                <a:tc>
                  <a:txBody>
                    <a:bodyPr/>
                    <a:lstStyle/>
                    <a:p>
                      <a:pPr algn="ctr"/>
                      <a:r>
                        <a:rPr sz="1200" b="1">
                          <a:solidFill>
                            <a:srgbClr val="E06A2E"/>
                          </a:solidFill>
                          <a:latin typeface="Segoe UI"/>
                        </a:rPr>
                        <a:t>−9</a:t>
                      </a:r>
                    </a:p>
                  </a:txBody>
                  <a:tcPr marL="36576" marR="36576" marT="18288" marB="18288">
                    <a:solidFill>
                      <a:srgbClr val="1A1F33"/>
                    </a:solidFill>
                  </a:tcPr>
                </a:tc>
                <a:tc>
                  <a:txBody>
                    <a:bodyPr/>
                    <a:lstStyle/>
                    <a:p>
                      <a:pPr algn="ctr"/>
                      <a:r>
                        <a:rPr sz="1200" b="1">
                          <a:solidFill>
                            <a:srgbClr val="E06A2E"/>
                          </a:solidFill>
                          <a:latin typeface="Segoe UI"/>
                        </a:rPr>
                        <a:t>0</a:t>
                      </a:r>
                    </a:p>
                  </a:txBody>
                  <a:tcPr marL="36576" marR="36576" marT="18288" marB="18288">
                    <a:solidFill>
                      <a:srgbClr val="1A1F33"/>
                    </a:solidFill>
                  </a:tcPr>
                </a:tc>
                <a:tc>
                  <a:txBody>
                    <a:bodyPr/>
                    <a:lstStyle/>
                    <a:p>
                      <a:pPr algn="ctr"/>
                      <a:r>
                        <a:rPr sz="1200" b="1">
                          <a:solidFill>
                            <a:srgbClr val="E06A2E"/>
                          </a:solidFill>
                          <a:latin typeface="Segoe UI"/>
                        </a:rPr>
                        <a:t>+9</a:t>
                      </a:r>
                    </a:p>
                  </a:txBody>
                  <a:tcPr marL="36576" marR="36576" marT="18288" marB="18288">
                    <a:solidFill>
                      <a:srgbClr val="1A1F33"/>
                    </a:solidFill>
                  </a:tcPr>
                </a:tc>
                <a:tc>
                  <a:txBody>
                    <a:bodyPr/>
                    <a:lstStyle/>
                    <a:p>
                      <a:pPr algn="ctr"/>
                      <a:r>
                        <a:rPr sz="1200" b="1">
                          <a:solidFill>
                            <a:srgbClr val="E06A2E"/>
                          </a:solidFill>
                          <a:latin typeface="Segoe UI"/>
                        </a:rPr>
                        <a:t>+23</a:t>
                      </a:r>
                    </a:p>
                  </a:txBody>
                  <a:tcPr marL="36576" marR="36576" marT="18288" marB="18288">
                    <a:solidFill>
                      <a:srgbClr val="1A1F33"/>
                    </a:solidFill>
                  </a:tcPr>
                </a:tc>
                <a:tc>
                  <a:txBody>
                    <a:bodyPr/>
                    <a:lstStyle/>
                    <a:p>
                      <a:pPr algn="ctr"/>
                      <a:r>
                        <a:rPr sz="1200" b="1">
                          <a:solidFill>
                            <a:srgbClr val="E06A2E"/>
                          </a:solidFill>
                          <a:latin typeface="Segoe UI"/>
                        </a:rPr>
                        <a:t>+35</a:t>
                      </a:r>
                    </a:p>
                  </a:txBody>
                  <a:tcPr marL="36576" marR="36576" marT="18288" marB="18288">
                    <a:solidFill>
                      <a:srgbClr val="1A1F33"/>
                    </a:solidFill>
                  </a:tcPr>
                </a:tc>
                <a:tc>
                  <a:txBody>
                    <a:bodyPr/>
                    <a:lstStyle/>
                    <a:p>
                      <a:pPr algn="ctr"/>
                      <a:r>
                        <a:rPr sz="1200" b="1" dirty="0">
                          <a:solidFill>
                            <a:srgbClr val="E06A2E"/>
                          </a:solidFill>
                          <a:latin typeface="Segoe UI"/>
                        </a:rPr>
                        <a:t>+44</a:t>
                      </a:r>
                    </a:p>
                  </a:txBody>
                  <a:tcPr marL="36576" marR="36576" marT="18288" marB="18288">
                    <a:solidFill>
                      <a:srgbClr val="1A1F33"/>
                    </a:solidFill>
                  </a:tcPr>
                </a:tc>
                <a:extLst>
                  <a:ext uri="{0D108BD9-81ED-4DB2-BD59-A6C34878D82A}">
                    <a16:rowId xmlns:a16="http://schemas.microsoft.com/office/drawing/2014/main" val="10003"/>
                  </a:ext>
                </a:extLst>
              </a:tr>
            </a:tbl>
          </a:graphicData>
        </a:graphic>
      </p:graphicFrame>
      <p:sp>
        <p:nvSpPr>
          <p:cNvPr id="10" name="Rounded Rectangle 9"/>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 name="TextBox 10"/>
          <p:cNvSpPr txBox="1"/>
          <p:nvPr/>
        </p:nvSpPr>
        <p:spPr>
          <a:xfrm>
            <a:off x="777240" y="5920627"/>
            <a:ext cx="10744200" cy="338554"/>
          </a:xfrm>
          <a:prstGeom prst="rect">
            <a:avLst/>
          </a:prstGeom>
          <a:noFill/>
        </p:spPr>
        <p:txBody>
          <a:bodyPr wrap="square" lIns="45720" rIns="45720" anchor="ctr">
            <a:spAutoFit/>
          </a:bodyPr>
          <a:lstStyle/>
          <a:p>
            <a:pPr algn="l">
              <a:spcAft>
                <a:spcPts val="0"/>
              </a:spcAft>
            </a:pPr>
            <a:r>
              <a:rPr sz="1600" b="1">
                <a:solidFill>
                  <a:schemeClr val="bg1"/>
                </a:solidFill>
                <a:latin typeface="Segoe UI"/>
              </a:rPr>
              <a:t>Key takeaway:</a:t>
            </a:r>
            <a:r>
              <a:rPr sz="1600" b="0">
                <a:solidFill>
                  <a:schemeClr val="bg1"/>
                </a:solidFill>
                <a:latin typeface="Segoe UI"/>
              </a:rPr>
              <a:t> The hint = YOLO's confidence per pixel on MedSAM2's scale, plus a firm 'no' where YOLO saw nothing.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0058400" cy="274320"/>
          </a:xfrm>
          <a:prstGeom prst="rect">
            <a:avLst/>
          </a:prstGeom>
          <a:noFill/>
        </p:spPr>
        <p:txBody>
          <a:bodyPr wrap="square" anchor="t" lIns="45720" rIns="45720">
            <a:spAutoFit/>
          </a:bodyPr>
          <a:lstStyle/>
          <a:p>
            <a:pPr algn="l">
              <a:spcAft>
                <a:spcPts val="600"/>
              </a:spcAft>
            </a:pPr>
            <a:r>
              <a:rPr sz="1200" b="0">
                <a:solidFill>
                  <a:srgbClr val="FFFFFF"/>
                </a:solidFill>
                <a:latin typeface="Segoe UI"/>
              </a:rPr>
              <a:t>METHOD · HINT STYLES · TEST, 324 PATIENTS, 38 M BLOB PIXELS</a:t>
            </a:r>
          </a:p>
        </p:txBody>
      </p:sp>
      <p:sp>
        <p:nvSpPr>
          <p:cNvPr id="3" name="TextBox 2"/>
          <p:cNvSpPr txBox="1"/>
          <p:nvPr/>
        </p:nvSpPr>
        <p:spPr>
          <a:xfrm>
            <a:off x="548640" y="475488"/>
            <a:ext cx="11064240" cy="585216"/>
          </a:xfrm>
          <a:prstGeom prst="rect">
            <a:avLst/>
          </a:prstGeom>
          <a:noFill/>
        </p:spPr>
        <p:txBody>
          <a:bodyPr wrap="square" anchor="t" lIns="45720" rIns="45720">
            <a:spAutoFit/>
          </a:bodyPr>
          <a:lstStyle/>
          <a:p>
            <a:pPr algn="l">
              <a:spcAft>
                <a:spcPts val="0"/>
              </a:spcAft>
            </a:pPr>
            <a:r>
              <a:rPr sz="3200" b="0">
                <a:solidFill>
                  <a:srgbClr val="FFFFFF"/>
                </a:solidFill>
                <a:latin typeface="Segoe UI"/>
              </a:rPr>
              <a:t>Two hint styles: 'max' vs 'max_weighted'</a:t>
            </a:r>
          </a:p>
        </p:txBody>
      </p:sp>
      <p:sp>
        <p:nvSpPr>
          <p:cNvPr id="4" name="TextBox 3"/>
          <p:cNvSpPr txBox="1"/>
          <p:nvPr/>
        </p:nvSpPr>
        <p:spPr>
          <a:xfrm>
            <a:off x="10972800" y="6446520"/>
            <a:ext cx="914400" cy="265176"/>
          </a:xfrm>
          <a:prstGeom prst="rect">
            <a:avLst/>
          </a:prstGeom>
          <a:noFill/>
        </p:spPr>
        <p:txBody>
          <a:bodyPr wrap="square" anchor="t" lIns="45720" rIns="45720">
            <a:spAutoFit/>
          </a:bodyPr>
          <a:lstStyle/>
          <a:p>
            <a:pPr algn="r">
              <a:spcAft>
                <a:spcPts val="600"/>
              </a:spcAft>
            </a:pPr>
            <a:r>
              <a:rPr sz="1100" b="0">
                <a:solidFill>
                  <a:srgbClr val="FFFFFF"/>
                </a:solidFill>
                <a:latin typeface="Segoe UI"/>
              </a:rPr>
              <a:t>11</a:t>
            </a:r>
          </a:p>
        </p:txBody>
      </p:sp>
      <p:sp>
        <p:nvSpPr>
          <p:cNvPr id="5" name="Rectangle 4"/>
          <p:cNvSpPr/>
          <p:nvPr/>
        </p:nvSpPr>
        <p:spPr>
          <a:xfrm>
            <a:off x="548640" y="1325880"/>
            <a:ext cx="5577840" cy="434340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v_example.png"/>
          <p:cNvPicPr>
            <a:picLocks noChangeAspect="1"/>
          </p:cNvPicPr>
          <p:nvPr/>
        </p:nvPicPr>
        <p:blipFill>
          <a:blip r:embed="rId2"/>
          <a:stretch>
            <a:fillRect/>
          </a:stretch>
        </p:blipFill>
        <p:spPr>
          <a:xfrm>
            <a:off x="795318" y="1463040"/>
            <a:ext cx="5084484" cy="2606040"/>
          </a:xfrm>
          <a:prstGeom prst="rect">
            <a:avLst/>
          </a:prstGeom>
          <a:ln w="9525">
            <a:solidFill>
              <a:srgbClr val="2A2F47"/>
            </a:solidFill>
          </a:ln>
        </p:spPr>
      </p:pic>
      <p:sp>
        <p:nvSpPr>
          <p:cNvPr id="7" name="TextBox 6"/>
          <p:cNvSpPr txBox="1"/>
          <p:nvPr/>
        </p:nvSpPr>
        <p:spPr>
          <a:xfrm>
            <a:off x="685800" y="4069080"/>
            <a:ext cx="5303520" cy="274320"/>
          </a:xfrm>
          <a:prstGeom prst="rect">
            <a:avLst/>
          </a:prstGeom>
          <a:noFill/>
        </p:spPr>
        <p:txBody>
          <a:bodyPr wrap="square" anchor="t" lIns="45720" rIns="45720">
            <a:spAutoFit/>
          </a:bodyPr>
          <a:lstStyle/>
          <a:p>
            <a:pPr algn="ctr">
              <a:spcAft>
                <a:spcPts val="0"/>
              </a:spcAft>
            </a:pPr>
            <a:r>
              <a:rPr sz="1100" b="0">
                <a:solidFill>
                  <a:srgbClr val="B8BED3"/>
                </a:solidFill>
                <a:latin typeface="Segoe UI"/>
              </a:rPr>
              <a:t>Patient BraTS-GLI-00046-101, slice 120: 7 YOLO shapes, confidence 0.06–0.90</a:t>
            </a:r>
          </a:p>
        </p:txBody>
      </p:sp>
      <p:sp>
        <p:nvSpPr>
          <p:cNvPr id="8" name="TextBox 7"/>
          <p:cNvSpPr txBox="1"/>
          <p:nvPr/>
        </p:nvSpPr>
        <p:spPr>
          <a:xfrm>
            <a:off x="731520" y="4434840"/>
            <a:ext cx="5212080" cy="1188720"/>
          </a:xfrm>
          <a:prstGeom prst="rect">
            <a:avLst/>
          </a:prstGeom>
          <a:noFill/>
        </p:spPr>
        <p:txBody>
          <a:bodyPr wrap="square" anchor="t" lIns="45720" rIns="45720">
            <a:spAutoFit/>
          </a:bodyPr>
          <a:lstStyle/>
          <a:p>
            <a:pPr algn="l">
              <a:spcAft>
                <a:spcPts val="500"/>
              </a:spcAft>
            </a:pPr>
            <a:r>
              <a:rPr sz="1300" b="0">
                <a:solidFill>
                  <a:srgbClr val="E8EAF2"/>
                </a:solidFill>
                <a:latin typeface="Segoe UI"/>
              </a:rPr>
              <a:t>•  </a:t>
            </a:r>
            <a:r>
              <a:rPr sz="1300" b="1">
                <a:solidFill>
                  <a:srgbClr val="E8EAF2"/>
                </a:solidFill>
                <a:latin typeface="Segoe UI"/>
              </a:rPr>
              <a:t>max</a:t>
            </a:r>
            <a:r>
              <a:rPr sz="1300" b="0">
                <a:solidFill>
                  <a:srgbClr val="E8EAF2"/>
                </a:solidFill>
                <a:latin typeface="Segoe UI"/>
              </a:rPr>
              <a:t> (all our runs): YOLO's probability per pixel; the shape's confidence is ignored.</a:t>
            </a:r>
          </a:p>
          <a:p>
            <a:pPr algn="l">
              <a:spcAft>
                <a:spcPts val="500"/>
              </a:spcAft>
            </a:pPr>
            <a:r>
              <a:rPr sz="1300" b="0">
                <a:solidFill>
                  <a:srgbClr val="E8EAF2"/>
                </a:solidFill>
                <a:latin typeface="Segoe UI"/>
              </a:rPr>
              <a:t>•  </a:t>
            </a:r>
            <a:r>
              <a:rPr sz="1300" b="1">
                <a:solidFill>
                  <a:srgbClr val="E8EAF2"/>
                </a:solidFill>
                <a:latin typeface="Segoe UI"/>
              </a:rPr>
              <a:t>max_weighted:</a:t>
            </a:r>
            <a:r>
              <a:rPr sz="1300" b="0">
                <a:solidFill>
                  <a:srgbClr val="E8EAF2"/>
                </a:solidFill>
                <a:latin typeface="Segoe UI"/>
              </a:rPr>
              <a:t> probability × the shape's confidence, then the same logit × 8.</a:t>
            </a:r>
          </a:p>
        </p:txBody>
      </p:sp>
      <p:sp>
        <p:nvSpPr>
          <p:cNvPr id="9" name="Rectangle 8"/>
          <p:cNvSpPr/>
          <p:nvPr/>
        </p:nvSpPr>
        <p:spPr>
          <a:xfrm>
            <a:off x="6309360" y="1325880"/>
            <a:ext cx="5303520" cy="434340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389888"/>
            <a:ext cx="5029200" cy="274320"/>
          </a:xfrm>
          <a:prstGeom prst="rect">
            <a:avLst/>
          </a:prstGeom>
          <a:noFill/>
        </p:spPr>
        <p:txBody>
          <a:bodyPr wrap="square" anchor="t" lIns="45720" rIns="45720">
            <a:spAutoFit/>
          </a:bodyPr>
          <a:lstStyle/>
          <a:p>
            <a:pPr algn="l">
              <a:spcAft>
                <a:spcPts val="0"/>
              </a:spcAft>
            </a:pPr>
            <a:r>
              <a:rPr sz="1300" b="1">
                <a:solidFill>
                  <a:srgbClr val="FFFFFF"/>
                </a:solidFill>
                <a:latin typeface="Segoe UI"/>
              </a:rPr>
              <a:t>Spread of every hint value on a YOLO shape</a:t>
            </a:r>
          </a:p>
        </p:txBody>
      </p:sp>
      <p:pic>
        <p:nvPicPr>
          <p:cNvPr id="11" name="Picture 10" descr="hv_hist.png"/>
          <p:cNvPicPr>
            <a:picLocks noChangeAspect="1"/>
          </p:cNvPicPr>
          <p:nvPr/>
        </p:nvPicPr>
        <p:blipFill>
          <a:blip r:embed="rId3"/>
          <a:stretch>
            <a:fillRect/>
          </a:stretch>
        </p:blipFill>
        <p:spPr>
          <a:xfrm>
            <a:off x="6790145" y="1691640"/>
            <a:ext cx="4341950" cy="1828800"/>
          </a:xfrm>
          <a:prstGeom prst="rect">
            <a:avLst/>
          </a:prstGeom>
          <a:ln w="9525">
            <a:solidFill>
              <a:srgbClr val="2A2F47"/>
            </a:solidFill>
          </a:ln>
        </p:spPr>
      </p:pic>
      <p:sp>
        <p:nvSpPr>
          <p:cNvPr id="12" name="TextBox 11"/>
          <p:cNvSpPr txBox="1"/>
          <p:nvPr/>
        </p:nvSpPr>
        <p:spPr>
          <a:xfrm>
            <a:off x="6446520" y="3547872"/>
            <a:ext cx="5029200" cy="274320"/>
          </a:xfrm>
          <a:prstGeom prst="rect">
            <a:avLst/>
          </a:prstGeom>
          <a:noFill/>
        </p:spPr>
        <p:txBody>
          <a:bodyPr wrap="square" anchor="t" lIns="45720" rIns="45720">
            <a:spAutoFit/>
          </a:bodyPr>
          <a:lstStyle/>
          <a:p>
            <a:pPr algn="l">
              <a:spcAft>
                <a:spcPts val="0"/>
              </a:spcAft>
            </a:pPr>
            <a:r>
              <a:rPr sz="1300" b="1">
                <a:solidFill>
                  <a:srgbClr val="FFFFFF"/>
                </a:solidFill>
                <a:latin typeface="Segoe UI"/>
              </a:rPr>
              <a:t>Share of a shape saying 'tumour', by its confidence</a:t>
            </a:r>
          </a:p>
        </p:txBody>
      </p:sp>
      <p:pic>
        <p:nvPicPr>
          <p:cNvPr id="13" name="Picture 12" descr="hv_bins.png"/>
          <p:cNvPicPr>
            <a:picLocks noChangeAspect="1"/>
          </p:cNvPicPr>
          <p:nvPr/>
        </p:nvPicPr>
        <p:blipFill>
          <a:blip r:embed="rId4"/>
          <a:stretch>
            <a:fillRect/>
          </a:stretch>
        </p:blipFill>
        <p:spPr>
          <a:xfrm>
            <a:off x="6798862" y="3840480"/>
            <a:ext cx="4324515" cy="1737360"/>
          </a:xfrm>
          <a:prstGeom prst="rect">
            <a:avLst/>
          </a:prstGeom>
          <a:ln w="9525">
            <a:solidFill>
              <a:srgbClr val="2A2F47"/>
            </a:solidFill>
          </a:ln>
        </p:spPr>
      </p:pic>
      <p:sp>
        <p:nvSpPr>
          <p:cNvPr id="14" name="Rounded Rectangle 13"/>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0644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Key takeaway:</a:t>
            </a:r>
            <a:r>
              <a:rPr sz="1600" b="0">
                <a:solidFill>
                  <a:srgbClr val="E8EAF2"/>
                </a:solidFill>
                <a:latin typeface="Segoe UI"/>
              </a:rPr>
              <a:t> max_weighted silences every shape under 0.5 confidence and caps the rest near +24.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METHOD · TEST PATIENT BRATS-GLI-00008-101, SLICE 78</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dirty="0">
                <a:solidFill>
                  <a:schemeClr val="bg1"/>
                </a:solidFill>
                <a:latin typeface="Segoe UI"/>
              </a:rPr>
              <a:t>The mirror check</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12</a:t>
            </a:r>
            <a:endParaRPr sz="1100" b="0" dirty="0">
              <a:solidFill>
                <a:schemeClr val="bg1"/>
              </a:solidFill>
              <a:latin typeface="Segoe UI"/>
            </a:endParaRPr>
          </a:p>
        </p:txBody>
      </p:sp>
      <p:sp>
        <p:nvSpPr>
          <p:cNvPr id="5" name="TextBox 4"/>
          <p:cNvSpPr txBox="1"/>
          <p:nvPr/>
        </p:nvSpPr>
        <p:spPr>
          <a:xfrm>
            <a:off x="548640" y="1298448"/>
            <a:ext cx="150876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Normal patient</a:t>
            </a:r>
          </a:p>
        </p:txBody>
      </p:sp>
      <p:pic>
        <p:nvPicPr>
          <p:cNvPr id="6" name="Picture 5" descr="mirror_in_normal.png"/>
          <p:cNvPicPr>
            <a:picLocks noChangeAspect="1"/>
          </p:cNvPicPr>
          <p:nvPr/>
        </p:nvPicPr>
        <p:blipFill>
          <a:blip r:embed="rId3"/>
          <a:stretch>
            <a:fillRect/>
          </a:stretch>
        </p:blipFill>
        <p:spPr>
          <a:xfrm>
            <a:off x="548640" y="1600200"/>
            <a:ext cx="1488936" cy="1783080"/>
          </a:xfrm>
          <a:prstGeom prst="rect">
            <a:avLst/>
          </a:prstGeom>
          <a:ln w="9525">
            <a:solidFill>
              <a:srgbClr val="2A2F47"/>
            </a:solidFill>
          </a:ln>
        </p:spPr>
      </p:pic>
      <p:sp>
        <p:nvSpPr>
          <p:cNvPr id="7" name="TextBox 6"/>
          <p:cNvSpPr txBox="1"/>
          <p:nvPr/>
        </p:nvSpPr>
        <p:spPr>
          <a:xfrm>
            <a:off x="2148840" y="1298448"/>
            <a:ext cx="150876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Mirrored</a:t>
            </a:r>
          </a:p>
        </p:txBody>
      </p:sp>
      <p:pic>
        <p:nvPicPr>
          <p:cNvPr id="8" name="Picture 7" descr="mirror_in_mirrored.png"/>
          <p:cNvPicPr>
            <a:picLocks noChangeAspect="1"/>
          </p:cNvPicPr>
          <p:nvPr/>
        </p:nvPicPr>
        <p:blipFill>
          <a:blip r:embed="rId4"/>
          <a:stretch>
            <a:fillRect/>
          </a:stretch>
        </p:blipFill>
        <p:spPr>
          <a:xfrm>
            <a:off x="2148840" y="1600200"/>
            <a:ext cx="1488936" cy="1783080"/>
          </a:xfrm>
          <a:prstGeom prst="rect">
            <a:avLst/>
          </a:prstGeom>
          <a:ln w="9525">
            <a:solidFill>
              <a:srgbClr val="2A2F47"/>
            </a:solidFill>
          </a:ln>
        </p:spPr>
      </p:pic>
      <p:sp>
        <p:nvSpPr>
          <p:cNvPr id="9" name="Right Arrow 8"/>
          <p:cNvSpPr/>
          <p:nvPr/>
        </p:nvSpPr>
        <p:spPr>
          <a:xfrm>
            <a:off x="3794760" y="2331720"/>
            <a:ext cx="347472" cy="274320"/>
          </a:xfrm>
          <a:prstGeom prst="rightArrow">
            <a:avLst/>
          </a:prstGeom>
          <a:solidFill>
            <a:srgbClr val="9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 name="Rounded Rectangle 9"/>
          <p:cNvSpPr/>
          <p:nvPr/>
        </p:nvSpPr>
        <p:spPr>
          <a:xfrm>
            <a:off x="4251960" y="1828800"/>
            <a:ext cx="1600200" cy="1280160"/>
          </a:xfrm>
          <a:prstGeom prst="roundRect">
            <a:avLst>
              <a:gd name="adj" fmla="val 12000"/>
            </a:avLst>
          </a:prstGeom>
          <a:solidFill>
            <a:srgbClr val="E0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1" name="TextBox 10"/>
          <p:cNvSpPr txBox="1"/>
          <p:nvPr/>
        </p:nvSpPr>
        <p:spPr>
          <a:xfrm>
            <a:off x="4297680" y="1965960"/>
            <a:ext cx="1508760" cy="338554"/>
          </a:xfrm>
          <a:prstGeom prst="rect">
            <a:avLst/>
          </a:prstGeom>
          <a:noFill/>
        </p:spPr>
        <p:txBody>
          <a:bodyPr wrap="square" lIns="45720" rIns="45720" anchor="t">
            <a:spAutoFit/>
          </a:bodyPr>
          <a:lstStyle/>
          <a:p>
            <a:pPr algn="ctr">
              <a:spcAft>
                <a:spcPts val="0"/>
              </a:spcAft>
            </a:pPr>
            <a:r>
              <a:rPr sz="1600" b="1">
                <a:solidFill>
                  <a:schemeClr val="bg1"/>
                </a:solidFill>
                <a:latin typeface="Segoe UI"/>
              </a:rPr>
              <a:t>MedSAM2</a:t>
            </a:r>
          </a:p>
        </p:txBody>
      </p:sp>
      <p:sp>
        <p:nvSpPr>
          <p:cNvPr id="12" name="TextBox 11"/>
          <p:cNvSpPr txBox="1"/>
          <p:nvPr/>
        </p:nvSpPr>
        <p:spPr>
          <a:xfrm>
            <a:off x="4297680" y="2395728"/>
            <a:ext cx="1508760" cy="461665"/>
          </a:xfrm>
          <a:prstGeom prst="rect">
            <a:avLst/>
          </a:prstGeom>
          <a:noFill/>
        </p:spPr>
        <p:txBody>
          <a:bodyPr wrap="square" lIns="45720" rIns="45720" anchor="t">
            <a:spAutoFit/>
          </a:bodyPr>
          <a:lstStyle/>
          <a:p>
            <a:pPr algn="ctr">
              <a:spcAft>
                <a:spcPts val="0"/>
              </a:spcAft>
            </a:pPr>
            <a:r>
              <a:rPr sz="1200" b="0">
                <a:solidFill>
                  <a:schemeClr val="bg1"/>
                </a:solidFill>
                <a:latin typeface="Segoe UI"/>
              </a:rPr>
              <a:t>both copies
in one batch</a:t>
            </a:r>
          </a:p>
        </p:txBody>
      </p:sp>
      <p:sp>
        <p:nvSpPr>
          <p:cNvPr id="13" name="Right Arrow 12"/>
          <p:cNvSpPr/>
          <p:nvPr/>
        </p:nvSpPr>
        <p:spPr>
          <a:xfrm>
            <a:off x="5943600" y="2331720"/>
            <a:ext cx="347472" cy="274320"/>
          </a:xfrm>
          <a:prstGeom prst="rightArrow">
            <a:avLst/>
          </a:prstGeom>
          <a:solidFill>
            <a:srgbClr val="9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6446520" y="1325880"/>
            <a:ext cx="5166360" cy="1564531"/>
          </a:xfrm>
          <a:prstGeom prst="rect">
            <a:avLst/>
          </a:prstGeom>
          <a:noFill/>
        </p:spPr>
        <p:txBody>
          <a:bodyPr wrap="square" lIns="45720" rIns="45720" anchor="t">
            <a:spAutoFit/>
          </a:bodyPr>
          <a:lstStyle/>
          <a:p>
            <a:pPr algn="l">
              <a:spcAft>
                <a:spcPts val="700"/>
              </a:spcAft>
            </a:pPr>
            <a:r>
              <a:rPr sz="1400" b="0" dirty="0">
                <a:solidFill>
                  <a:schemeClr val="bg1"/>
                </a:solidFill>
                <a:latin typeface="Segoe UI"/>
              </a:rPr>
              <a:t>•  </a:t>
            </a:r>
            <a:r>
              <a:rPr sz="1400" b="1" dirty="0">
                <a:solidFill>
                  <a:schemeClr val="bg1"/>
                </a:solidFill>
                <a:latin typeface="Segoe UI"/>
              </a:rPr>
              <a:t>Same batch:</a:t>
            </a:r>
            <a:r>
              <a:rPr sz="1400" b="0" dirty="0">
                <a:solidFill>
                  <a:schemeClr val="bg1"/>
                </a:solidFill>
                <a:latin typeface="Segoe UI"/>
              </a:rPr>
              <a:t> the normal and the left ↔ right mirrored patient go through both MedSAM2 passes together</a:t>
            </a:r>
            <a:r>
              <a:rPr lang="en-US" sz="1400" b="0" dirty="0">
                <a:solidFill>
                  <a:schemeClr val="bg1"/>
                </a:solidFill>
                <a:latin typeface="Segoe UI"/>
              </a:rPr>
              <a:t>.</a:t>
            </a:r>
            <a:endParaRPr sz="1400" b="0" dirty="0">
              <a:solidFill>
                <a:schemeClr val="bg1"/>
              </a:solidFill>
              <a:latin typeface="Segoe UI"/>
            </a:endParaRPr>
          </a:p>
          <a:p>
            <a:pPr algn="l">
              <a:spcAft>
                <a:spcPts val="700"/>
              </a:spcAft>
            </a:pPr>
            <a:r>
              <a:rPr sz="1400" b="0" dirty="0">
                <a:solidFill>
                  <a:schemeClr val="bg1"/>
                </a:solidFill>
                <a:latin typeface="Segoe UI"/>
              </a:rPr>
              <a:t>•  </a:t>
            </a:r>
            <a:r>
              <a:rPr sz="1400" b="1" dirty="0">
                <a:solidFill>
                  <a:schemeClr val="bg1"/>
                </a:solidFill>
                <a:latin typeface="Segoe UI"/>
              </a:rPr>
              <a:t>Flip back:</a:t>
            </a:r>
            <a:r>
              <a:rPr sz="1400" b="0" dirty="0">
                <a:solidFill>
                  <a:schemeClr val="bg1"/>
                </a:solidFill>
                <a:latin typeface="Segoe UI"/>
              </a:rPr>
              <a:t> the mirrored answer is flipped left ↔ right so it lines up with the normal one.</a:t>
            </a:r>
          </a:p>
          <a:p>
            <a:pPr algn="l">
              <a:spcAft>
                <a:spcPts val="700"/>
              </a:spcAft>
            </a:pPr>
            <a:r>
              <a:rPr sz="1400" b="0" dirty="0">
                <a:solidFill>
                  <a:schemeClr val="bg1"/>
                </a:solidFill>
                <a:latin typeface="Segoe UI"/>
              </a:rPr>
              <a:t>•  </a:t>
            </a:r>
            <a:r>
              <a:rPr sz="1400" b="1" dirty="0">
                <a:solidFill>
                  <a:schemeClr val="bg1"/>
                </a:solidFill>
                <a:latin typeface="Segoe UI"/>
              </a:rPr>
              <a:t>Average per pixel:</a:t>
            </a:r>
            <a:r>
              <a:rPr sz="1400" b="0" dirty="0">
                <a:solidFill>
                  <a:schemeClr val="bg1"/>
                </a:solidFill>
                <a:latin typeface="Segoe UI"/>
              </a:rPr>
              <a:t> the two scores are averaged, then the 50% cut-off makes the final mask.</a:t>
            </a:r>
          </a:p>
        </p:txBody>
      </p:sp>
      <p:sp>
        <p:nvSpPr>
          <p:cNvPr id="15" name="TextBox 14"/>
          <p:cNvSpPr txBox="1"/>
          <p:nvPr/>
        </p:nvSpPr>
        <p:spPr>
          <a:xfrm>
            <a:off x="548640" y="3547872"/>
            <a:ext cx="169164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Normal answer</a:t>
            </a:r>
          </a:p>
        </p:txBody>
      </p:sp>
      <p:pic>
        <p:nvPicPr>
          <p:cNvPr id="16" name="Picture 15" descr="mirror_normal.png"/>
          <p:cNvPicPr>
            <a:picLocks noChangeAspect="1"/>
          </p:cNvPicPr>
          <p:nvPr/>
        </p:nvPicPr>
        <p:blipFill>
          <a:blip r:embed="rId5"/>
          <a:stretch>
            <a:fillRect/>
          </a:stretch>
        </p:blipFill>
        <p:spPr>
          <a:xfrm>
            <a:off x="548640" y="3840480"/>
            <a:ext cx="1676400" cy="1737360"/>
          </a:xfrm>
          <a:prstGeom prst="rect">
            <a:avLst/>
          </a:prstGeom>
          <a:ln w="9525">
            <a:solidFill>
              <a:srgbClr val="2A2F47"/>
            </a:solidFill>
          </a:ln>
        </p:spPr>
      </p:pic>
      <p:sp>
        <p:nvSpPr>
          <p:cNvPr id="17" name="TextBox 16"/>
          <p:cNvSpPr txBox="1"/>
          <p:nvPr/>
        </p:nvSpPr>
        <p:spPr>
          <a:xfrm>
            <a:off x="2377440" y="3547872"/>
            <a:ext cx="169164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Mirror, flipped back</a:t>
            </a:r>
          </a:p>
        </p:txBody>
      </p:sp>
      <p:pic>
        <p:nvPicPr>
          <p:cNvPr id="18" name="Picture 17" descr="mirror_mirror.png"/>
          <p:cNvPicPr>
            <a:picLocks noChangeAspect="1"/>
          </p:cNvPicPr>
          <p:nvPr/>
        </p:nvPicPr>
        <p:blipFill>
          <a:blip r:embed="rId6"/>
          <a:stretch>
            <a:fillRect/>
          </a:stretch>
        </p:blipFill>
        <p:spPr>
          <a:xfrm>
            <a:off x="2377440" y="3840480"/>
            <a:ext cx="1676400" cy="1737360"/>
          </a:xfrm>
          <a:prstGeom prst="rect">
            <a:avLst/>
          </a:prstGeom>
          <a:ln w="9525">
            <a:solidFill>
              <a:srgbClr val="2A2F47"/>
            </a:solidFill>
          </a:ln>
        </p:spPr>
      </p:pic>
      <p:sp>
        <p:nvSpPr>
          <p:cNvPr id="19" name="TextBox 18"/>
          <p:cNvSpPr txBox="1"/>
          <p:nvPr/>
        </p:nvSpPr>
        <p:spPr>
          <a:xfrm>
            <a:off x="4206240" y="3547872"/>
            <a:ext cx="169164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Where they disagree</a:t>
            </a:r>
          </a:p>
        </p:txBody>
      </p:sp>
      <p:pic>
        <p:nvPicPr>
          <p:cNvPr id="20" name="Picture 19" descr="mirror_disagree.png"/>
          <p:cNvPicPr>
            <a:picLocks noChangeAspect="1"/>
          </p:cNvPicPr>
          <p:nvPr/>
        </p:nvPicPr>
        <p:blipFill>
          <a:blip r:embed="rId7"/>
          <a:stretch>
            <a:fillRect/>
          </a:stretch>
        </p:blipFill>
        <p:spPr>
          <a:xfrm>
            <a:off x="4206240" y="3840480"/>
            <a:ext cx="1676400" cy="1737360"/>
          </a:xfrm>
          <a:prstGeom prst="rect">
            <a:avLst/>
          </a:prstGeom>
          <a:ln w="9525">
            <a:solidFill>
              <a:srgbClr val="2A2F47"/>
            </a:solidFill>
          </a:ln>
        </p:spPr>
      </p:pic>
      <p:sp>
        <p:nvSpPr>
          <p:cNvPr id="21" name="TextBox 20"/>
          <p:cNvSpPr txBox="1"/>
          <p:nvPr/>
        </p:nvSpPr>
        <p:spPr>
          <a:xfrm>
            <a:off x="6035040" y="3547872"/>
            <a:ext cx="1691640" cy="274320"/>
          </a:xfrm>
          <a:prstGeom prst="rect">
            <a:avLst/>
          </a:prstGeom>
          <a:noFill/>
        </p:spPr>
        <p:txBody>
          <a:bodyPr wrap="square" lIns="45720" rIns="45720" anchor="t">
            <a:spAutoFit/>
          </a:bodyPr>
          <a:lstStyle/>
          <a:p>
            <a:pPr algn="ctr">
              <a:spcAft>
                <a:spcPts val="0"/>
              </a:spcAft>
            </a:pPr>
            <a:r>
              <a:rPr sz="1200" b="1">
                <a:solidFill>
                  <a:schemeClr val="bg1"/>
                </a:solidFill>
                <a:latin typeface="Segoe UI"/>
              </a:rPr>
              <a:t>Averaged result</a:t>
            </a:r>
          </a:p>
        </p:txBody>
      </p:sp>
      <p:pic>
        <p:nvPicPr>
          <p:cNvPr id="22" name="Picture 21" descr="mirror_result.png"/>
          <p:cNvPicPr>
            <a:picLocks noChangeAspect="1"/>
          </p:cNvPicPr>
          <p:nvPr/>
        </p:nvPicPr>
        <p:blipFill>
          <a:blip r:embed="rId8"/>
          <a:stretch>
            <a:fillRect/>
          </a:stretch>
        </p:blipFill>
        <p:spPr>
          <a:xfrm>
            <a:off x="6035040" y="3840480"/>
            <a:ext cx="1676400" cy="1737360"/>
          </a:xfrm>
          <a:prstGeom prst="rect">
            <a:avLst/>
          </a:prstGeom>
          <a:ln w="9525">
            <a:solidFill>
              <a:srgbClr val="2A2F47"/>
            </a:solidFill>
          </a:ln>
        </p:spPr>
      </p:pic>
      <p:sp>
        <p:nvSpPr>
          <p:cNvPr id="23" name="Rounded Rectangle 22"/>
          <p:cNvSpPr/>
          <p:nvPr/>
        </p:nvSpPr>
        <p:spPr>
          <a:xfrm>
            <a:off x="8008620" y="3840480"/>
            <a:ext cx="3611880" cy="1764792"/>
          </a:xfrm>
          <a:prstGeom prst="roundRect">
            <a:avLst>
              <a:gd name="adj" fmla="val 7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4" name="TextBox 23"/>
          <p:cNvSpPr txBox="1"/>
          <p:nvPr/>
        </p:nvSpPr>
        <p:spPr>
          <a:xfrm>
            <a:off x="8229600" y="3993791"/>
            <a:ext cx="3291840" cy="1246495"/>
          </a:xfrm>
          <a:prstGeom prst="rect">
            <a:avLst/>
          </a:prstGeom>
          <a:noFill/>
        </p:spPr>
        <p:txBody>
          <a:bodyPr wrap="square" lIns="45720" rIns="45720" anchor="t">
            <a:spAutoFit/>
          </a:bodyPr>
          <a:lstStyle/>
          <a:p>
            <a:pPr algn="l">
              <a:spcAft>
                <a:spcPts val="600"/>
              </a:spcAft>
            </a:pPr>
            <a:r>
              <a:rPr sz="1300" b="1" dirty="0">
                <a:solidFill>
                  <a:schemeClr val="bg1"/>
                </a:solidFill>
                <a:latin typeface="Segoe UI"/>
              </a:rPr>
              <a:t>3D Dice, this patient</a:t>
            </a:r>
          </a:p>
          <a:p>
            <a:pPr algn="l">
              <a:spcAft>
                <a:spcPts val="600"/>
              </a:spcAft>
            </a:pPr>
            <a:r>
              <a:rPr sz="1300" b="0" dirty="0">
                <a:solidFill>
                  <a:schemeClr val="bg1"/>
                </a:solidFill>
                <a:latin typeface="Segoe UI"/>
              </a:rPr>
              <a:t>normal 0.8457 · mirrored 0.8554 · </a:t>
            </a:r>
            <a:r>
              <a:rPr sz="1300" b="1" dirty="0">
                <a:solidFill>
                  <a:schemeClr val="bg1"/>
                </a:solidFill>
                <a:latin typeface="Segoe UI"/>
              </a:rPr>
              <a:t>averaged 0.8524</a:t>
            </a:r>
          </a:p>
          <a:p>
            <a:pPr algn="l">
              <a:spcAft>
                <a:spcPts val="600"/>
              </a:spcAft>
            </a:pPr>
            <a:r>
              <a:rPr sz="1300" b="0" dirty="0">
                <a:solidFill>
                  <a:schemeClr val="bg1"/>
                </a:solidFill>
                <a:latin typeface="Segoe UI"/>
              </a:rPr>
              <a:t>The two answers differ on only 1,312 voxels, all at the tumor edge (yellow).</a:t>
            </a:r>
          </a:p>
        </p:txBody>
      </p:sp>
      <p:sp>
        <p:nvSpPr>
          <p:cNvPr id="25" name="TextBox 24"/>
          <p:cNvSpPr txBox="1"/>
          <p:nvPr/>
        </p:nvSpPr>
        <p:spPr>
          <a:xfrm>
            <a:off x="548640" y="5577840"/>
            <a:ext cx="7315200" cy="246221"/>
          </a:xfrm>
          <a:prstGeom prst="rect">
            <a:avLst/>
          </a:prstGeom>
          <a:noFill/>
        </p:spPr>
        <p:txBody>
          <a:bodyPr wrap="square" lIns="45720" rIns="45720" anchor="t">
            <a:spAutoFit/>
          </a:bodyPr>
          <a:lstStyle/>
          <a:p>
            <a:pPr algn="l">
              <a:spcAft>
                <a:spcPts val="0"/>
              </a:spcAft>
            </a:pPr>
            <a:r>
              <a:rPr sz="1000" b="0">
                <a:solidFill>
                  <a:schemeClr val="bg1"/>
                </a:solidFill>
                <a:latin typeface="Segoe UI"/>
              </a:rPr>
              <a:t>Result colours: green = found · yellow = missed · red = drawn, not tumour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METHOD · TRAINING</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a:solidFill>
                  <a:schemeClr val="bg1"/>
                </a:solidFill>
                <a:latin typeface="Segoe UI"/>
              </a:rPr>
              <a:t>MedSAM2 fine-tuning: which parts we train</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13</a:t>
            </a:r>
            <a:endParaRPr sz="1100" b="0" dirty="0">
              <a:solidFill>
                <a:schemeClr val="bg1"/>
              </a:solidFill>
              <a:latin typeface="Segoe UI"/>
            </a:endParaRPr>
          </a:p>
        </p:txBody>
      </p:sp>
      <p:pic>
        <p:nvPicPr>
          <p:cNvPr id="5" name="Picture 4" descr="medsam2_architecture.png"/>
          <p:cNvPicPr>
            <a:picLocks noChangeAspect="1"/>
          </p:cNvPicPr>
          <p:nvPr/>
        </p:nvPicPr>
        <p:blipFill>
          <a:blip r:embed="rId3"/>
          <a:stretch>
            <a:fillRect/>
          </a:stretch>
        </p:blipFill>
        <p:spPr>
          <a:xfrm>
            <a:off x="548640" y="1325880"/>
            <a:ext cx="5760720" cy="1935049"/>
          </a:xfrm>
          <a:prstGeom prst="rect">
            <a:avLst/>
          </a:prstGeom>
          <a:ln w="9525">
            <a:solidFill>
              <a:srgbClr val="2A2F47"/>
            </a:solidFill>
          </a:ln>
        </p:spPr>
      </p:pic>
      <p:sp>
        <p:nvSpPr>
          <p:cNvPr id="6" name="TextBox 5"/>
          <p:cNvSpPr txBox="1"/>
          <p:nvPr/>
        </p:nvSpPr>
        <p:spPr>
          <a:xfrm>
            <a:off x="548640" y="3310128"/>
            <a:ext cx="5760720" cy="246221"/>
          </a:xfrm>
          <a:prstGeom prst="rect">
            <a:avLst/>
          </a:prstGeom>
          <a:noFill/>
        </p:spPr>
        <p:txBody>
          <a:bodyPr wrap="square" lIns="45720" rIns="45720" anchor="t">
            <a:spAutoFit/>
          </a:bodyPr>
          <a:lstStyle/>
          <a:p>
            <a:pPr algn="l">
              <a:spcAft>
                <a:spcPts val="0"/>
              </a:spcAft>
            </a:pPr>
            <a:r>
              <a:rPr sz="1000" b="0" dirty="0">
                <a:solidFill>
                  <a:schemeClr val="bg1"/>
                </a:solidFill>
                <a:latin typeface="Segoe UI"/>
              </a:rPr>
              <a:t>MedSAM2’s </a:t>
            </a:r>
            <a:r>
              <a:rPr lang="en-US" sz="1000" b="0" dirty="0">
                <a:solidFill>
                  <a:schemeClr val="bg1"/>
                </a:solidFill>
                <a:latin typeface="Segoe UI"/>
              </a:rPr>
              <a:t>architecture</a:t>
            </a:r>
            <a:endParaRPr sz="1000" b="0" dirty="0">
              <a:solidFill>
                <a:schemeClr val="bg1"/>
              </a:solidFill>
              <a:latin typeface="Segoe UI"/>
            </a:endParaRPr>
          </a:p>
        </p:txBody>
      </p:sp>
      <p:sp>
        <p:nvSpPr>
          <p:cNvPr id="7" name="TextBox 6"/>
          <p:cNvSpPr txBox="1"/>
          <p:nvPr/>
        </p:nvSpPr>
        <p:spPr>
          <a:xfrm>
            <a:off x="548640" y="3657600"/>
            <a:ext cx="5760720" cy="1577355"/>
          </a:xfrm>
          <a:prstGeom prst="rect">
            <a:avLst/>
          </a:prstGeom>
          <a:noFill/>
        </p:spPr>
        <p:txBody>
          <a:bodyPr wrap="square" lIns="45720" rIns="45720" anchor="t">
            <a:spAutoFit/>
          </a:bodyPr>
          <a:lstStyle/>
          <a:p>
            <a:pPr algn="l">
              <a:spcAft>
                <a:spcPts val="500"/>
              </a:spcAft>
            </a:pPr>
            <a:r>
              <a:rPr sz="1200" b="0" dirty="0">
                <a:solidFill>
                  <a:schemeClr val="bg1"/>
                </a:solidFill>
                <a:latin typeface="Segoe UI"/>
              </a:rPr>
              <a:t>•  </a:t>
            </a:r>
            <a:r>
              <a:rPr sz="1200" b="1" dirty="0">
                <a:solidFill>
                  <a:schemeClr val="bg1"/>
                </a:solidFill>
                <a:latin typeface="Segoe UI"/>
              </a:rPr>
              <a:t>Image encoder:</a:t>
            </a:r>
            <a:r>
              <a:rPr sz="1200" b="0" dirty="0">
                <a:solidFill>
                  <a:schemeClr val="bg1"/>
                </a:solidFill>
                <a:latin typeface="Segoe UI"/>
              </a:rPr>
              <a:t> the biggest part (27 M of 39 M weights). SAM2 trained it on millions of images and MedSAM2 tuned it on medical scans</a:t>
            </a:r>
            <a:r>
              <a:rPr lang="en-US" sz="1200" b="0" dirty="0">
                <a:solidFill>
                  <a:schemeClr val="bg1"/>
                </a:solidFill>
                <a:latin typeface="Segoe UI"/>
              </a:rPr>
              <a:t>,</a:t>
            </a:r>
            <a:r>
              <a:rPr sz="1200" b="0" dirty="0">
                <a:solidFill>
                  <a:schemeClr val="bg1"/>
                </a:solidFill>
                <a:latin typeface="Segoe UI"/>
              </a:rPr>
              <a:t> its features are already good and our data is small.</a:t>
            </a:r>
          </a:p>
          <a:p>
            <a:pPr algn="l">
              <a:spcAft>
                <a:spcPts val="500"/>
              </a:spcAft>
            </a:pPr>
            <a:r>
              <a:rPr sz="1200" b="0" dirty="0">
                <a:solidFill>
                  <a:schemeClr val="bg1"/>
                </a:solidFill>
                <a:latin typeface="Segoe UI"/>
              </a:rPr>
              <a:t>•  </a:t>
            </a:r>
            <a:r>
              <a:rPr sz="1200" b="1" dirty="0">
                <a:solidFill>
                  <a:schemeClr val="bg1"/>
                </a:solidFill>
                <a:latin typeface="Segoe UI"/>
              </a:rPr>
              <a:t>Prompt encoder:</a:t>
            </a:r>
            <a:r>
              <a:rPr sz="1200" b="0" dirty="0">
                <a:solidFill>
                  <a:schemeClr val="bg1"/>
                </a:solidFill>
                <a:latin typeface="Segoe UI"/>
              </a:rPr>
              <a:t> has never seen a soft YOLO hint.</a:t>
            </a:r>
          </a:p>
          <a:p>
            <a:pPr algn="l">
              <a:spcAft>
                <a:spcPts val="500"/>
              </a:spcAft>
            </a:pPr>
            <a:r>
              <a:rPr sz="1200" b="0" dirty="0">
                <a:solidFill>
                  <a:schemeClr val="bg1"/>
                </a:solidFill>
                <a:latin typeface="Segoe UI"/>
              </a:rPr>
              <a:t>•  </a:t>
            </a:r>
            <a:r>
              <a:rPr sz="1200" b="1" dirty="0">
                <a:solidFill>
                  <a:schemeClr val="bg1"/>
                </a:solidFill>
                <a:latin typeface="Segoe UI"/>
              </a:rPr>
              <a:t>Mask decoder:</a:t>
            </a:r>
            <a:r>
              <a:rPr sz="1200" b="0" dirty="0">
                <a:solidFill>
                  <a:schemeClr val="bg1"/>
                </a:solidFill>
                <a:latin typeface="Segoe UI"/>
              </a:rPr>
              <a:t> must learn to trust the hint where it's right and override it where it's wrong.</a:t>
            </a:r>
          </a:p>
          <a:p>
            <a:pPr algn="l">
              <a:spcAft>
                <a:spcPts val="500"/>
              </a:spcAft>
            </a:pPr>
            <a:r>
              <a:rPr sz="1200" b="0" dirty="0">
                <a:solidFill>
                  <a:schemeClr val="bg1"/>
                </a:solidFill>
                <a:latin typeface="Segoe UI"/>
              </a:rPr>
              <a:t>•  </a:t>
            </a:r>
            <a:r>
              <a:rPr sz="1200" b="1" dirty="0">
                <a:solidFill>
                  <a:schemeClr val="bg1"/>
                </a:solidFill>
                <a:latin typeface="Segoe UI"/>
              </a:rPr>
              <a:t>Memory:</a:t>
            </a:r>
            <a:r>
              <a:rPr sz="1200" b="0" dirty="0">
                <a:solidFill>
                  <a:schemeClr val="bg1"/>
                </a:solidFill>
                <a:latin typeface="Segoe UI"/>
              </a:rPr>
              <a:t> must learn to carry the </a:t>
            </a:r>
            <a:r>
              <a:rPr sz="1200" b="0" dirty="0" err="1">
                <a:solidFill>
                  <a:schemeClr val="bg1"/>
                </a:solidFill>
                <a:latin typeface="Segoe UI"/>
              </a:rPr>
              <a:t>tumour</a:t>
            </a:r>
            <a:r>
              <a:rPr sz="1200" b="0" dirty="0">
                <a:solidFill>
                  <a:schemeClr val="bg1"/>
                </a:solidFill>
                <a:latin typeface="Segoe UI"/>
              </a:rPr>
              <a:t> from slice to slice.</a:t>
            </a:r>
          </a:p>
        </p:txBody>
      </p:sp>
      <p:graphicFrame>
        <p:nvGraphicFramePr>
          <p:cNvPr id="8" name="Table 7"/>
          <p:cNvGraphicFramePr>
            <a:graphicFrameLocks noGrp="1"/>
          </p:cNvGraphicFramePr>
          <p:nvPr>
            <p:extLst>
              <p:ext uri="{D42A27DB-BD31-4B8C-83A1-F6EECF244321}">
                <p14:modId xmlns:p14="http://schemas.microsoft.com/office/powerpoint/2010/main" val="1613625950"/>
              </p:ext>
            </p:extLst>
          </p:nvPr>
        </p:nvGraphicFramePr>
        <p:xfrm>
          <a:off x="6492240" y="1325880"/>
          <a:ext cx="5120640" cy="1911096"/>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228600">
                <a:tc>
                  <a:txBody>
                    <a:bodyPr/>
                    <a:lstStyle/>
                    <a:p>
                      <a:pPr algn="l"/>
                      <a:r>
                        <a:rPr sz="1000" b="1">
                          <a:solidFill>
                            <a:srgbClr val="9AA0B8"/>
                          </a:solidFill>
                          <a:latin typeface="Segoe UI"/>
                        </a:rPr>
                        <a:t>Part</a:t>
                      </a:r>
                    </a:p>
                  </a:txBody>
                  <a:tcPr marL="45720" marR="45720" marT="18288" marB="18288" anchor="ctr">
                    <a:solidFill>
                      <a:srgbClr val="232842"/>
                    </a:solidFill>
                  </a:tcPr>
                </a:tc>
                <a:tc>
                  <a:txBody>
                    <a:bodyPr/>
                    <a:lstStyle/>
                    <a:p>
                      <a:pPr algn="l"/>
                      <a:r>
                        <a:rPr sz="1000" b="1">
                          <a:solidFill>
                            <a:srgbClr val="9AA0B8"/>
                          </a:solidFill>
                          <a:latin typeface="Segoe UI"/>
                        </a:rPr>
                        <a:t>Job</a:t>
                      </a:r>
                    </a:p>
                  </a:txBody>
                  <a:tcPr marL="45720" marR="45720" marT="18288" marB="18288" anchor="ctr">
                    <a:solidFill>
                      <a:srgbClr val="232842"/>
                    </a:solidFill>
                  </a:tcPr>
                </a:tc>
                <a:tc>
                  <a:txBody>
                    <a:bodyPr/>
                    <a:lstStyle/>
                    <a:p>
                      <a:pPr algn="l"/>
                      <a:r>
                        <a:rPr sz="1000" b="1">
                          <a:solidFill>
                            <a:srgbClr val="9AA0B8"/>
                          </a:solidFill>
                          <a:latin typeface="Segoe UI"/>
                        </a:rPr>
                        <a:t>Weights</a:t>
                      </a:r>
                    </a:p>
                  </a:txBody>
                  <a:tcPr marL="45720" marR="45720" marT="18288" marB="18288" anchor="ctr">
                    <a:solidFill>
                      <a:srgbClr val="232842"/>
                    </a:solidFill>
                  </a:tcPr>
                </a:tc>
                <a:tc>
                  <a:txBody>
                    <a:bodyPr/>
                    <a:lstStyle/>
                    <a:p>
                      <a:pPr algn="l"/>
                      <a:r>
                        <a:rPr sz="1000" b="1">
                          <a:solidFill>
                            <a:srgbClr val="9AA0B8"/>
                          </a:solidFill>
                          <a:latin typeface="Segoe UI"/>
                        </a:rPr>
                        <a:t>%</a:t>
                      </a:r>
                    </a:p>
                  </a:txBody>
                  <a:tcPr marL="45720" marR="45720" marT="18288" marB="18288" anchor="ctr">
                    <a:solidFill>
                      <a:srgbClr val="232842"/>
                    </a:solidFill>
                  </a:tcPr>
                </a:tc>
                <a:tc>
                  <a:txBody>
                    <a:bodyPr/>
                    <a:lstStyle/>
                    <a:p>
                      <a:pPr algn="l"/>
                      <a:r>
                        <a:rPr sz="1000" b="1">
                          <a:solidFill>
                            <a:srgbClr val="9AA0B8"/>
                          </a:solidFill>
                          <a:latin typeface="Segoe UI"/>
                        </a:rPr>
                        <a:t>Rate</a:t>
                      </a:r>
                    </a:p>
                  </a:txBody>
                  <a:tcPr marL="45720" marR="45720" marT="18288" marB="18288" anchor="ctr">
                    <a:solidFill>
                      <a:srgbClr val="232842"/>
                    </a:solidFill>
                  </a:tcPr>
                </a:tc>
                <a:extLst>
                  <a:ext uri="{0D108BD9-81ED-4DB2-BD59-A6C34878D82A}">
                    <a16:rowId xmlns:a16="http://schemas.microsoft.com/office/drawing/2014/main" val="10000"/>
                  </a:ext>
                </a:extLst>
              </a:tr>
              <a:tr h="228600">
                <a:tc>
                  <a:txBody>
                    <a:bodyPr/>
                    <a:lstStyle/>
                    <a:p>
                      <a:pPr algn="l"/>
                      <a:r>
                        <a:rPr sz="1000" b="1">
                          <a:solidFill>
                            <a:srgbClr val="E8EAF2"/>
                          </a:solidFill>
                          <a:latin typeface="Segoe UI"/>
                        </a:rPr>
                        <a:t>Image encoder</a:t>
                      </a:r>
                    </a:p>
                  </a:txBody>
                  <a:tcPr marL="45720" marR="45720" marT="18288" marB="18288" anchor="ctr">
                    <a:solidFill>
                      <a:srgbClr val="1A1F33"/>
                    </a:solidFill>
                  </a:tcPr>
                </a:tc>
                <a:tc>
                  <a:txBody>
                    <a:bodyPr/>
                    <a:lstStyle/>
                    <a:p>
                      <a:pPr algn="l"/>
                      <a:r>
                        <a:rPr sz="1000" b="0">
                          <a:solidFill>
                            <a:srgbClr val="E8EAF2"/>
                          </a:solidFill>
                          <a:latin typeface="Segoe UI"/>
                        </a:rPr>
                        <a:t>Looks at the slice picture</a:t>
                      </a:r>
                    </a:p>
                  </a:txBody>
                  <a:tcPr marL="45720" marR="45720" marT="18288" marB="18288" anchor="ctr">
                    <a:solidFill>
                      <a:srgbClr val="1A1F33"/>
                    </a:solidFill>
                  </a:tcPr>
                </a:tc>
                <a:tc>
                  <a:txBody>
                    <a:bodyPr/>
                    <a:lstStyle/>
                    <a:p>
                      <a:pPr algn="r"/>
                      <a:r>
                        <a:rPr sz="1000" b="0">
                          <a:solidFill>
                            <a:srgbClr val="E8EAF2"/>
                          </a:solidFill>
                          <a:latin typeface="Segoe UI"/>
                        </a:rPr>
                        <a:t>27.2 M</a:t>
                      </a:r>
                    </a:p>
                  </a:txBody>
                  <a:tcPr marL="45720" marR="45720" marT="18288" marB="18288" anchor="ctr">
                    <a:solidFill>
                      <a:srgbClr val="1A1F33"/>
                    </a:solidFill>
                  </a:tcPr>
                </a:tc>
                <a:tc>
                  <a:txBody>
                    <a:bodyPr/>
                    <a:lstStyle/>
                    <a:p>
                      <a:pPr algn="r"/>
                      <a:r>
                        <a:rPr sz="1000" b="0">
                          <a:solidFill>
                            <a:srgbClr val="E8EAF2"/>
                          </a:solidFill>
                          <a:latin typeface="Segoe UI"/>
                        </a:rPr>
                        <a:t>69.9%</a:t>
                      </a:r>
                    </a:p>
                  </a:txBody>
                  <a:tcPr marL="45720" marR="45720" marT="18288" marB="18288" anchor="ctr">
                    <a:solidFill>
                      <a:srgbClr val="1A1F33"/>
                    </a:solidFill>
                  </a:tcPr>
                </a:tc>
                <a:tc>
                  <a:txBody>
                    <a:bodyPr/>
                    <a:lstStyle/>
                    <a:p>
                      <a:pPr algn="r"/>
                      <a:r>
                        <a:rPr sz="1000" b="0">
                          <a:solidFill>
                            <a:srgbClr val="E8EAF2"/>
                          </a:solidFill>
                          <a:latin typeface="Segoe UI"/>
                        </a:rPr>
                        <a:t>1e-6 *</a:t>
                      </a:r>
                    </a:p>
                  </a:txBody>
                  <a:tcPr marL="45720" marR="45720" marT="18288" marB="18288" anchor="ctr">
                    <a:solidFill>
                      <a:srgbClr val="1A1F33"/>
                    </a:solidFill>
                  </a:tcPr>
                </a:tc>
                <a:extLst>
                  <a:ext uri="{0D108BD9-81ED-4DB2-BD59-A6C34878D82A}">
                    <a16:rowId xmlns:a16="http://schemas.microsoft.com/office/drawing/2014/main" val="10001"/>
                  </a:ext>
                </a:extLst>
              </a:tr>
              <a:tr h="228600">
                <a:tc>
                  <a:txBody>
                    <a:bodyPr/>
                    <a:lstStyle/>
                    <a:p>
                      <a:pPr algn="l"/>
                      <a:r>
                        <a:rPr sz="1000" b="1">
                          <a:solidFill>
                            <a:srgbClr val="E8EAF2"/>
                          </a:solidFill>
                          <a:latin typeface="Segoe UI"/>
                        </a:rPr>
                        <a:t>Memory attention</a:t>
                      </a:r>
                    </a:p>
                  </a:txBody>
                  <a:tcPr marL="45720" marR="45720" marT="18288" marB="18288" anchor="ctr">
                    <a:solidFill>
                      <a:srgbClr val="0F1220"/>
                    </a:solidFill>
                  </a:tcPr>
                </a:tc>
                <a:tc>
                  <a:txBody>
                    <a:bodyPr/>
                    <a:lstStyle/>
                    <a:p>
                      <a:pPr algn="l"/>
                      <a:r>
                        <a:rPr sz="1000" b="0">
                          <a:solidFill>
                            <a:srgbClr val="E8EAF2"/>
                          </a:solidFill>
                          <a:latin typeface="Segoe UI"/>
                        </a:rPr>
                        <a:t>Mixes in memory of earlier slices</a:t>
                      </a:r>
                    </a:p>
                  </a:txBody>
                  <a:tcPr marL="45720" marR="45720" marT="18288" marB="18288" anchor="ctr">
                    <a:solidFill>
                      <a:srgbClr val="0F1220"/>
                    </a:solidFill>
                  </a:tcPr>
                </a:tc>
                <a:tc>
                  <a:txBody>
                    <a:bodyPr/>
                    <a:lstStyle/>
                    <a:p>
                      <a:pPr algn="r"/>
                      <a:r>
                        <a:rPr sz="1000" b="0">
                          <a:solidFill>
                            <a:srgbClr val="E8EAF2"/>
                          </a:solidFill>
                          <a:latin typeface="Segoe UI"/>
                        </a:rPr>
                        <a:t>5.9 M</a:t>
                      </a:r>
                    </a:p>
                  </a:txBody>
                  <a:tcPr marL="45720" marR="45720" marT="18288" marB="18288" anchor="ctr">
                    <a:solidFill>
                      <a:srgbClr val="0F1220"/>
                    </a:solidFill>
                  </a:tcPr>
                </a:tc>
                <a:tc>
                  <a:txBody>
                    <a:bodyPr/>
                    <a:lstStyle/>
                    <a:p>
                      <a:pPr algn="r"/>
                      <a:r>
                        <a:rPr sz="1000" b="0">
                          <a:solidFill>
                            <a:srgbClr val="E8EAF2"/>
                          </a:solidFill>
                          <a:latin typeface="Segoe UI"/>
                        </a:rPr>
                        <a:t>15.2%</a:t>
                      </a:r>
                    </a:p>
                  </a:txBody>
                  <a:tcPr marL="45720" marR="45720" marT="18288" marB="18288" anchor="ctr">
                    <a:solidFill>
                      <a:srgbClr val="0F1220"/>
                    </a:solidFill>
                  </a:tcPr>
                </a:tc>
                <a:tc>
                  <a:txBody>
                    <a:bodyPr/>
                    <a:lstStyle/>
                    <a:p>
                      <a:pPr algn="r"/>
                      <a:r>
                        <a:rPr sz="1000" b="0">
                          <a:solidFill>
                            <a:srgbClr val="E8EAF2"/>
                          </a:solidFill>
                          <a:latin typeface="Segoe UI"/>
                        </a:rPr>
                        <a:t>1e-5</a:t>
                      </a:r>
                    </a:p>
                  </a:txBody>
                  <a:tcPr marL="45720" marR="45720" marT="18288" marB="18288" anchor="ctr">
                    <a:solidFill>
                      <a:srgbClr val="0F1220"/>
                    </a:solidFill>
                  </a:tcPr>
                </a:tc>
                <a:extLst>
                  <a:ext uri="{0D108BD9-81ED-4DB2-BD59-A6C34878D82A}">
                    <a16:rowId xmlns:a16="http://schemas.microsoft.com/office/drawing/2014/main" val="10002"/>
                  </a:ext>
                </a:extLst>
              </a:tr>
              <a:tr h="228600">
                <a:tc>
                  <a:txBody>
                    <a:bodyPr/>
                    <a:lstStyle/>
                    <a:p>
                      <a:pPr algn="l"/>
                      <a:r>
                        <a:rPr sz="1000" b="1">
                          <a:solidFill>
                            <a:srgbClr val="E8EAF2"/>
                          </a:solidFill>
                          <a:latin typeface="Segoe UI"/>
                        </a:rPr>
                        <a:t>Mask decoder</a:t>
                      </a:r>
                    </a:p>
                  </a:txBody>
                  <a:tcPr marL="45720" marR="45720" marT="18288" marB="18288" anchor="ctr">
                    <a:solidFill>
                      <a:srgbClr val="1A1F33"/>
                    </a:solidFill>
                  </a:tcPr>
                </a:tc>
                <a:tc>
                  <a:txBody>
                    <a:bodyPr/>
                    <a:lstStyle/>
                    <a:p>
                      <a:pPr algn="l"/>
                      <a:r>
                        <a:rPr sz="1000" b="0">
                          <a:solidFill>
                            <a:srgbClr val="E8EAF2"/>
                          </a:solidFill>
                          <a:latin typeface="Segoe UI"/>
                        </a:rPr>
                        <a:t>Draws the final mask</a:t>
                      </a:r>
                    </a:p>
                  </a:txBody>
                  <a:tcPr marL="45720" marR="45720" marT="18288" marB="18288" anchor="ctr">
                    <a:solidFill>
                      <a:srgbClr val="1A1F33"/>
                    </a:solidFill>
                  </a:tcPr>
                </a:tc>
                <a:tc>
                  <a:txBody>
                    <a:bodyPr/>
                    <a:lstStyle/>
                    <a:p>
                      <a:pPr algn="r"/>
                      <a:r>
                        <a:rPr sz="1000" b="0">
                          <a:solidFill>
                            <a:srgbClr val="E8EAF2"/>
                          </a:solidFill>
                          <a:latin typeface="Segoe UI"/>
                        </a:rPr>
                        <a:t>4.2 M</a:t>
                      </a:r>
                    </a:p>
                  </a:txBody>
                  <a:tcPr marL="45720" marR="45720" marT="18288" marB="18288" anchor="ctr">
                    <a:solidFill>
                      <a:srgbClr val="1A1F33"/>
                    </a:solidFill>
                  </a:tcPr>
                </a:tc>
                <a:tc>
                  <a:txBody>
                    <a:bodyPr/>
                    <a:lstStyle/>
                    <a:p>
                      <a:pPr algn="r"/>
                      <a:r>
                        <a:rPr sz="1000" b="0">
                          <a:solidFill>
                            <a:srgbClr val="E8EAF2"/>
                          </a:solidFill>
                          <a:latin typeface="Segoe UI"/>
                        </a:rPr>
                        <a:t>10.8%</a:t>
                      </a:r>
                    </a:p>
                  </a:txBody>
                  <a:tcPr marL="45720" marR="45720" marT="18288" marB="18288" anchor="ctr">
                    <a:solidFill>
                      <a:srgbClr val="1A1F33"/>
                    </a:solidFill>
                  </a:tcPr>
                </a:tc>
                <a:tc>
                  <a:txBody>
                    <a:bodyPr/>
                    <a:lstStyle/>
                    <a:p>
                      <a:pPr algn="r"/>
                      <a:r>
                        <a:rPr sz="1000" b="0">
                          <a:solidFill>
                            <a:srgbClr val="E8EAF2"/>
                          </a:solidFill>
                          <a:latin typeface="Segoe UI"/>
                        </a:rPr>
                        <a:t>1e-4</a:t>
                      </a:r>
                    </a:p>
                  </a:txBody>
                  <a:tcPr marL="45720" marR="45720" marT="18288" marB="18288" anchor="ctr">
                    <a:solidFill>
                      <a:srgbClr val="1A1F33"/>
                    </a:solidFill>
                  </a:tcPr>
                </a:tc>
                <a:extLst>
                  <a:ext uri="{0D108BD9-81ED-4DB2-BD59-A6C34878D82A}">
                    <a16:rowId xmlns:a16="http://schemas.microsoft.com/office/drawing/2014/main" val="10003"/>
                  </a:ext>
                </a:extLst>
              </a:tr>
              <a:tr h="228600">
                <a:tc>
                  <a:txBody>
                    <a:bodyPr/>
                    <a:lstStyle/>
                    <a:p>
                      <a:pPr algn="l"/>
                      <a:r>
                        <a:rPr sz="1000" b="1">
                          <a:solidFill>
                            <a:srgbClr val="E8EAF2"/>
                          </a:solidFill>
                          <a:latin typeface="Segoe UI"/>
                        </a:rPr>
                        <a:t>Memory encoder</a:t>
                      </a:r>
                    </a:p>
                  </a:txBody>
                  <a:tcPr marL="45720" marR="45720" marT="18288" marB="18288" anchor="ctr">
                    <a:solidFill>
                      <a:srgbClr val="0F1220"/>
                    </a:solidFill>
                  </a:tcPr>
                </a:tc>
                <a:tc>
                  <a:txBody>
                    <a:bodyPr/>
                    <a:lstStyle/>
                    <a:p>
                      <a:pPr algn="l"/>
                      <a:r>
                        <a:rPr sz="1000" b="0">
                          <a:solidFill>
                            <a:srgbClr val="E8EAF2"/>
                          </a:solidFill>
                          <a:latin typeface="Segoe UI"/>
                        </a:rPr>
                        <a:t>Stores each finished slice</a:t>
                      </a:r>
                    </a:p>
                  </a:txBody>
                  <a:tcPr marL="45720" marR="45720" marT="18288" marB="18288" anchor="ctr">
                    <a:solidFill>
                      <a:srgbClr val="0F1220"/>
                    </a:solidFill>
                  </a:tcPr>
                </a:tc>
                <a:tc>
                  <a:txBody>
                    <a:bodyPr/>
                    <a:lstStyle/>
                    <a:p>
                      <a:pPr algn="r"/>
                      <a:r>
                        <a:rPr sz="1000" b="0">
                          <a:solidFill>
                            <a:srgbClr val="E8EAF2"/>
                          </a:solidFill>
                          <a:latin typeface="Segoe UI"/>
                        </a:rPr>
                        <a:t>1.4 M</a:t>
                      </a:r>
                    </a:p>
                  </a:txBody>
                  <a:tcPr marL="45720" marR="45720" marT="18288" marB="18288" anchor="ctr">
                    <a:solidFill>
                      <a:srgbClr val="0F1220"/>
                    </a:solidFill>
                  </a:tcPr>
                </a:tc>
                <a:tc>
                  <a:txBody>
                    <a:bodyPr/>
                    <a:lstStyle/>
                    <a:p>
                      <a:pPr algn="r"/>
                      <a:r>
                        <a:rPr sz="1000" b="0">
                          <a:solidFill>
                            <a:srgbClr val="E8EAF2"/>
                          </a:solidFill>
                          <a:latin typeface="Segoe UI"/>
                        </a:rPr>
                        <a:t>3.6%</a:t>
                      </a:r>
                    </a:p>
                  </a:txBody>
                  <a:tcPr marL="45720" marR="45720" marT="18288" marB="18288" anchor="ctr">
                    <a:solidFill>
                      <a:srgbClr val="0F1220"/>
                    </a:solidFill>
                  </a:tcPr>
                </a:tc>
                <a:tc>
                  <a:txBody>
                    <a:bodyPr/>
                    <a:lstStyle/>
                    <a:p>
                      <a:pPr algn="r"/>
                      <a:r>
                        <a:rPr sz="1000" b="0">
                          <a:solidFill>
                            <a:srgbClr val="E8EAF2"/>
                          </a:solidFill>
                          <a:latin typeface="Segoe UI"/>
                        </a:rPr>
                        <a:t>1e-5</a:t>
                      </a:r>
                    </a:p>
                  </a:txBody>
                  <a:tcPr marL="45720" marR="45720" marT="18288" marB="18288" anchor="ctr">
                    <a:solidFill>
                      <a:srgbClr val="0F1220"/>
                    </a:solidFill>
                  </a:tcPr>
                </a:tc>
                <a:extLst>
                  <a:ext uri="{0D108BD9-81ED-4DB2-BD59-A6C34878D82A}">
                    <a16:rowId xmlns:a16="http://schemas.microsoft.com/office/drawing/2014/main" val="10004"/>
                  </a:ext>
                </a:extLst>
              </a:tr>
              <a:tr h="228600">
                <a:tc>
                  <a:txBody>
                    <a:bodyPr/>
                    <a:lstStyle/>
                    <a:p>
                      <a:pPr algn="l"/>
                      <a:r>
                        <a:rPr sz="1000" b="1" dirty="0">
                          <a:solidFill>
                            <a:srgbClr val="E8EAF2"/>
                          </a:solidFill>
                          <a:latin typeface="Segoe UI"/>
                        </a:rPr>
                        <a:t>Prompt encoder</a:t>
                      </a:r>
                    </a:p>
                  </a:txBody>
                  <a:tcPr marL="45720" marR="45720" marT="18288" marB="18288" anchor="ctr">
                    <a:solidFill>
                      <a:srgbClr val="0F1220"/>
                    </a:solidFill>
                  </a:tcPr>
                </a:tc>
                <a:tc>
                  <a:txBody>
                    <a:bodyPr/>
                    <a:lstStyle/>
                    <a:p>
                      <a:pPr algn="l"/>
                      <a:r>
                        <a:rPr sz="1000" b="0">
                          <a:solidFill>
                            <a:srgbClr val="E8EAF2"/>
                          </a:solidFill>
                          <a:latin typeface="Segoe UI"/>
                        </a:rPr>
                        <a:t>Reads YOLO's hint</a:t>
                      </a:r>
                    </a:p>
                  </a:txBody>
                  <a:tcPr marL="45720" marR="45720" marT="18288" marB="18288" anchor="ctr">
                    <a:solidFill>
                      <a:srgbClr val="0F1220"/>
                    </a:solidFill>
                  </a:tcPr>
                </a:tc>
                <a:tc>
                  <a:txBody>
                    <a:bodyPr/>
                    <a:lstStyle/>
                    <a:p>
                      <a:pPr algn="r"/>
                      <a:r>
                        <a:rPr sz="1000" b="0">
                          <a:solidFill>
                            <a:srgbClr val="E8EAF2"/>
                          </a:solidFill>
                          <a:latin typeface="Segoe UI"/>
                        </a:rPr>
                        <a:t>6,220</a:t>
                      </a:r>
                    </a:p>
                  </a:txBody>
                  <a:tcPr marL="45720" marR="45720" marT="18288" marB="18288" anchor="ctr">
                    <a:solidFill>
                      <a:srgbClr val="0F1220"/>
                    </a:solidFill>
                  </a:tcPr>
                </a:tc>
                <a:tc>
                  <a:txBody>
                    <a:bodyPr/>
                    <a:lstStyle/>
                    <a:p>
                      <a:pPr algn="r"/>
                      <a:r>
                        <a:rPr sz="1000" b="0">
                          <a:solidFill>
                            <a:srgbClr val="E8EAF2"/>
                          </a:solidFill>
                          <a:latin typeface="Segoe UI"/>
                        </a:rPr>
                        <a:t>0.02%</a:t>
                      </a:r>
                    </a:p>
                  </a:txBody>
                  <a:tcPr marL="45720" marR="45720" marT="18288" marB="18288" anchor="ctr">
                    <a:solidFill>
                      <a:srgbClr val="0F1220"/>
                    </a:solidFill>
                  </a:tcPr>
                </a:tc>
                <a:tc>
                  <a:txBody>
                    <a:bodyPr/>
                    <a:lstStyle/>
                    <a:p>
                      <a:pPr algn="r"/>
                      <a:r>
                        <a:rPr sz="1000" b="0" dirty="0">
                          <a:solidFill>
                            <a:srgbClr val="E8EAF2"/>
                          </a:solidFill>
                          <a:latin typeface="Segoe UI"/>
                        </a:rPr>
                        <a:t>1e-4</a:t>
                      </a:r>
                    </a:p>
                  </a:txBody>
                  <a:tcPr marL="45720" marR="45720" marT="18288" marB="18288" anchor="ctr">
                    <a:solidFill>
                      <a:srgbClr val="0F1220"/>
                    </a:solidFill>
                  </a:tcPr>
                </a:tc>
                <a:extLst>
                  <a:ext uri="{0D108BD9-81ED-4DB2-BD59-A6C34878D82A}">
                    <a16:rowId xmlns:a16="http://schemas.microsoft.com/office/drawing/2014/main" val="10006"/>
                  </a:ext>
                </a:extLst>
              </a:tr>
              <a:tr h="228600">
                <a:tc>
                  <a:txBody>
                    <a:bodyPr/>
                    <a:lstStyle/>
                    <a:p>
                      <a:pPr algn="l"/>
                      <a:r>
                        <a:rPr sz="1000" b="1">
                          <a:solidFill>
                            <a:srgbClr val="E8EAF2"/>
                          </a:solidFill>
                          <a:latin typeface="Segoe UI"/>
                        </a:rPr>
                        <a:t>Small extras</a:t>
                      </a:r>
                    </a:p>
                  </a:txBody>
                  <a:tcPr marL="45720" marR="45720" marT="18288" marB="18288" anchor="ctr">
                    <a:solidFill>
                      <a:srgbClr val="1A1F33"/>
                    </a:solidFill>
                  </a:tcPr>
                </a:tc>
                <a:tc>
                  <a:txBody>
                    <a:bodyPr/>
                    <a:lstStyle/>
                    <a:p>
                      <a:pPr algn="l"/>
                      <a:r>
                        <a:rPr sz="1000" b="0">
                          <a:solidFill>
                            <a:srgbClr val="E8EAF2"/>
                          </a:solidFill>
                          <a:latin typeface="Segoe UI"/>
                        </a:rPr>
                        <a:t>Bookkeeping</a:t>
                      </a:r>
                    </a:p>
                  </a:txBody>
                  <a:tcPr marL="45720" marR="45720" marT="18288" marB="18288" anchor="ctr">
                    <a:solidFill>
                      <a:srgbClr val="1A1F33"/>
                    </a:solidFill>
                  </a:tcPr>
                </a:tc>
                <a:tc>
                  <a:txBody>
                    <a:bodyPr/>
                    <a:lstStyle/>
                    <a:p>
                      <a:pPr algn="r"/>
                      <a:r>
                        <a:rPr sz="1000" b="0">
                          <a:solidFill>
                            <a:srgbClr val="E8EAF2"/>
                          </a:solidFill>
                          <a:latin typeface="Segoe UI"/>
                        </a:rPr>
                        <a:t>18,993</a:t>
                      </a:r>
                    </a:p>
                  </a:txBody>
                  <a:tcPr marL="45720" marR="45720" marT="18288" marB="18288" anchor="ctr">
                    <a:solidFill>
                      <a:srgbClr val="1A1F33"/>
                    </a:solidFill>
                  </a:tcPr>
                </a:tc>
                <a:tc>
                  <a:txBody>
                    <a:bodyPr/>
                    <a:lstStyle/>
                    <a:p>
                      <a:pPr algn="r"/>
                      <a:r>
                        <a:rPr sz="1000" b="0">
                          <a:solidFill>
                            <a:srgbClr val="E8EAF2"/>
                          </a:solidFill>
                          <a:latin typeface="Segoe UI"/>
                        </a:rPr>
                        <a:t>0.05%</a:t>
                      </a:r>
                    </a:p>
                  </a:txBody>
                  <a:tcPr marL="45720" marR="45720" marT="18288" marB="18288" anchor="ctr">
                    <a:solidFill>
                      <a:srgbClr val="1A1F33"/>
                    </a:solidFill>
                  </a:tcPr>
                </a:tc>
                <a:tc>
                  <a:txBody>
                    <a:bodyPr/>
                    <a:lstStyle/>
                    <a:p>
                      <a:pPr algn="r"/>
                      <a:r>
                        <a:rPr sz="1000" b="0" dirty="0">
                          <a:solidFill>
                            <a:srgbClr val="E8EAF2"/>
                          </a:solidFill>
                          <a:latin typeface="Segoe UI"/>
                        </a:rPr>
                        <a:t>frozen</a:t>
                      </a:r>
                    </a:p>
                  </a:txBody>
                  <a:tcPr marL="45720" marR="45720" marT="18288" marB="18288" anchor="ctr">
                    <a:solidFill>
                      <a:srgbClr val="1A1F33"/>
                    </a:solidFill>
                  </a:tcPr>
                </a:tc>
                <a:extLst>
                  <a:ext uri="{0D108BD9-81ED-4DB2-BD59-A6C34878D82A}">
                    <a16:rowId xmlns:a16="http://schemas.microsoft.com/office/drawing/2014/main" val="10007"/>
                  </a:ext>
                </a:extLst>
              </a:tr>
              <a:tr h="228600">
                <a:tc>
                  <a:txBody>
                    <a:bodyPr/>
                    <a:lstStyle/>
                    <a:p>
                      <a:pPr algn="l"/>
                      <a:r>
                        <a:rPr sz="1000" b="1">
                          <a:solidFill>
                            <a:srgbClr val="E8EAF2"/>
                          </a:solidFill>
                          <a:latin typeface="Segoe UI"/>
                        </a:rPr>
                        <a:t>Total</a:t>
                      </a:r>
                    </a:p>
                  </a:txBody>
                  <a:tcPr marL="45720" marR="45720" marT="18288" marB="18288" anchor="ctr">
                    <a:solidFill>
                      <a:srgbClr val="0F1220"/>
                    </a:solidFill>
                  </a:tcPr>
                </a:tc>
                <a:tc>
                  <a:txBody>
                    <a:bodyPr/>
                    <a:lstStyle/>
                    <a:p>
                      <a:pPr algn="l"/>
                      <a:endParaRPr/>
                    </a:p>
                  </a:txBody>
                  <a:tcPr marL="45720" marR="45720" marT="18288" marB="18288" anchor="ctr">
                    <a:solidFill>
                      <a:srgbClr val="0F1220"/>
                    </a:solidFill>
                  </a:tcPr>
                </a:tc>
                <a:tc>
                  <a:txBody>
                    <a:bodyPr/>
                    <a:lstStyle/>
                    <a:p>
                      <a:pPr algn="r"/>
                      <a:r>
                        <a:rPr sz="1000" b="1">
                          <a:solidFill>
                            <a:srgbClr val="E8EAF2"/>
                          </a:solidFill>
                          <a:latin typeface="Segoe UI"/>
                        </a:rPr>
                        <a:t>39.0 M</a:t>
                      </a:r>
                    </a:p>
                  </a:txBody>
                  <a:tcPr marL="45720" marR="45720" marT="18288" marB="18288" anchor="ctr">
                    <a:solidFill>
                      <a:srgbClr val="0F1220"/>
                    </a:solidFill>
                  </a:tcPr>
                </a:tc>
                <a:tc>
                  <a:txBody>
                    <a:bodyPr/>
                    <a:lstStyle/>
                    <a:p>
                      <a:pPr algn="r"/>
                      <a:r>
                        <a:rPr sz="1000" b="1">
                          <a:solidFill>
                            <a:srgbClr val="E8EAF2"/>
                          </a:solidFill>
                          <a:latin typeface="Segoe UI"/>
                        </a:rPr>
                        <a:t>100%</a:t>
                      </a:r>
                    </a:p>
                  </a:txBody>
                  <a:tcPr marL="45720" marR="45720" marT="18288" marB="18288" anchor="ctr">
                    <a:solidFill>
                      <a:srgbClr val="0F1220"/>
                    </a:solidFill>
                  </a:tcPr>
                </a:tc>
                <a:tc>
                  <a:txBody>
                    <a:bodyPr/>
                    <a:lstStyle/>
                    <a:p>
                      <a:pPr algn="r"/>
                      <a:endParaRPr dirty="0"/>
                    </a:p>
                  </a:txBody>
                  <a:tcPr marL="45720" marR="45720" marT="18288" marB="18288" anchor="ctr">
                    <a:solidFill>
                      <a:srgbClr val="0F1220"/>
                    </a:solidFill>
                  </a:tcPr>
                </a:tc>
                <a:extLst>
                  <a:ext uri="{0D108BD9-81ED-4DB2-BD59-A6C34878D82A}">
                    <a16:rowId xmlns:a16="http://schemas.microsoft.com/office/drawing/2014/main" val="10008"/>
                  </a:ext>
                </a:extLst>
              </a:tr>
            </a:tbl>
          </a:graphicData>
        </a:graphic>
      </p:graphicFrame>
      <p:graphicFrame>
        <p:nvGraphicFramePr>
          <p:cNvPr id="9" name="Table 8"/>
          <p:cNvGraphicFramePr>
            <a:graphicFrameLocks noGrp="1"/>
          </p:cNvGraphicFramePr>
          <p:nvPr/>
        </p:nvGraphicFramePr>
        <p:xfrm>
          <a:off x="6492240" y="3794760"/>
          <a:ext cx="5120640" cy="1143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tblGrid>
              <a:tr h="228600">
                <a:tc>
                  <a:txBody>
                    <a:bodyPr/>
                    <a:lstStyle/>
                    <a:p>
                      <a:pPr algn="l"/>
                      <a:r>
                        <a:rPr sz="1000" b="1">
                          <a:solidFill>
                            <a:srgbClr val="9AA0B8"/>
                          </a:solidFill>
                          <a:latin typeface="Segoe UI"/>
                        </a:rPr>
                        <a:t>What trains</a:t>
                      </a:r>
                    </a:p>
                  </a:txBody>
                  <a:tcPr marL="45720" marR="45720" marT="18288" marB="18288" anchor="ctr">
                    <a:solidFill>
                      <a:srgbClr val="232842"/>
                    </a:solidFill>
                  </a:tcPr>
                </a:tc>
                <a:tc>
                  <a:txBody>
                    <a:bodyPr/>
                    <a:lstStyle/>
                    <a:p>
                      <a:pPr algn="l"/>
                      <a:r>
                        <a:rPr sz="1000" b="1">
                          <a:solidFill>
                            <a:srgbClr val="9AA0B8"/>
                          </a:solidFill>
                          <a:latin typeface="Segoe UI"/>
                        </a:rPr>
                        <a:t>Size</a:t>
                      </a:r>
                    </a:p>
                  </a:txBody>
                  <a:tcPr marL="45720" marR="45720" marT="18288" marB="18288" anchor="ctr">
                    <a:solidFill>
                      <a:srgbClr val="232842"/>
                    </a:solidFill>
                  </a:tcPr>
                </a:tc>
                <a:tc>
                  <a:txBody>
                    <a:bodyPr/>
                    <a:lstStyle/>
                    <a:p>
                      <a:pPr algn="l"/>
                      <a:r>
                        <a:rPr sz="1000" b="1">
                          <a:solidFill>
                            <a:srgbClr val="9AA0B8"/>
                          </a:solidFill>
                          <a:latin typeface="Segoe UI"/>
                        </a:rPr>
                        <a:t>Val</a:t>
                      </a:r>
                    </a:p>
                  </a:txBody>
                  <a:tcPr marL="45720" marR="45720" marT="18288" marB="18288" anchor="ctr">
                    <a:solidFill>
                      <a:srgbClr val="232842"/>
                    </a:solidFill>
                  </a:tcPr>
                </a:tc>
                <a:tc>
                  <a:txBody>
                    <a:bodyPr/>
                    <a:lstStyle/>
                    <a:p>
                      <a:pPr algn="l"/>
                      <a:r>
                        <a:rPr sz="1000" b="1">
                          <a:solidFill>
                            <a:srgbClr val="9AA0B8"/>
                          </a:solidFill>
                          <a:latin typeface="Segoe UI"/>
                        </a:rPr>
                        <a:t>Test</a:t>
                      </a:r>
                    </a:p>
                  </a:txBody>
                  <a:tcPr marL="45720" marR="45720" marT="18288" marB="18288" anchor="ctr">
                    <a:solidFill>
                      <a:srgbClr val="232842"/>
                    </a:solidFill>
                  </a:tcPr>
                </a:tc>
                <a:tc>
                  <a:txBody>
                    <a:bodyPr/>
                    <a:lstStyle/>
                    <a:p>
                      <a:pPr algn="l"/>
                      <a:r>
                        <a:rPr sz="1000" b="1">
                          <a:solidFill>
                            <a:srgbClr val="9AA0B8"/>
                          </a:solidFill>
                          <a:latin typeface="Segoe UI"/>
                        </a:rPr>
                        <a:t>Gain</a:t>
                      </a:r>
                    </a:p>
                  </a:txBody>
                  <a:tcPr marL="45720" marR="45720" marT="18288" marB="18288" anchor="ctr">
                    <a:solidFill>
                      <a:srgbClr val="232842"/>
                    </a:solidFill>
                  </a:tcPr>
                </a:tc>
                <a:tc>
                  <a:txBody>
                    <a:bodyPr/>
                    <a:lstStyle/>
                    <a:p>
                      <a:pPr algn="l"/>
                      <a:r>
                        <a:rPr sz="1000" b="1">
                          <a:solidFill>
                            <a:srgbClr val="9AA0B8"/>
                          </a:solidFill>
                          <a:latin typeface="Segoe UI"/>
                        </a:rPr>
                        <a:t>Better/worse</a:t>
                      </a:r>
                    </a:p>
                  </a:txBody>
                  <a:tcPr marL="45720" marR="45720" marT="18288" marB="18288" anchor="ctr">
                    <a:solidFill>
                      <a:srgbClr val="232842"/>
                    </a:solidFill>
                  </a:tcPr>
                </a:tc>
                <a:tc>
                  <a:txBody>
                    <a:bodyPr/>
                    <a:lstStyle/>
                    <a:p>
                      <a:pPr algn="l"/>
                      <a:r>
                        <a:rPr sz="1000" b="1">
                          <a:solidFill>
                            <a:srgbClr val="9AA0B8"/>
                          </a:solidFill>
                          <a:latin typeface="Segoe UI"/>
                        </a:rPr>
                        <a:t>Time</a:t>
                      </a:r>
                    </a:p>
                  </a:txBody>
                  <a:tcPr marL="45720" marR="45720" marT="18288" marB="18288" anchor="ctr">
                    <a:solidFill>
                      <a:srgbClr val="232842"/>
                    </a:solidFill>
                  </a:tcPr>
                </a:tc>
                <a:extLst>
                  <a:ext uri="{0D108BD9-81ED-4DB2-BD59-A6C34878D82A}">
                    <a16:rowId xmlns:a16="http://schemas.microsoft.com/office/drawing/2014/main" val="10000"/>
                  </a:ext>
                </a:extLst>
              </a:tr>
              <a:tr h="228600">
                <a:tc>
                  <a:txBody>
                    <a:bodyPr/>
                    <a:lstStyle/>
                    <a:p>
                      <a:pPr algn="l"/>
                      <a:r>
                        <a:rPr sz="1000" b="1">
                          <a:solidFill>
                            <a:srgbClr val="E8EAF2"/>
                          </a:solidFill>
                          <a:latin typeface="Segoe UI"/>
                        </a:rPr>
                        <a:t>decoder + prompt</a:t>
                      </a:r>
                    </a:p>
                  </a:txBody>
                  <a:tcPr marL="45720" marR="45720" marT="18288" marB="18288" anchor="ctr">
                    <a:solidFill>
                      <a:srgbClr val="1A1F33"/>
                    </a:solidFill>
                  </a:tcPr>
                </a:tc>
                <a:tc>
                  <a:txBody>
                    <a:bodyPr/>
                    <a:lstStyle/>
                    <a:p>
                      <a:pPr algn="r"/>
                      <a:r>
                        <a:rPr sz="1000" b="0">
                          <a:solidFill>
                            <a:srgbClr val="E8EAF2"/>
                          </a:solidFill>
                          <a:latin typeface="Segoe UI"/>
                        </a:rPr>
                        <a:t>4.4 M</a:t>
                      </a:r>
                    </a:p>
                  </a:txBody>
                  <a:tcPr marL="45720" marR="45720" marT="18288" marB="18288" anchor="ctr">
                    <a:solidFill>
                      <a:srgbClr val="1A1F33"/>
                    </a:solidFill>
                  </a:tcPr>
                </a:tc>
                <a:tc>
                  <a:txBody>
                    <a:bodyPr/>
                    <a:lstStyle/>
                    <a:p>
                      <a:pPr algn="r"/>
                      <a:r>
                        <a:rPr sz="1000" b="0">
                          <a:solidFill>
                            <a:srgbClr val="E8EAF2"/>
                          </a:solidFill>
                          <a:latin typeface="Segoe UI"/>
                        </a:rPr>
                        <a:t>0.8910</a:t>
                      </a:r>
                    </a:p>
                  </a:txBody>
                  <a:tcPr marL="45720" marR="45720" marT="18288" marB="18288" anchor="ctr">
                    <a:solidFill>
                      <a:srgbClr val="1A1F33"/>
                    </a:solidFill>
                  </a:tcPr>
                </a:tc>
                <a:tc>
                  <a:txBody>
                    <a:bodyPr/>
                    <a:lstStyle/>
                    <a:p>
                      <a:pPr algn="r"/>
                      <a:r>
                        <a:rPr sz="1000" b="0">
                          <a:solidFill>
                            <a:srgbClr val="E8EAF2"/>
                          </a:solidFill>
                          <a:latin typeface="Segoe UI"/>
                        </a:rPr>
                        <a:t>0.8970</a:t>
                      </a:r>
                    </a:p>
                  </a:txBody>
                  <a:tcPr marL="45720" marR="45720" marT="18288" marB="18288" anchor="ctr">
                    <a:solidFill>
                      <a:srgbClr val="1A1F33"/>
                    </a:solidFill>
                  </a:tcPr>
                </a:tc>
                <a:tc>
                  <a:txBody>
                    <a:bodyPr/>
                    <a:lstStyle/>
                    <a:p>
                      <a:pPr algn="r"/>
                      <a:r>
                        <a:rPr sz="1000" b="0">
                          <a:solidFill>
                            <a:srgbClr val="E8EAF2"/>
                          </a:solidFill>
                          <a:latin typeface="Segoe UI"/>
                        </a:rPr>
                        <a:t>+0.0141</a:t>
                      </a:r>
                    </a:p>
                  </a:txBody>
                  <a:tcPr marL="45720" marR="45720" marT="18288" marB="18288" anchor="ctr">
                    <a:solidFill>
                      <a:srgbClr val="1A1F33"/>
                    </a:solidFill>
                  </a:tcPr>
                </a:tc>
                <a:tc>
                  <a:txBody>
                    <a:bodyPr/>
                    <a:lstStyle/>
                    <a:p>
                      <a:pPr algn="r"/>
                      <a:r>
                        <a:rPr sz="1000" b="0">
                          <a:solidFill>
                            <a:srgbClr val="E8EAF2"/>
                          </a:solidFill>
                          <a:latin typeface="Segoe UI"/>
                        </a:rPr>
                        <a:t>172 / 17</a:t>
                      </a:r>
                    </a:p>
                  </a:txBody>
                  <a:tcPr marL="45720" marR="45720" marT="18288" marB="18288" anchor="ctr">
                    <a:solidFill>
                      <a:srgbClr val="1A1F33"/>
                    </a:solidFill>
                  </a:tcPr>
                </a:tc>
                <a:tc>
                  <a:txBody>
                    <a:bodyPr/>
                    <a:lstStyle/>
                    <a:p>
                      <a:pPr algn="r"/>
                      <a:r>
                        <a:rPr sz="1000" b="0">
                          <a:solidFill>
                            <a:srgbClr val="E8EAF2"/>
                          </a:solidFill>
                          <a:latin typeface="Segoe UI"/>
                        </a:rPr>
                        <a:t>2 h 24</a:t>
                      </a:r>
                    </a:p>
                  </a:txBody>
                  <a:tcPr marL="45720" marR="45720" marT="18288" marB="18288" anchor="ctr">
                    <a:solidFill>
                      <a:srgbClr val="1A1F33"/>
                    </a:solidFill>
                  </a:tcPr>
                </a:tc>
                <a:extLst>
                  <a:ext uri="{0D108BD9-81ED-4DB2-BD59-A6C34878D82A}">
                    <a16:rowId xmlns:a16="http://schemas.microsoft.com/office/drawing/2014/main" val="10001"/>
                  </a:ext>
                </a:extLst>
              </a:tr>
              <a:tr h="228600">
                <a:tc>
                  <a:txBody>
                    <a:bodyPr/>
                    <a:lstStyle/>
                    <a:p>
                      <a:pPr algn="l"/>
                      <a:r>
                        <a:rPr sz="1000" b="1">
                          <a:solidFill>
                            <a:srgbClr val="E8EAF2"/>
                          </a:solidFill>
                          <a:latin typeface="Segoe UI"/>
                        </a:rPr>
                        <a:t>+ memory</a:t>
                      </a:r>
                    </a:p>
                  </a:txBody>
                  <a:tcPr marL="45720" marR="45720" marT="18288" marB="18288" anchor="ctr">
                    <a:solidFill>
                      <a:srgbClr val="0F1220"/>
                    </a:solidFill>
                  </a:tcPr>
                </a:tc>
                <a:tc>
                  <a:txBody>
                    <a:bodyPr/>
                    <a:lstStyle/>
                    <a:p>
                      <a:pPr algn="r"/>
                      <a:r>
                        <a:rPr sz="1000" b="0">
                          <a:solidFill>
                            <a:srgbClr val="E8EAF2"/>
                          </a:solidFill>
                          <a:latin typeface="Segoe UI"/>
                        </a:rPr>
                        <a:t>11.7 M</a:t>
                      </a:r>
                    </a:p>
                  </a:txBody>
                  <a:tcPr marL="45720" marR="45720" marT="18288" marB="18288" anchor="ctr">
                    <a:solidFill>
                      <a:srgbClr val="0F1220"/>
                    </a:solidFill>
                  </a:tcPr>
                </a:tc>
                <a:tc>
                  <a:txBody>
                    <a:bodyPr/>
                    <a:lstStyle/>
                    <a:p>
                      <a:pPr algn="r"/>
                      <a:r>
                        <a:rPr sz="1000" b="0">
                          <a:solidFill>
                            <a:srgbClr val="E8EAF2"/>
                          </a:solidFill>
                          <a:latin typeface="Segoe UI"/>
                        </a:rPr>
                        <a:t>0.8918</a:t>
                      </a:r>
                    </a:p>
                  </a:txBody>
                  <a:tcPr marL="45720" marR="45720" marT="18288" marB="18288" anchor="ctr">
                    <a:solidFill>
                      <a:srgbClr val="0F1220"/>
                    </a:solidFill>
                  </a:tcPr>
                </a:tc>
                <a:tc>
                  <a:txBody>
                    <a:bodyPr/>
                    <a:lstStyle/>
                    <a:p>
                      <a:pPr algn="r"/>
                      <a:r>
                        <a:rPr sz="1000" b="0">
                          <a:solidFill>
                            <a:srgbClr val="E8EAF2"/>
                          </a:solidFill>
                          <a:latin typeface="Segoe UI"/>
                        </a:rPr>
                        <a:t>0.8981</a:t>
                      </a:r>
                    </a:p>
                  </a:txBody>
                  <a:tcPr marL="45720" marR="45720" marT="18288" marB="18288" anchor="ctr">
                    <a:solidFill>
                      <a:srgbClr val="0F1220"/>
                    </a:solidFill>
                  </a:tcPr>
                </a:tc>
                <a:tc>
                  <a:txBody>
                    <a:bodyPr/>
                    <a:lstStyle/>
                    <a:p>
                      <a:pPr algn="r"/>
                      <a:r>
                        <a:rPr sz="1000" b="0">
                          <a:solidFill>
                            <a:srgbClr val="E8EAF2"/>
                          </a:solidFill>
                          <a:latin typeface="Segoe UI"/>
                        </a:rPr>
                        <a:t>+0.0152</a:t>
                      </a:r>
                    </a:p>
                  </a:txBody>
                  <a:tcPr marL="45720" marR="45720" marT="18288" marB="18288" anchor="ctr">
                    <a:solidFill>
                      <a:srgbClr val="0F1220"/>
                    </a:solidFill>
                  </a:tcPr>
                </a:tc>
                <a:tc>
                  <a:txBody>
                    <a:bodyPr/>
                    <a:lstStyle/>
                    <a:p>
                      <a:pPr algn="r"/>
                      <a:r>
                        <a:rPr sz="1000" b="0">
                          <a:solidFill>
                            <a:srgbClr val="E8EAF2"/>
                          </a:solidFill>
                          <a:latin typeface="Segoe UI"/>
                        </a:rPr>
                        <a:t>198 / 19</a:t>
                      </a:r>
                    </a:p>
                  </a:txBody>
                  <a:tcPr marL="45720" marR="45720" marT="18288" marB="18288" anchor="ctr">
                    <a:solidFill>
                      <a:srgbClr val="0F1220"/>
                    </a:solidFill>
                  </a:tcPr>
                </a:tc>
                <a:tc>
                  <a:txBody>
                    <a:bodyPr/>
                    <a:lstStyle/>
                    <a:p>
                      <a:pPr algn="r"/>
                      <a:r>
                        <a:rPr sz="1000" b="0">
                          <a:solidFill>
                            <a:srgbClr val="E8EAF2"/>
                          </a:solidFill>
                          <a:latin typeface="Segoe UI"/>
                        </a:rPr>
                        <a:t>2 h 27</a:t>
                      </a:r>
                    </a:p>
                  </a:txBody>
                  <a:tcPr marL="45720" marR="45720" marT="18288" marB="18288" anchor="ctr">
                    <a:solidFill>
                      <a:srgbClr val="0F1220"/>
                    </a:solidFill>
                  </a:tcPr>
                </a:tc>
                <a:extLst>
                  <a:ext uri="{0D108BD9-81ED-4DB2-BD59-A6C34878D82A}">
                    <a16:rowId xmlns:a16="http://schemas.microsoft.com/office/drawing/2014/main" val="10002"/>
                  </a:ext>
                </a:extLst>
              </a:tr>
              <a:tr h="228600">
                <a:tc>
                  <a:txBody>
                    <a:bodyPr/>
                    <a:lstStyle/>
                    <a:p>
                      <a:pPr algn="l"/>
                      <a:r>
                        <a:rPr sz="1000" b="1">
                          <a:solidFill>
                            <a:srgbClr val="E8EAF2"/>
                          </a:solidFill>
                          <a:latin typeface="Segoe UI"/>
                        </a:rPr>
                        <a:t>all (+ image encoder)</a:t>
                      </a:r>
                    </a:p>
                  </a:txBody>
                  <a:tcPr marL="45720" marR="45720" marT="18288" marB="18288" anchor="ctr">
                    <a:solidFill>
                      <a:srgbClr val="1A1F33"/>
                    </a:solidFill>
                  </a:tcPr>
                </a:tc>
                <a:tc>
                  <a:txBody>
                    <a:bodyPr/>
                    <a:lstStyle/>
                    <a:p>
                      <a:pPr algn="r"/>
                      <a:r>
                        <a:rPr sz="1000" b="0">
                          <a:solidFill>
                            <a:srgbClr val="E8EAF2"/>
                          </a:solidFill>
                          <a:latin typeface="Segoe UI"/>
                        </a:rPr>
                        <a:t>38.9 M</a:t>
                      </a:r>
                    </a:p>
                  </a:txBody>
                  <a:tcPr marL="45720" marR="45720" marT="18288" marB="18288" anchor="ctr">
                    <a:solidFill>
                      <a:srgbClr val="1A1F33"/>
                    </a:solidFill>
                  </a:tcPr>
                </a:tc>
                <a:tc>
                  <a:txBody>
                    <a:bodyPr/>
                    <a:lstStyle/>
                    <a:p>
                      <a:pPr algn="r"/>
                      <a:r>
                        <a:rPr sz="1000" b="0">
                          <a:solidFill>
                            <a:srgbClr val="E8EAF2"/>
                          </a:solidFill>
                          <a:latin typeface="Segoe UI"/>
                        </a:rPr>
                        <a:t>0.8917</a:t>
                      </a:r>
                    </a:p>
                  </a:txBody>
                  <a:tcPr marL="45720" marR="45720" marT="18288" marB="18288" anchor="ctr">
                    <a:solidFill>
                      <a:srgbClr val="1A1F33"/>
                    </a:solidFill>
                  </a:tcPr>
                </a:tc>
                <a:tc>
                  <a:txBody>
                    <a:bodyPr/>
                    <a:lstStyle/>
                    <a:p>
                      <a:pPr algn="r"/>
                      <a:r>
                        <a:rPr sz="1000" b="0">
                          <a:solidFill>
                            <a:srgbClr val="E8EAF2"/>
                          </a:solidFill>
                          <a:latin typeface="Segoe UI"/>
                        </a:rPr>
                        <a:t>0.8997</a:t>
                      </a:r>
                    </a:p>
                  </a:txBody>
                  <a:tcPr marL="45720" marR="45720" marT="18288" marB="18288" anchor="ctr">
                    <a:solidFill>
                      <a:srgbClr val="1A1F33"/>
                    </a:solidFill>
                  </a:tcPr>
                </a:tc>
                <a:tc>
                  <a:txBody>
                    <a:bodyPr/>
                    <a:lstStyle/>
                    <a:p>
                      <a:pPr algn="r"/>
                      <a:r>
                        <a:rPr sz="1000" b="0">
                          <a:solidFill>
                            <a:srgbClr val="E8EAF2"/>
                          </a:solidFill>
                          <a:latin typeface="Segoe UI"/>
                        </a:rPr>
                        <a:t>+0.0168</a:t>
                      </a:r>
                    </a:p>
                  </a:txBody>
                  <a:tcPr marL="45720" marR="45720" marT="18288" marB="18288" anchor="ctr">
                    <a:solidFill>
                      <a:srgbClr val="1A1F33"/>
                    </a:solidFill>
                  </a:tcPr>
                </a:tc>
                <a:tc>
                  <a:txBody>
                    <a:bodyPr/>
                    <a:lstStyle/>
                    <a:p>
                      <a:pPr algn="r"/>
                      <a:r>
                        <a:rPr sz="1000" b="0">
                          <a:solidFill>
                            <a:srgbClr val="E8EAF2"/>
                          </a:solidFill>
                          <a:latin typeface="Segoe UI"/>
                        </a:rPr>
                        <a:t>206 / 14</a:t>
                      </a:r>
                    </a:p>
                  </a:txBody>
                  <a:tcPr marL="45720" marR="45720" marT="18288" marB="18288" anchor="ctr">
                    <a:solidFill>
                      <a:srgbClr val="1A1F33"/>
                    </a:solidFill>
                  </a:tcPr>
                </a:tc>
                <a:tc>
                  <a:txBody>
                    <a:bodyPr/>
                    <a:lstStyle/>
                    <a:p>
                      <a:pPr algn="r"/>
                      <a:r>
                        <a:rPr sz="1000" b="0">
                          <a:solidFill>
                            <a:srgbClr val="E8EAF2"/>
                          </a:solidFill>
                          <a:latin typeface="Segoe UI"/>
                        </a:rPr>
                        <a:t>8 h 29</a:t>
                      </a:r>
                    </a:p>
                  </a:txBody>
                  <a:tcPr marL="45720" marR="45720" marT="18288" marB="18288" anchor="ctr">
                    <a:solidFill>
                      <a:srgbClr val="1A1F33"/>
                    </a:solidFill>
                  </a:tcPr>
                </a:tc>
                <a:extLst>
                  <a:ext uri="{0D108BD9-81ED-4DB2-BD59-A6C34878D82A}">
                    <a16:rowId xmlns:a16="http://schemas.microsoft.com/office/drawing/2014/main" val="10003"/>
                  </a:ext>
                </a:extLst>
              </a:tr>
              <a:tr h="228600">
                <a:tc>
                  <a:txBody>
                    <a:bodyPr/>
                    <a:lstStyle/>
                    <a:p>
                      <a:pPr algn="l"/>
                      <a:r>
                        <a:rPr sz="1000" b="1">
                          <a:solidFill>
                            <a:srgbClr val="E8EAF2"/>
                          </a:solidFill>
                          <a:latin typeface="Segoe UI"/>
                        </a:rPr>
                        <a:t>+ memory, −20 (final)</a:t>
                      </a:r>
                    </a:p>
                  </a:txBody>
                  <a:tcPr marL="45720" marR="45720" marT="18288" marB="18288" anchor="ctr">
                    <a:solidFill>
                      <a:srgbClr val="1A1F33"/>
                    </a:solidFill>
                  </a:tcPr>
                </a:tc>
                <a:tc>
                  <a:txBody>
                    <a:bodyPr/>
                    <a:lstStyle/>
                    <a:p>
                      <a:pPr algn="r"/>
                      <a:r>
                        <a:rPr sz="1000" b="1">
                          <a:solidFill>
                            <a:srgbClr val="E8EAF2"/>
                          </a:solidFill>
                          <a:latin typeface="Segoe UI"/>
                        </a:rPr>
                        <a:t>11.7 M</a:t>
                      </a:r>
                    </a:p>
                  </a:txBody>
                  <a:tcPr marL="45720" marR="45720" marT="18288" marB="18288" anchor="ctr">
                    <a:solidFill>
                      <a:srgbClr val="1A1F33"/>
                    </a:solidFill>
                  </a:tcPr>
                </a:tc>
                <a:tc>
                  <a:txBody>
                    <a:bodyPr/>
                    <a:lstStyle/>
                    <a:p>
                      <a:pPr algn="r"/>
                      <a:r>
                        <a:rPr sz="1000" b="1">
                          <a:solidFill>
                            <a:srgbClr val="E8EAF2"/>
                          </a:solidFill>
                          <a:latin typeface="Segoe UI"/>
                        </a:rPr>
                        <a:t>0.8928</a:t>
                      </a:r>
                    </a:p>
                  </a:txBody>
                  <a:tcPr marL="45720" marR="45720" marT="18288" marB="18288" anchor="ctr">
                    <a:solidFill>
                      <a:srgbClr val="1A1F33"/>
                    </a:solidFill>
                  </a:tcPr>
                </a:tc>
                <a:tc>
                  <a:txBody>
                    <a:bodyPr/>
                    <a:lstStyle/>
                    <a:p>
                      <a:pPr algn="r"/>
                      <a:r>
                        <a:rPr sz="1000" b="1">
                          <a:solidFill>
                            <a:srgbClr val="E8EAF2"/>
                          </a:solidFill>
                          <a:latin typeface="Segoe UI"/>
                        </a:rPr>
                        <a:t>0.8988</a:t>
                      </a:r>
                    </a:p>
                  </a:txBody>
                  <a:tcPr marL="45720" marR="45720" marT="18288" marB="18288" anchor="ctr">
                    <a:solidFill>
                      <a:srgbClr val="1A1F33"/>
                    </a:solidFill>
                  </a:tcPr>
                </a:tc>
                <a:tc>
                  <a:txBody>
                    <a:bodyPr/>
                    <a:lstStyle/>
                    <a:p>
                      <a:pPr algn="r"/>
                      <a:r>
                        <a:rPr sz="1000" b="1">
                          <a:solidFill>
                            <a:srgbClr val="E8EAF2"/>
                          </a:solidFill>
                          <a:latin typeface="Segoe UI"/>
                        </a:rPr>
                        <a:t>+0.0159</a:t>
                      </a:r>
                    </a:p>
                  </a:txBody>
                  <a:tcPr marL="45720" marR="45720" marT="18288" marB="18288" anchor="ctr">
                    <a:solidFill>
                      <a:srgbClr val="1A1F33"/>
                    </a:solidFill>
                  </a:tcPr>
                </a:tc>
                <a:tc>
                  <a:txBody>
                    <a:bodyPr/>
                    <a:lstStyle/>
                    <a:p>
                      <a:pPr algn="r"/>
                      <a:r>
                        <a:rPr sz="1000" b="1">
                          <a:solidFill>
                            <a:srgbClr val="E8EAF2"/>
                          </a:solidFill>
                          <a:latin typeface="Segoe UI"/>
                        </a:rPr>
                        <a:t>200 / 17</a:t>
                      </a:r>
                    </a:p>
                  </a:txBody>
                  <a:tcPr marL="45720" marR="45720" marT="18288" marB="18288" anchor="ctr">
                    <a:solidFill>
                      <a:srgbClr val="1A1F33"/>
                    </a:solidFill>
                  </a:tcPr>
                </a:tc>
                <a:tc>
                  <a:txBody>
                    <a:bodyPr/>
                    <a:lstStyle/>
                    <a:p>
                      <a:pPr algn="r"/>
                      <a:r>
                        <a:rPr sz="1000" b="1">
                          <a:solidFill>
                            <a:srgbClr val="E8EAF2"/>
                          </a:solidFill>
                          <a:latin typeface="Segoe UI"/>
                        </a:rPr>
                        <a:t>3 h 01</a:t>
                      </a:r>
                    </a:p>
                  </a:txBody>
                  <a:tcPr marL="45720" marR="45720" marT="18288" marB="18288" anchor="ctr">
                    <a:solidFill>
                      <a:srgbClr val="1A1F33"/>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92240" y="5074920"/>
            <a:ext cx="5120640" cy="1097280"/>
          </a:xfrm>
          <a:prstGeom prst="rect">
            <a:avLst/>
          </a:prstGeom>
          <a:noFill/>
        </p:spPr>
        <p:txBody>
          <a:bodyPr wrap="square" lIns="45720" rIns="45720" anchor="t">
            <a:spAutoFit/>
          </a:bodyPr>
          <a:lstStyle/>
          <a:p>
            <a:pPr algn="l">
              <a:spcAft>
                <a:spcPts val="200"/>
              </a:spcAft>
            </a:pPr>
            <a:r>
              <a:rPr sz="1100" b="0" dirty="0">
                <a:solidFill>
                  <a:schemeClr val="bg1"/>
                </a:solidFill>
                <a:latin typeface="Segoe UI"/>
              </a:rPr>
              <a:t>•  * the image encoder trains only in 'all'. Gain = test Dice over the YOLO hint (0.8828).</a:t>
            </a:r>
          </a:p>
          <a:p>
            <a:pPr algn="l">
              <a:spcAft>
                <a:spcPts val="200"/>
              </a:spcAft>
            </a:pPr>
            <a:r>
              <a:rPr sz="1100" b="0" dirty="0">
                <a:solidFill>
                  <a:schemeClr val="bg1"/>
                </a:solidFill>
                <a:latin typeface="Segoe UI"/>
              </a:rPr>
              <a:t>•  Final run (bold): best on val (0.8928). Settings were chosen on val, never on test: 'all' scores higher on test but tied on val and took 3.5× longer.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320040"/>
          </a:xfrm>
          <a:prstGeom prst="rect">
            <a:avLst/>
          </a:prstGeom>
          <a:noFill/>
        </p:spPr>
        <p:txBody>
          <a:bodyPr wrap="square" lIns="45720" rIns="45720" anchor="t">
            <a:spAutoFit/>
          </a:bodyPr>
          <a:lstStyle/>
          <a:p>
            <a:pPr algn="l">
              <a:spcAft>
                <a:spcPts val="600"/>
              </a:spcAft>
            </a:pPr>
            <a:r>
              <a:rPr sz="1200" b="0">
                <a:solidFill>
                  <a:srgbClr val="E06A2E"/>
                </a:solidFill>
                <a:latin typeface="Segoe UI"/>
              </a:rPr>
              <a:t>RESULTS</a:t>
            </a:r>
          </a:p>
        </p:txBody>
      </p:sp>
      <p:sp>
        <p:nvSpPr>
          <p:cNvPr id="3" name="TextBox 2"/>
          <p:cNvSpPr txBox="1"/>
          <p:nvPr/>
        </p:nvSpPr>
        <p:spPr>
          <a:xfrm>
            <a:off x="548640" y="475488"/>
            <a:ext cx="11064240" cy="731520"/>
          </a:xfrm>
          <a:prstGeom prst="rect">
            <a:avLst/>
          </a:prstGeom>
          <a:noFill/>
        </p:spPr>
        <p:txBody>
          <a:bodyPr wrap="square" lIns="45720" rIns="45720" anchor="t">
            <a:spAutoFit/>
          </a:bodyPr>
          <a:lstStyle/>
          <a:p>
            <a:pPr algn="l">
              <a:spcAft>
                <a:spcPts val="0"/>
              </a:spcAft>
            </a:pPr>
            <a:r>
              <a:rPr sz="3200" b="0">
                <a:solidFill>
                  <a:srgbClr val="E8EAF2"/>
                </a:solidFill>
                <a:latin typeface="Segoe UI"/>
              </a:rPr>
              <a:t>Results: MedSAM2 beats YOLO's best on test</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14</a:t>
            </a:r>
            <a:endParaRPr sz="1100" b="0" dirty="0">
              <a:solidFill>
                <a:schemeClr val="bg1"/>
              </a:solidFill>
              <a:latin typeface="Segoe UI"/>
            </a:endParaRPr>
          </a:p>
        </p:txBody>
      </p:sp>
      <p:pic>
        <p:nvPicPr>
          <p:cNvPr id="5" name="Picture 4" descr="chart_final_comparison.png"/>
          <p:cNvPicPr>
            <a:picLocks noChangeAspect="1"/>
          </p:cNvPicPr>
          <p:nvPr/>
        </p:nvPicPr>
        <p:blipFill>
          <a:blip r:embed="rId3"/>
          <a:stretch>
            <a:fillRect/>
          </a:stretch>
        </p:blipFill>
        <p:spPr>
          <a:xfrm>
            <a:off x="548640" y="1671930"/>
            <a:ext cx="6035039" cy="3697020"/>
          </a:xfrm>
          <a:prstGeom prst="rect">
            <a:avLst/>
          </a:prstGeom>
          <a:ln w="9525">
            <a:solidFill>
              <a:srgbClr val="2A2F47"/>
            </a:solidFill>
          </a:ln>
        </p:spPr>
      </p:pic>
      <p:sp>
        <p:nvSpPr>
          <p:cNvPr id="6" name="TextBox 5"/>
          <p:cNvSpPr txBox="1"/>
          <p:nvPr/>
        </p:nvSpPr>
        <p:spPr>
          <a:xfrm>
            <a:off x="6858000" y="1463040"/>
            <a:ext cx="4754880" cy="2200602"/>
          </a:xfrm>
          <a:prstGeom prst="rect">
            <a:avLst/>
          </a:prstGeom>
          <a:noFill/>
        </p:spPr>
        <p:txBody>
          <a:bodyPr wrap="square" lIns="45720" rIns="45720" anchor="t">
            <a:spAutoFit/>
          </a:bodyPr>
          <a:lstStyle/>
          <a:p>
            <a:pPr algn="l">
              <a:spcAft>
                <a:spcPts val="1000"/>
              </a:spcAft>
            </a:pPr>
            <a:r>
              <a:rPr sz="1600" b="0" dirty="0">
                <a:solidFill>
                  <a:srgbClr val="E8EAF2"/>
                </a:solidFill>
                <a:latin typeface="Segoe UI"/>
              </a:rPr>
              <a:t>•  </a:t>
            </a:r>
            <a:r>
              <a:rPr sz="1600" b="1" dirty="0">
                <a:solidFill>
                  <a:srgbClr val="E8EAF2"/>
                </a:solidFill>
                <a:latin typeface="Segoe UI"/>
              </a:rPr>
              <a:t>0.8988</a:t>
            </a:r>
            <a:r>
              <a:rPr sz="1600" b="0" dirty="0">
                <a:solidFill>
                  <a:srgbClr val="E8EAF2"/>
                </a:solidFill>
                <a:latin typeface="Segoe UI"/>
              </a:rPr>
              <a:t> vs </a:t>
            </a:r>
            <a:r>
              <a:rPr sz="1600" b="1" dirty="0">
                <a:solidFill>
                  <a:srgbClr val="E8EAF2"/>
                </a:solidFill>
                <a:latin typeface="Segoe UI"/>
              </a:rPr>
              <a:t>0.8834</a:t>
            </a:r>
            <a:r>
              <a:rPr sz="1600" b="0" dirty="0">
                <a:solidFill>
                  <a:srgbClr val="E8EAF2"/>
                </a:solidFill>
                <a:latin typeface="Segoe UI"/>
              </a:rPr>
              <a:t> mean 3D Dice on the same 324 test patients.</a:t>
            </a:r>
          </a:p>
          <a:p>
            <a:pPr algn="l">
              <a:spcAft>
                <a:spcPts val="1000"/>
              </a:spcAft>
            </a:pPr>
            <a:r>
              <a:rPr sz="1600" b="0" dirty="0">
                <a:solidFill>
                  <a:srgbClr val="E8EAF2"/>
                </a:solidFill>
                <a:latin typeface="Segoe UI"/>
              </a:rPr>
              <a:t>•  </a:t>
            </a:r>
            <a:r>
              <a:rPr sz="1600" b="1" dirty="0">
                <a:solidFill>
                  <a:srgbClr val="E8EAF2"/>
                </a:solidFill>
                <a:latin typeface="Segoe UI"/>
              </a:rPr>
              <a:t>185 patients better, 18 worse</a:t>
            </a:r>
            <a:r>
              <a:rPr sz="1600" b="0" dirty="0">
                <a:solidFill>
                  <a:srgbClr val="E8EAF2"/>
                </a:solidFill>
                <a:latin typeface="Segoe UI"/>
              </a:rPr>
              <a:t> (by more than 0.01)</a:t>
            </a:r>
            <a:r>
              <a:rPr lang="en-US" sz="1600" b="0" dirty="0">
                <a:solidFill>
                  <a:srgbClr val="E8EAF2"/>
                </a:solidFill>
                <a:latin typeface="Segoe UI"/>
              </a:rPr>
              <a:t>,</a:t>
            </a:r>
            <a:r>
              <a:rPr sz="1600" b="0" dirty="0">
                <a:solidFill>
                  <a:srgbClr val="E8EAF2"/>
                </a:solidFill>
                <a:latin typeface="Segoe UI"/>
              </a:rPr>
              <a:t> the rest about the same.</a:t>
            </a:r>
          </a:p>
          <a:p>
            <a:pPr algn="l">
              <a:spcAft>
                <a:spcPts val="1000"/>
              </a:spcAft>
            </a:pPr>
            <a:r>
              <a:rPr sz="1600" b="0" dirty="0">
                <a:solidFill>
                  <a:srgbClr val="E8EAF2"/>
                </a:solidFill>
                <a:latin typeface="Segoe UI"/>
              </a:rPr>
              <a:t>•  Found 96.9% of tumor slices and kept 96.4% of empty slices empty.</a:t>
            </a:r>
          </a:p>
          <a:p>
            <a:pPr algn="l">
              <a:spcAft>
                <a:spcPts val="1000"/>
              </a:spcAft>
            </a:pPr>
            <a:r>
              <a:rPr sz="1600" b="0" dirty="0">
                <a:solidFill>
                  <a:srgbClr val="E8EAF2"/>
                </a:solidFill>
                <a:latin typeface="Segoe UI"/>
              </a:rPr>
              <a:t>•  Settings were picked on </a:t>
            </a:r>
            <a:r>
              <a:rPr sz="1600" b="0" dirty="0" err="1">
                <a:solidFill>
                  <a:srgbClr val="E8EAF2"/>
                </a:solidFill>
                <a:latin typeface="Segoe UI"/>
              </a:rPr>
              <a:t>val</a:t>
            </a:r>
            <a:r>
              <a:rPr lang="en-US" sz="1600" dirty="0">
                <a:solidFill>
                  <a:srgbClr val="E8EAF2"/>
                </a:solidFill>
                <a:latin typeface="Segoe UI"/>
              </a:rPr>
              <a:t>,</a:t>
            </a:r>
            <a:r>
              <a:rPr sz="1600" b="0" dirty="0">
                <a:solidFill>
                  <a:srgbClr val="E8EAF2"/>
                </a:solidFill>
                <a:latin typeface="Segoe UI"/>
              </a:rPr>
              <a:t> test was scored once.</a:t>
            </a:r>
          </a:p>
        </p:txBody>
      </p:sp>
      <p:sp>
        <p:nvSpPr>
          <p:cNvPr id="7" name="Rounded Rectangle 6"/>
          <p:cNvSpPr/>
          <p:nvPr/>
        </p:nvSpPr>
        <p:spPr>
          <a:xfrm>
            <a:off x="1389888" y="5920627"/>
            <a:ext cx="8997696"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18488" y="6034814"/>
            <a:ext cx="8769096" cy="338554"/>
          </a:xfrm>
          <a:prstGeom prst="rect">
            <a:avLst/>
          </a:prstGeom>
          <a:noFill/>
        </p:spPr>
        <p:txBody>
          <a:bodyPr wrap="square" lIns="45720" rIns="45720" anchor="ctr">
            <a:spAutoFit/>
          </a:bodyPr>
          <a:lstStyle/>
          <a:p>
            <a:pPr algn="l">
              <a:spcAft>
                <a:spcPts val="0"/>
              </a:spcAft>
            </a:pPr>
            <a:r>
              <a:rPr sz="1600" b="1" dirty="0">
                <a:solidFill>
                  <a:srgbClr val="E8EAF2"/>
                </a:solidFill>
                <a:latin typeface="Segoe UI"/>
              </a:rPr>
              <a:t>Key takeaway:</a:t>
            </a:r>
            <a:r>
              <a:rPr sz="1600" b="0" dirty="0">
                <a:solidFill>
                  <a:srgbClr val="E8EAF2"/>
                </a:solidFill>
                <a:latin typeface="Segoe UI"/>
              </a:rPr>
              <a:t> Adding MedSAM2 gives a consistent, statistically clear gain over the best YOLO.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276999"/>
          </a:xfrm>
          <a:prstGeom prst="rect">
            <a:avLst/>
          </a:prstGeom>
          <a:noFill/>
        </p:spPr>
        <p:txBody>
          <a:bodyPr wrap="square" lIns="45720" rIns="45720" anchor="t">
            <a:spAutoFit/>
          </a:bodyPr>
          <a:lstStyle/>
          <a:p>
            <a:pPr algn="l">
              <a:spcAft>
                <a:spcPts val="600"/>
              </a:spcAft>
            </a:pPr>
            <a:r>
              <a:rPr sz="1200" b="0">
                <a:solidFill>
                  <a:schemeClr val="bg1"/>
                </a:solidFill>
                <a:latin typeface="Segoe UI"/>
              </a:rPr>
              <a:t>RESULTS</a:t>
            </a:r>
          </a:p>
        </p:txBody>
      </p:sp>
      <p:sp>
        <p:nvSpPr>
          <p:cNvPr id="3" name="TextBox 2"/>
          <p:cNvSpPr txBox="1"/>
          <p:nvPr/>
        </p:nvSpPr>
        <p:spPr>
          <a:xfrm>
            <a:off x="548640" y="475488"/>
            <a:ext cx="11064240" cy="584775"/>
          </a:xfrm>
          <a:prstGeom prst="rect">
            <a:avLst/>
          </a:prstGeom>
          <a:noFill/>
        </p:spPr>
        <p:txBody>
          <a:bodyPr wrap="square" lIns="45720" rIns="45720" anchor="t">
            <a:spAutoFit/>
          </a:bodyPr>
          <a:lstStyle/>
          <a:p>
            <a:pPr algn="l">
              <a:spcAft>
                <a:spcPts val="0"/>
              </a:spcAft>
            </a:pPr>
            <a:r>
              <a:rPr sz="3200" b="0">
                <a:solidFill>
                  <a:schemeClr val="bg1"/>
                </a:solidFill>
                <a:latin typeface="Segoe UI"/>
              </a:rPr>
              <a:t>Where it works, and where it struggles</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15</a:t>
            </a:r>
            <a:endParaRPr sz="1100" b="0" dirty="0">
              <a:solidFill>
                <a:schemeClr val="bg1"/>
              </a:solidFill>
              <a:latin typeface="Segoe UI"/>
            </a:endParaRPr>
          </a:p>
        </p:txBody>
      </p:sp>
      <p:pic>
        <p:nvPicPr>
          <p:cNvPr id="5" name="Picture 4" descr="chart_side_size.png"/>
          <p:cNvPicPr>
            <a:picLocks noChangeAspect="1"/>
          </p:cNvPicPr>
          <p:nvPr/>
        </p:nvPicPr>
        <p:blipFill>
          <a:blip r:embed="rId3"/>
          <a:stretch>
            <a:fillRect/>
          </a:stretch>
        </p:blipFill>
        <p:spPr>
          <a:xfrm>
            <a:off x="869429" y="1325880"/>
            <a:ext cx="5667782" cy="2697480"/>
          </a:xfrm>
          <a:prstGeom prst="rect">
            <a:avLst/>
          </a:prstGeom>
          <a:ln w="9525">
            <a:solidFill>
              <a:srgbClr val="2A2F47"/>
            </a:solidFill>
          </a:ln>
        </p:spPr>
      </p:pic>
      <p:sp>
        <p:nvSpPr>
          <p:cNvPr id="6" name="TextBox 5"/>
          <p:cNvSpPr txBox="1"/>
          <p:nvPr/>
        </p:nvSpPr>
        <p:spPr>
          <a:xfrm>
            <a:off x="869429" y="4059936"/>
            <a:ext cx="5667782" cy="261610"/>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Mean MedSAM2 3D Dice by side (rows) and tumour size (columns), test</a:t>
            </a:r>
          </a:p>
        </p:txBody>
      </p:sp>
      <p:pic>
        <p:nvPicPr>
          <p:cNvPr id="7" name="Picture 6" descr="ms_patient_chart.png"/>
          <p:cNvPicPr>
            <a:picLocks noChangeAspect="1"/>
          </p:cNvPicPr>
          <p:nvPr/>
        </p:nvPicPr>
        <p:blipFill>
          <a:blip r:embed="rId4"/>
          <a:stretch>
            <a:fillRect/>
          </a:stretch>
        </p:blipFill>
        <p:spPr>
          <a:xfrm>
            <a:off x="1033480" y="4389120"/>
            <a:ext cx="5339680" cy="1325880"/>
          </a:xfrm>
          <a:prstGeom prst="rect">
            <a:avLst/>
          </a:prstGeom>
          <a:ln w="9525">
            <a:solidFill>
              <a:srgbClr val="2A2F47"/>
            </a:solidFill>
          </a:ln>
        </p:spPr>
      </p:pic>
      <p:sp>
        <p:nvSpPr>
          <p:cNvPr id="8" name="TextBox 7"/>
          <p:cNvSpPr txBox="1"/>
          <p:nvPr/>
        </p:nvSpPr>
        <p:spPr>
          <a:xfrm>
            <a:off x="6766936" y="1518685"/>
            <a:ext cx="5065222" cy="1426031"/>
          </a:xfrm>
          <a:prstGeom prst="rect">
            <a:avLst/>
          </a:prstGeom>
          <a:noFill/>
        </p:spPr>
        <p:txBody>
          <a:bodyPr wrap="square" lIns="45720" rIns="45720" anchor="t">
            <a:spAutoFit/>
          </a:bodyPr>
          <a:lstStyle/>
          <a:p>
            <a:pPr algn="l">
              <a:spcAft>
                <a:spcPts val="1000"/>
              </a:spcAft>
            </a:pPr>
            <a:r>
              <a:rPr sz="1400" b="0" dirty="0">
                <a:solidFill>
                  <a:schemeClr val="bg1"/>
                </a:solidFill>
                <a:latin typeface="Segoe UI"/>
              </a:rPr>
              <a:t>•  </a:t>
            </a:r>
            <a:r>
              <a:rPr sz="1400" b="1" dirty="0">
                <a:solidFill>
                  <a:schemeClr val="bg1"/>
                </a:solidFill>
                <a:latin typeface="Segoe UI"/>
              </a:rPr>
              <a:t>Size matters, side doesn't:</a:t>
            </a:r>
            <a:r>
              <a:rPr sz="1400" b="0" dirty="0">
                <a:solidFill>
                  <a:schemeClr val="bg1"/>
                </a:solidFill>
                <a:latin typeface="Segoe UI"/>
              </a:rPr>
              <a:t> about 0.67–0.73 for tumors under 10 mL vs about 0.93 for 100 mL and up</a:t>
            </a:r>
            <a:r>
              <a:rPr lang="en-US" sz="1400" dirty="0">
                <a:solidFill>
                  <a:schemeClr val="bg1"/>
                </a:solidFill>
                <a:latin typeface="Segoe UI"/>
              </a:rPr>
              <a:t>,</a:t>
            </a:r>
            <a:r>
              <a:rPr sz="1400" b="0" dirty="0">
                <a:solidFill>
                  <a:schemeClr val="bg1"/>
                </a:solidFill>
                <a:latin typeface="Segoe UI"/>
              </a:rPr>
              <a:t> left ≈ right.</a:t>
            </a:r>
          </a:p>
          <a:p>
            <a:pPr algn="l">
              <a:spcAft>
                <a:spcPts val="1000"/>
              </a:spcAft>
            </a:pPr>
            <a:r>
              <a:rPr sz="1400" b="0" dirty="0">
                <a:solidFill>
                  <a:schemeClr val="bg1"/>
                </a:solidFill>
                <a:latin typeface="Segoe UI"/>
              </a:rPr>
              <a:t>•  The </a:t>
            </a:r>
            <a:r>
              <a:rPr sz="1400" b="1" dirty="0">
                <a:solidFill>
                  <a:schemeClr val="bg1"/>
                </a:solidFill>
                <a:latin typeface="Segoe UI"/>
              </a:rPr>
              <a:t>biggest gains</a:t>
            </a:r>
            <a:r>
              <a:rPr sz="1400" b="0" dirty="0">
                <a:solidFill>
                  <a:schemeClr val="bg1"/>
                </a:solidFill>
                <a:latin typeface="Segoe UI"/>
              </a:rPr>
              <a:t> over YOLO are on </a:t>
            </a:r>
            <a:r>
              <a:rPr sz="1400" b="1" dirty="0">
                <a:solidFill>
                  <a:schemeClr val="bg1"/>
                </a:solidFill>
                <a:latin typeface="Segoe UI"/>
              </a:rPr>
              <a:t>small tumors</a:t>
            </a:r>
            <a:r>
              <a:rPr sz="1400" b="0" dirty="0">
                <a:solidFill>
                  <a:schemeClr val="bg1"/>
                </a:solidFill>
                <a:latin typeface="Segoe UI"/>
              </a:rPr>
              <a:t>.</a:t>
            </a:r>
          </a:p>
          <a:p>
            <a:pPr algn="l">
              <a:spcAft>
                <a:spcPts val="1000"/>
              </a:spcAft>
            </a:pPr>
            <a:r>
              <a:rPr sz="1400" b="0" dirty="0">
                <a:solidFill>
                  <a:schemeClr val="bg1"/>
                </a:solidFill>
                <a:latin typeface="Segoe UI"/>
              </a:rPr>
              <a:t>•  Slice by slice (bottom): MedSAM2 follows the tumor through memory and </a:t>
            </a:r>
            <a:r>
              <a:rPr sz="1400" b="1" dirty="0">
                <a:solidFill>
                  <a:schemeClr val="bg1"/>
                </a:solidFill>
                <a:latin typeface="Segoe UI"/>
              </a:rPr>
              <a:t>rejects YOLO's isolated false alarms</a:t>
            </a:r>
            <a:r>
              <a:rPr sz="1400" b="0" dirty="0">
                <a:solidFill>
                  <a:schemeClr val="bg1"/>
                </a:solidFill>
                <a:latin typeface="Segoe UI"/>
              </a:rPr>
              <a:t>.</a:t>
            </a:r>
          </a:p>
        </p:txBody>
      </p:sp>
      <p:sp>
        <p:nvSpPr>
          <p:cNvPr id="9" name="Rounded Rectangle 8"/>
          <p:cNvSpPr/>
          <p:nvPr/>
        </p:nvSpPr>
        <p:spPr>
          <a:xfrm>
            <a:off x="228600" y="6259458"/>
            <a:ext cx="8933688"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0" name="TextBox 9"/>
          <p:cNvSpPr txBox="1"/>
          <p:nvPr/>
        </p:nvSpPr>
        <p:spPr>
          <a:xfrm>
            <a:off x="548640" y="6364778"/>
            <a:ext cx="10744200" cy="338554"/>
          </a:xfrm>
          <a:prstGeom prst="rect">
            <a:avLst/>
          </a:prstGeom>
          <a:noFill/>
        </p:spPr>
        <p:txBody>
          <a:bodyPr wrap="square" lIns="45720" rIns="45720" anchor="ctr">
            <a:spAutoFit/>
          </a:bodyPr>
          <a:lstStyle/>
          <a:p>
            <a:pPr algn="l">
              <a:spcAft>
                <a:spcPts val="0"/>
              </a:spcAft>
            </a:pPr>
            <a:r>
              <a:rPr sz="1600" b="1" dirty="0">
                <a:solidFill>
                  <a:schemeClr val="bg1"/>
                </a:solidFill>
                <a:latin typeface="Segoe UI"/>
              </a:rPr>
              <a:t>Key takeaway:</a:t>
            </a:r>
            <a:r>
              <a:rPr sz="1600" b="0" dirty="0">
                <a:solidFill>
                  <a:schemeClr val="bg1"/>
                </a:solidFill>
                <a:latin typeface="Segoe UI"/>
              </a:rPr>
              <a:t> Tiny tumors remain the weak spot, and they are where MedSAM2 helps most.</a:t>
            </a:r>
          </a:p>
        </p:txBody>
      </p:sp>
      <p:pic>
        <p:nvPicPr>
          <p:cNvPr id="14" name="Picture 13">
            <a:extLst>
              <a:ext uri="{FF2B5EF4-FFF2-40B4-BE49-F238E27FC236}">
                <a16:creationId xmlns:a16="http://schemas.microsoft.com/office/drawing/2014/main" id="{23A033AB-5EC7-A268-88BA-B39809E43CA9}"/>
              </a:ext>
            </a:extLst>
          </p:cNvPr>
          <p:cNvPicPr>
            <a:picLocks noChangeAspect="1"/>
          </p:cNvPicPr>
          <p:nvPr/>
        </p:nvPicPr>
        <p:blipFill>
          <a:blip r:embed="rId5"/>
          <a:stretch>
            <a:fillRect/>
          </a:stretch>
        </p:blipFill>
        <p:spPr>
          <a:xfrm>
            <a:off x="10767130" y="3648310"/>
            <a:ext cx="1240084" cy="1390980"/>
          </a:xfrm>
          <a:prstGeom prst="rect">
            <a:avLst/>
          </a:prstGeom>
        </p:spPr>
      </p:pic>
      <p:pic>
        <p:nvPicPr>
          <p:cNvPr id="16" name="Picture 15">
            <a:extLst>
              <a:ext uri="{FF2B5EF4-FFF2-40B4-BE49-F238E27FC236}">
                <a16:creationId xmlns:a16="http://schemas.microsoft.com/office/drawing/2014/main" id="{69258AE6-08C4-02FD-D6A0-F347D0D0F98C}"/>
              </a:ext>
            </a:extLst>
          </p:cNvPr>
          <p:cNvPicPr>
            <a:picLocks noChangeAspect="1"/>
          </p:cNvPicPr>
          <p:nvPr/>
        </p:nvPicPr>
        <p:blipFill>
          <a:blip r:embed="rId6"/>
          <a:stretch>
            <a:fillRect/>
          </a:stretch>
        </p:blipFill>
        <p:spPr>
          <a:xfrm>
            <a:off x="6773323" y="3602181"/>
            <a:ext cx="1291030" cy="1444105"/>
          </a:xfrm>
          <a:prstGeom prst="rect">
            <a:avLst/>
          </a:prstGeom>
        </p:spPr>
      </p:pic>
      <p:pic>
        <p:nvPicPr>
          <p:cNvPr id="18" name="Picture 17">
            <a:extLst>
              <a:ext uri="{FF2B5EF4-FFF2-40B4-BE49-F238E27FC236}">
                <a16:creationId xmlns:a16="http://schemas.microsoft.com/office/drawing/2014/main" id="{09456277-B170-2012-84F3-C8394DF4EBE3}"/>
              </a:ext>
            </a:extLst>
          </p:cNvPr>
          <p:cNvPicPr>
            <a:picLocks noChangeAspect="1"/>
          </p:cNvPicPr>
          <p:nvPr/>
        </p:nvPicPr>
        <p:blipFill>
          <a:blip r:embed="rId7"/>
          <a:stretch>
            <a:fillRect/>
          </a:stretch>
        </p:blipFill>
        <p:spPr>
          <a:xfrm>
            <a:off x="8728158" y="3636480"/>
            <a:ext cx="1240084" cy="1402810"/>
          </a:xfrm>
          <a:prstGeom prst="rect">
            <a:avLst/>
          </a:prstGeom>
        </p:spPr>
      </p:pic>
      <p:pic>
        <p:nvPicPr>
          <p:cNvPr id="20" name="Picture 19">
            <a:extLst>
              <a:ext uri="{FF2B5EF4-FFF2-40B4-BE49-F238E27FC236}">
                <a16:creationId xmlns:a16="http://schemas.microsoft.com/office/drawing/2014/main" id="{E2A4F213-D1B8-4BDF-8BFB-F8D2BA648E75}"/>
              </a:ext>
            </a:extLst>
          </p:cNvPr>
          <p:cNvPicPr>
            <a:picLocks noChangeAspect="1"/>
          </p:cNvPicPr>
          <p:nvPr/>
        </p:nvPicPr>
        <p:blipFill>
          <a:blip r:embed="rId8"/>
          <a:stretch>
            <a:fillRect/>
          </a:stretch>
        </p:blipFill>
        <p:spPr>
          <a:xfrm>
            <a:off x="10972799" y="5055996"/>
            <a:ext cx="828747" cy="1069147"/>
          </a:xfrm>
          <a:prstGeom prst="rect">
            <a:avLst/>
          </a:prstGeom>
        </p:spPr>
      </p:pic>
      <p:pic>
        <p:nvPicPr>
          <p:cNvPr id="22" name="Picture 21">
            <a:extLst>
              <a:ext uri="{FF2B5EF4-FFF2-40B4-BE49-F238E27FC236}">
                <a16:creationId xmlns:a16="http://schemas.microsoft.com/office/drawing/2014/main" id="{F3669935-C852-AB17-242A-8BABE8BF92B8}"/>
              </a:ext>
            </a:extLst>
          </p:cNvPr>
          <p:cNvPicPr>
            <a:picLocks noChangeAspect="1"/>
          </p:cNvPicPr>
          <p:nvPr/>
        </p:nvPicPr>
        <p:blipFill>
          <a:blip r:embed="rId9"/>
          <a:stretch>
            <a:fillRect/>
          </a:stretch>
        </p:blipFill>
        <p:spPr>
          <a:xfrm>
            <a:off x="6937450" y="5067476"/>
            <a:ext cx="879351" cy="1046535"/>
          </a:xfrm>
          <a:prstGeom prst="rect">
            <a:avLst/>
          </a:prstGeom>
        </p:spPr>
      </p:pic>
      <p:pic>
        <p:nvPicPr>
          <p:cNvPr id="24" name="Picture 23">
            <a:extLst>
              <a:ext uri="{FF2B5EF4-FFF2-40B4-BE49-F238E27FC236}">
                <a16:creationId xmlns:a16="http://schemas.microsoft.com/office/drawing/2014/main" id="{F1C5A2F9-2EAE-266E-4DCC-D33195ED5735}"/>
              </a:ext>
            </a:extLst>
          </p:cNvPr>
          <p:cNvPicPr>
            <a:picLocks noChangeAspect="1"/>
          </p:cNvPicPr>
          <p:nvPr/>
        </p:nvPicPr>
        <p:blipFill>
          <a:blip r:embed="rId10"/>
          <a:stretch>
            <a:fillRect/>
          </a:stretch>
        </p:blipFill>
        <p:spPr>
          <a:xfrm>
            <a:off x="9299547" y="5078629"/>
            <a:ext cx="828747" cy="1030510"/>
          </a:xfrm>
          <a:prstGeom prst="rect">
            <a:avLst/>
          </a:prstGeom>
        </p:spPr>
      </p:pic>
      <p:pic>
        <p:nvPicPr>
          <p:cNvPr id="26" name="Picture 25">
            <a:extLst>
              <a:ext uri="{FF2B5EF4-FFF2-40B4-BE49-F238E27FC236}">
                <a16:creationId xmlns:a16="http://schemas.microsoft.com/office/drawing/2014/main" id="{41DEF098-A21B-2C35-8DC3-7B90EBA5C419}"/>
              </a:ext>
            </a:extLst>
          </p:cNvPr>
          <p:cNvPicPr>
            <a:picLocks noChangeAspect="1"/>
          </p:cNvPicPr>
          <p:nvPr/>
        </p:nvPicPr>
        <p:blipFill>
          <a:blip r:embed="rId11"/>
          <a:stretch>
            <a:fillRect/>
          </a:stretch>
        </p:blipFill>
        <p:spPr>
          <a:xfrm>
            <a:off x="8424474" y="5094914"/>
            <a:ext cx="847641" cy="991310"/>
          </a:xfrm>
          <a:prstGeom prst="rect">
            <a:avLst/>
          </a:prstGeom>
        </p:spPr>
      </p:pic>
      <p:sp>
        <p:nvSpPr>
          <p:cNvPr id="6" name="TextBox 5"/>
          <p:cNvSpPr txBox="1"/>
          <p:nvPr/>
        </p:nvSpPr>
        <p:spPr>
          <a:xfrm>
            <a:off x="6766560" y="3035808"/>
            <a:ext cx="5394960" cy="256032"/>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Where the tumour centres are, seen from above</a:t>
            </a:r>
          </a:p>
        </p:txBody>
      </p:sp>
      <p:sp>
        <p:nvSpPr>
          <p:cNvPr id="6" name="TextBox 5"/>
          <p:cNvSpPr txBox="1"/>
          <p:nvPr/>
        </p:nvSpPr>
        <p:spPr>
          <a:xfrm>
            <a:off x="6681883" y="3328416"/>
            <a:ext cx="1473910" cy="256032"/>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Right side</a:t>
            </a:r>
          </a:p>
        </p:txBody>
      </p:sp>
      <p:sp>
        <p:nvSpPr>
          <p:cNvPr id="6" name="TextBox 5"/>
          <p:cNvSpPr txBox="1"/>
          <p:nvPr/>
        </p:nvSpPr>
        <p:spPr>
          <a:xfrm>
            <a:off x="8636718" y="3328416"/>
            <a:ext cx="1422964" cy="256032"/>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Both sides</a:t>
            </a:r>
          </a:p>
        </p:txBody>
      </p:sp>
      <p:sp>
        <p:nvSpPr>
          <p:cNvPr id="6" name="TextBox 5"/>
          <p:cNvSpPr txBox="1"/>
          <p:nvPr/>
        </p:nvSpPr>
        <p:spPr>
          <a:xfrm>
            <a:off x="10675690" y="3328416"/>
            <a:ext cx="1422964" cy="256032"/>
          </a:xfrm>
          <a:prstGeom prst="rect">
            <a:avLst/>
          </a:prstGeom>
          <a:noFill/>
        </p:spPr>
        <p:txBody>
          <a:bodyPr wrap="square" lIns="45720" rIns="45720" anchor="t">
            <a:spAutoFit/>
          </a:bodyPr>
          <a:lstStyle/>
          <a:p>
            <a:pPr algn="ctr">
              <a:spcAft>
                <a:spcPts val="600"/>
              </a:spcAft>
            </a:pPr>
            <a:r>
              <a:rPr sz="1100" b="0">
                <a:solidFill>
                  <a:schemeClr val="bg1"/>
                </a:solidFill>
                <a:latin typeface="Segoe UI"/>
              </a:rPr>
              <a:t>Left side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45720" rIns="45720">
            <a:spAutoFit/>
          </a:bodyPr>
          <a:lstStyle/>
          <a:p>
            <a:pPr algn="l">
              <a:spcAft>
                <a:spcPts val="600"/>
              </a:spcAft>
            </a:pPr>
            <a:r>
              <a:rPr sz="1200" b="0">
                <a:solidFill>
                  <a:srgbClr val="FFFFFF"/>
                </a:solidFill>
                <a:latin typeface="Segoe UI"/>
              </a:rPr>
              <a:t>EXPERIMENTS · WHAT-IF TEST (VAL, 245 PATIENTS)</a:t>
            </a:r>
          </a:p>
        </p:txBody>
      </p:sp>
      <p:sp>
        <p:nvSpPr>
          <p:cNvPr id="3" name="TextBox 2"/>
          <p:cNvSpPr txBox="1"/>
          <p:nvPr/>
        </p:nvSpPr>
        <p:spPr>
          <a:xfrm>
            <a:off x="548640" y="475488"/>
            <a:ext cx="11064240" cy="585216"/>
          </a:xfrm>
          <a:prstGeom prst="rect">
            <a:avLst/>
          </a:prstGeom>
          <a:noFill/>
        </p:spPr>
        <p:txBody>
          <a:bodyPr wrap="square" anchor="t" lIns="45720" rIns="45720">
            <a:spAutoFit/>
          </a:bodyPr>
          <a:lstStyle/>
          <a:p>
            <a:pPr algn="l">
              <a:spcAft>
                <a:spcPts val="0"/>
              </a:spcAft>
            </a:pPr>
            <a:r>
              <a:rPr sz="3200" b="0">
                <a:solidFill>
                  <a:srgbClr val="FFFFFF"/>
                </a:solidFill>
                <a:latin typeface="Segoe UI"/>
              </a:rPr>
              <a:t>What if the start slice were perfect?</a:t>
            </a:r>
          </a:p>
        </p:txBody>
      </p:sp>
      <p:sp>
        <p:nvSpPr>
          <p:cNvPr id="4" name="TextBox 3"/>
          <p:cNvSpPr txBox="1"/>
          <p:nvPr/>
        </p:nvSpPr>
        <p:spPr>
          <a:xfrm>
            <a:off x="10972800" y="6446520"/>
            <a:ext cx="914400" cy="265176"/>
          </a:xfrm>
          <a:prstGeom prst="rect">
            <a:avLst/>
          </a:prstGeom>
          <a:noFill/>
        </p:spPr>
        <p:txBody>
          <a:bodyPr wrap="square" anchor="t" lIns="45720" rIns="45720">
            <a:spAutoFit/>
          </a:bodyPr>
          <a:lstStyle/>
          <a:p>
            <a:pPr algn="r">
              <a:spcAft>
                <a:spcPts val="600"/>
              </a:spcAft>
            </a:pPr>
            <a:r>
              <a:rPr sz="1100" b="0">
                <a:solidFill>
                  <a:srgbClr val="FFFFFF"/>
                </a:solidFill>
                <a:latin typeface="Segoe UI"/>
              </a:rPr>
              <a:t>16</a:t>
            </a:r>
          </a:p>
        </p:txBody>
      </p:sp>
      <p:sp>
        <p:nvSpPr>
          <p:cNvPr id="5" name="Rounded Rectangle 4"/>
          <p:cNvSpPr/>
          <p:nvPr/>
        </p:nvSpPr>
        <p:spPr>
          <a:xfrm>
            <a:off x="548640" y="132588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The test:</a:t>
            </a:r>
            <a:r>
              <a:rPr sz="1600" b="0">
                <a:solidFill>
                  <a:srgbClr val="E8EAF2"/>
                </a:solidFill>
                <a:latin typeface="Segoe UI"/>
              </a:rPr>
              <a:t> same trained MedSAM2, no retraining. Start slice gets the expert mask; all other slices keep YOLO's hint.</a:t>
            </a:r>
          </a:p>
        </p:txBody>
      </p:sp>
      <p:sp>
        <p:nvSpPr>
          <p:cNvPr id="7" name="Rectangle 6"/>
          <p:cNvSpPr/>
          <p:nvPr/>
        </p:nvSpPr>
        <p:spPr>
          <a:xfrm>
            <a:off x="548640" y="2103120"/>
            <a:ext cx="603504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12848"/>
            <a:ext cx="5669280" cy="411480"/>
          </a:xfrm>
          <a:prstGeom prst="rect">
            <a:avLst/>
          </a:prstGeom>
          <a:noFill/>
        </p:spPr>
        <p:txBody>
          <a:bodyPr wrap="square" anchor="t" lIns="45720" rIns="45720">
            <a:spAutoFit/>
          </a:bodyPr>
          <a:lstStyle/>
          <a:p>
            <a:pPr algn="l">
              <a:spcAft>
                <a:spcPts val="0"/>
              </a:spcAft>
            </a:pPr>
            <a:r>
              <a:rPr sz="1900" b="1">
                <a:solidFill>
                  <a:srgbClr val="E06A2E"/>
                </a:solidFill>
                <a:latin typeface="Segoe UI"/>
              </a:rPr>
              <a:t>How it runs</a:t>
            </a:r>
          </a:p>
        </p:txBody>
      </p:sp>
      <p:sp>
        <p:nvSpPr>
          <p:cNvPr id="9" name="Rounded Rectangle 8"/>
          <p:cNvSpPr/>
          <p:nvPr/>
        </p:nvSpPr>
        <p:spPr>
          <a:xfrm>
            <a:off x="864107"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7"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11" name="Rounded Rectangle 10"/>
          <p:cNvSpPr/>
          <p:nvPr/>
        </p:nvSpPr>
        <p:spPr>
          <a:xfrm>
            <a:off x="1476755"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76755"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13" name="Rounded Rectangle 12"/>
          <p:cNvSpPr/>
          <p:nvPr/>
        </p:nvSpPr>
        <p:spPr>
          <a:xfrm>
            <a:off x="2089403"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89403"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15" name="Rounded Rectangle 14"/>
          <p:cNvSpPr/>
          <p:nvPr/>
        </p:nvSpPr>
        <p:spPr>
          <a:xfrm>
            <a:off x="2702052"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2052"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17" name="Rounded Rectangle 16"/>
          <p:cNvSpPr/>
          <p:nvPr/>
        </p:nvSpPr>
        <p:spPr>
          <a:xfrm>
            <a:off x="3314700" y="2788920"/>
            <a:ext cx="502920" cy="1051560"/>
          </a:xfrm>
          <a:prstGeom prst="roundRect">
            <a:avLst>
              <a:gd name="adj" fmla="val 12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14700" y="2788920"/>
            <a:ext cx="502920" cy="1051560"/>
          </a:xfrm>
          <a:prstGeom prst="rect">
            <a:avLst/>
          </a:prstGeom>
          <a:noFill/>
        </p:spPr>
        <p:txBody>
          <a:bodyPr wrap="square" anchor="ctr" lIns="45720" rIns="45720">
            <a:spAutoFit/>
          </a:bodyPr>
          <a:lstStyle/>
          <a:p>
            <a:pPr algn="ctr">
              <a:spcAft>
                <a:spcPts val="0"/>
              </a:spcAft>
            </a:pPr>
            <a:r>
              <a:rPr sz="1000" b="1">
                <a:solidFill>
                  <a:srgbClr val="FFFFFF"/>
                </a:solidFill>
                <a:latin typeface="Segoe UI"/>
              </a:rPr>
              <a:t>Expert</a:t>
            </a:r>
          </a:p>
        </p:txBody>
      </p:sp>
      <p:sp>
        <p:nvSpPr>
          <p:cNvPr id="19" name="Rounded Rectangle 18"/>
          <p:cNvSpPr/>
          <p:nvPr/>
        </p:nvSpPr>
        <p:spPr>
          <a:xfrm>
            <a:off x="3927348"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27348"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21" name="Rounded Rectangle 20"/>
          <p:cNvSpPr/>
          <p:nvPr/>
        </p:nvSpPr>
        <p:spPr>
          <a:xfrm>
            <a:off x="4539996"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9996"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23" name="Rounded Rectangle 22"/>
          <p:cNvSpPr/>
          <p:nvPr/>
        </p:nvSpPr>
        <p:spPr>
          <a:xfrm>
            <a:off x="5152644"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2644"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25" name="Rounded Rectangle 24"/>
          <p:cNvSpPr/>
          <p:nvPr/>
        </p:nvSpPr>
        <p:spPr>
          <a:xfrm>
            <a:off x="5765292" y="2788920"/>
            <a:ext cx="502920" cy="1051560"/>
          </a:xfrm>
          <a:prstGeom prst="roundRect">
            <a:avLst>
              <a:gd name="adj" fmla="val 12000"/>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5292" y="2788920"/>
            <a:ext cx="502920" cy="1051560"/>
          </a:xfrm>
          <a:prstGeom prst="rect">
            <a:avLst/>
          </a:prstGeom>
          <a:noFill/>
        </p:spPr>
        <p:txBody>
          <a:bodyPr wrap="square" anchor="ctr" lIns="45720" rIns="45720">
            <a:spAutoFit/>
          </a:bodyPr>
          <a:lstStyle/>
          <a:p>
            <a:pPr algn="ctr">
              <a:spcAft>
                <a:spcPts val="0"/>
              </a:spcAft>
            </a:pPr>
            <a:r>
              <a:rPr sz="1000" b="0">
                <a:solidFill>
                  <a:srgbClr val="FFFFFF"/>
                </a:solidFill>
                <a:latin typeface="Segoe UI"/>
              </a:rPr>
              <a:t>YOLO</a:t>
            </a:r>
          </a:p>
        </p:txBody>
      </p:sp>
      <p:sp>
        <p:nvSpPr>
          <p:cNvPr id="27" name="TextBox 26"/>
          <p:cNvSpPr txBox="1"/>
          <p:nvPr/>
        </p:nvSpPr>
        <p:spPr>
          <a:xfrm>
            <a:off x="864107" y="3913631"/>
            <a:ext cx="2377440" cy="320040"/>
          </a:xfrm>
          <a:prstGeom prst="rect">
            <a:avLst/>
          </a:prstGeom>
          <a:noFill/>
        </p:spPr>
        <p:txBody>
          <a:bodyPr wrap="square" anchor="t" lIns="45720" rIns="45720">
            <a:spAutoFit/>
          </a:bodyPr>
          <a:lstStyle/>
          <a:p>
            <a:pPr algn="l">
              <a:spcAft>
                <a:spcPts val="0"/>
              </a:spcAft>
            </a:pPr>
            <a:r>
              <a:rPr sz="1300" b="0">
                <a:solidFill>
                  <a:srgbClr val="FFFFFF"/>
                </a:solidFill>
                <a:latin typeface="Segoe UI"/>
              </a:rPr>
              <a:t>◀  memory carries it up</a:t>
            </a:r>
          </a:p>
        </p:txBody>
      </p:sp>
      <p:sp>
        <p:nvSpPr>
          <p:cNvPr id="28" name="TextBox 27"/>
          <p:cNvSpPr txBox="1"/>
          <p:nvPr/>
        </p:nvSpPr>
        <p:spPr>
          <a:xfrm>
            <a:off x="3890771" y="3913631"/>
            <a:ext cx="2377440" cy="320040"/>
          </a:xfrm>
          <a:prstGeom prst="rect">
            <a:avLst/>
          </a:prstGeom>
          <a:noFill/>
        </p:spPr>
        <p:txBody>
          <a:bodyPr wrap="square" anchor="t" lIns="45720" rIns="45720">
            <a:spAutoFit/>
          </a:bodyPr>
          <a:lstStyle/>
          <a:p>
            <a:pPr algn="r">
              <a:spcAft>
                <a:spcPts val="0"/>
              </a:spcAft>
            </a:pPr>
            <a:r>
              <a:rPr sz="1300" b="0">
                <a:solidFill>
                  <a:srgbClr val="FFFFFF"/>
                </a:solidFill>
                <a:latin typeface="Segoe UI"/>
              </a:rPr>
              <a:t>and down  ▶</a:t>
            </a:r>
          </a:p>
        </p:txBody>
      </p:sp>
      <p:sp>
        <p:nvSpPr>
          <p:cNvPr id="29" name="Rectangle 28"/>
          <p:cNvSpPr/>
          <p:nvPr/>
        </p:nvSpPr>
        <p:spPr>
          <a:xfrm>
            <a:off x="777240" y="4434840"/>
            <a:ext cx="182880" cy="182880"/>
          </a:xfrm>
          <a:prstGeom prst="rect">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370832"/>
            <a:ext cx="5303520" cy="32004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Start slice: </a:t>
            </a:r>
            <a:r>
              <a:rPr sz="1300" b="1">
                <a:solidFill>
                  <a:srgbClr val="E8EAF2"/>
                </a:solidFill>
                <a:latin typeface="Segoe UI"/>
              </a:rPr>
              <a:t>the expert mask</a:t>
            </a:r>
            <a:r>
              <a:rPr sz="1300" b="0">
                <a:solidFill>
                  <a:srgbClr val="E8EAF2"/>
                </a:solidFill>
                <a:latin typeface="Segoe UI"/>
              </a:rPr>
              <a:t> (fully sure)</a:t>
            </a:r>
          </a:p>
        </p:txBody>
      </p:sp>
      <p:sp>
        <p:nvSpPr>
          <p:cNvPr id="31" name="Rectangle 30"/>
          <p:cNvSpPr/>
          <p:nvPr/>
        </p:nvSpPr>
        <p:spPr>
          <a:xfrm>
            <a:off x="777240" y="4800600"/>
            <a:ext cx="182880" cy="18288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4736592"/>
            <a:ext cx="5303520" cy="32004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All other slices: </a:t>
            </a:r>
            <a:r>
              <a:rPr sz="1300" b="1">
                <a:solidFill>
                  <a:srgbClr val="E8EAF2"/>
                </a:solidFill>
                <a:latin typeface="Segoe UI"/>
              </a:rPr>
              <a:t>YOLO's hint</a:t>
            </a:r>
            <a:r>
              <a:rPr sz="1300" b="0">
                <a:solidFill>
                  <a:srgbClr val="E8EAF2"/>
                </a:solidFill>
                <a:latin typeface="Segoe UI"/>
              </a:rPr>
              <a:t>, as usual</a:t>
            </a:r>
          </a:p>
        </p:txBody>
      </p:sp>
      <p:sp>
        <p:nvSpPr>
          <p:cNvPr id="33" name="TextBox 32"/>
          <p:cNvSpPr txBox="1"/>
          <p:nvPr/>
        </p:nvSpPr>
        <p:spPr>
          <a:xfrm>
            <a:off x="731520" y="5166360"/>
            <a:ext cx="5669280" cy="320040"/>
          </a:xfrm>
          <a:prstGeom prst="rect">
            <a:avLst/>
          </a:prstGeom>
          <a:noFill/>
        </p:spPr>
        <p:txBody>
          <a:bodyPr wrap="square" anchor="t" lIns="45720" rIns="45720">
            <a:spAutoFit/>
          </a:bodyPr>
          <a:lstStyle/>
          <a:p>
            <a:pPr algn="l">
              <a:spcAft>
                <a:spcPts val="0"/>
              </a:spcAft>
            </a:pPr>
            <a:r>
              <a:rPr sz="1200" b="0">
                <a:solidFill>
                  <a:srgbClr val="B8BED3"/>
                </a:solidFill>
                <a:latin typeface="Segoe UI"/>
              </a:rPr>
              <a:t>A what-if only: the expert mask is never available when predicting.</a:t>
            </a:r>
          </a:p>
        </p:txBody>
      </p:sp>
      <p:sp>
        <p:nvSpPr>
          <p:cNvPr id="34" name="Rectangle 33"/>
          <p:cNvSpPr/>
          <p:nvPr/>
        </p:nvSpPr>
        <p:spPr>
          <a:xfrm>
            <a:off x="6766560" y="2103120"/>
            <a:ext cx="484632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03720" y="2212848"/>
            <a:ext cx="2240280" cy="685800"/>
          </a:xfrm>
          <a:prstGeom prst="rect">
            <a:avLst/>
          </a:prstGeom>
          <a:noFill/>
        </p:spPr>
        <p:txBody>
          <a:bodyPr wrap="square" anchor="t" lIns="45720" rIns="45720">
            <a:spAutoFit/>
          </a:bodyPr>
          <a:lstStyle/>
          <a:p>
            <a:pPr algn="ctr">
              <a:spcAft>
                <a:spcPts val="0"/>
              </a:spcAft>
            </a:pPr>
            <a:r>
              <a:rPr sz="3600" b="1">
                <a:solidFill>
                  <a:srgbClr val="2FB35C"/>
                </a:solidFill>
                <a:latin typeface="Segoe UI"/>
              </a:rPr>
              <a:t>+0.0047</a:t>
            </a:r>
          </a:p>
        </p:txBody>
      </p:sp>
      <p:sp>
        <p:nvSpPr>
          <p:cNvPr id="36" name="TextBox 35"/>
          <p:cNvSpPr txBox="1"/>
          <p:nvPr/>
        </p:nvSpPr>
        <p:spPr>
          <a:xfrm>
            <a:off x="6903720" y="2898648"/>
            <a:ext cx="2240280" cy="548640"/>
          </a:xfrm>
          <a:prstGeom prst="rect">
            <a:avLst/>
          </a:prstGeom>
          <a:noFill/>
        </p:spPr>
        <p:txBody>
          <a:bodyPr wrap="square" anchor="t" lIns="45720" rIns="45720">
            <a:spAutoFit/>
          </a:bodyPr>
          <a:lstStyle/>
          <a:p>
            <a:pPr algn="ctr">
              <a:spcAft>
                <a:spcPts val="0"/>
              </a:spcAft>
            </a:pPr>
            <a:r>
              <a:rPr sz="1200" b="0">
                <a:solidFill>
                  <a:srgbClr val="B8BED3"/>
                </a:solidFill>
                <a:latin typeface="Segoe UI"/>
              </a:rPr>
              <a:t>val 3D Dice
0.8928 → 0.8975</a:t>
            </a:r>
          </a:p>
        </p:txBody>
      </p:sp>
      <p:sp>
        <p:nvSpPr>
          <p:cNvPr id="37" name="TextBox 36"/>
          <p:cNvSpPr txBox="1"/>
          <p:nvPr/>
        </p:nvSpPr>
        <p:spPr>
          <a:xfrm>
            <a:off x="9235440" y="2212848"/>
            <a:ext cx="2240280" cy="685800"/>
          </a:xfrm>
          <a:prstGeom prst="rect">
            <a:avLst/>
          </a:prstGeom>
          <a:noFill/>
        </p:spPr>
        <p:txBody>
          <a:bodyPr wrap="square" anchor="t" lIns="45720" rIns="45720">
            <a:spAutoFit/>
          </a:bodyPr>
          <a:lstStyle/>
          <a:p>
            <a:pPr algn="ctr">
              <a:spcAft>
                <a:spcPts val="0"/>
              </a:spcAft>
            </a:pPr>
            <a:r>
              <a:rPr sz="3600" b="1">
                <a:solidFill>
                  <a:srgbClr val="3987E5"/>
                </a:solidFill>
                <a:latin typeface="Segoe UI"/>
              </a:rPr>
              <a:t>173 / 1</a:t>
            </a:r>
          </a:p>
        </p:txBody>
      </p:sp>
      <p:sp>
        <p:nvSpPr>
          <p:cNvPr id="38" name="TextBox 37"/>
          <p:cNvSpPr txBox="1"/>
          <p:nvPr/>
        </p:nvSpPr>
        <p:spPr>
          <a:xfrm>
            <a:off x="9235440" y="2898648"/>
            <a:ext cx="2240280" cy="548640"/>
          </a:xfrm>
          <a:prstGeom prst="rect">
            <a:avLst/>
          </a:prstGeom>
          <a:noFill/>
        </p:spPr>
        <p:txBody>
          <a:bodyPr wrap="square" anchor="t" lIns="45720" rIns="45720">
            <a:spAutoFit/>
          </a:bodyPr>
          <a:lstStyle/>
          <a:p>
            <a:pPr algn="ctr">
              <a:spcAft>
                <a:spcPts val="0"/>
              </a:spcAft>
            </a:pPr>
            <a:r>
              <a:rPr sz="1200" b="0">
                <a:solidFill>
                  <a:srgbClr val="B8BED3"/>
                </a:solidFill>
                <a:latin typeface="Segoe UI"/>
              </a:rPr>
              <a:t>patients
better / worse</a:t>
            </a:r>
          </a:p>
        </p:txBody>
      </p:sp>
      <p:sp>
        <p:nvSpPr>
          <p:cNvPr id="39" name="TextBox 38"/>
          <p:cNvSpPr txBox="1"/>
          <p:nvPr/>
        </p:nvSpPr>
        <p:spPr>
          <a:xfrm>
            <a:off x="6949440" y="3639312"/>
            <a:ext cx="4480560" cy="320040"/>
          </a:xfrm>
          <a:prstGeom prst="rect">
            <a:avLst/>
          </a:prstGeom>
          <a:noFill/>
        </p:spPr>
        <p:txBody>
          <a:bodyPr wrap="square" anchor="t" lIns="45720" rIns="45720">
            <a:spAutoFit/>
          </a:bodyPr>
          <a:lstStyle/>
          <a:p>
            <a:pPr algn="l">
              <a:spcAft>
                <a:spcPts val="0"/>
              </a:spcAft>
            </a:pPr>
            <a:r>
              <a:rPr sz="1300" b="1">
                <a:solidFill>
                  <a:srgbClr val="E8EAF2"/>
                </a:solidFill>
                <a:latin typeface="Segoe UI"/>
              </a:rPr>
              <a:t>Gain over today's pipeline (val)</a:t>
            </a:r>
          </a:p>
        </p:txBody>
      </p:sp>
      <p:sp>
        <p:nvSpPr>
          <p:cNvPr id="40" name="TextBox 39"/>
          <p:cNvSpPr txBox="1"/>
          <p:nvPr/>
        </p:nvSpPr>
        <p:spPr>
          <a:xfrm>
            <a:off x="6949440" y="4023360"/>
            <a:ext cx="4480560" cy="274320"/>
          </a:xfrm>
          <a:prstGeom prst="rect">
            <a:avLst/>
          </a:prstGeom>
          <a:noFill/>
        </p:spPr>
        <p:txBody>
          <a:bodyPr wrap="square" anchor="t" lIns="45720" rIns="45720">
            <a:spAutoFit/>
          </a:bodyPr>
          <a:lstStyle/>
          <a:p>
            <a:pPr algn="l">
              <a:spcAft>
                <a:spcPts val="0"/>
              </a:spcAft>
            </a:pPr>
            <a:r>
              <a:rPr sz="1200" b="0">
                <a:solidFill>
                  <a:srgbClr val="B8BED3"/>
                </a:solidFill>
                <a:latin typeface="Segoe UI"/>
              </a:rPr>
              <a:t>Best confidence idea (blob → 'don't know')</a:t>
            </a:r>
          </a:p>
        </p:txBody>
      </p:sp>
      <p:sp>
        <p:nvSpPr>
          <p:cNvPr id="41" name="Rectangle 40"/>
          <p:cNvSpPr/>
          <p:nvPr/>
        </p:nvSpPr>
        <p:spPr>
          <a:xfrm>
            <a:off x="6995160" y="4315968"/>
            <a:ext cx="768096" cy="256032"/>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36408" y="4279392"/>
            <a:ext cx="914400" cy="320040"/>
          </a:xfrm>
          <a:prstGeom prst="rect">
            <a:avLst/>
          </a:prstGeom>
          <a:noFill/>
        </p:spPr>
        <p:txBody>
          <a:bodyPr wrap="square" anchor="t" lIns="45720" rIns="45720">
            <a:spAutoFit/>
          </a:bodyPr>
          <a:lstStyle/>
          <a:p>
            <a:pPr algn="l">
              <a:spcAft>
                <a:spcPts val="0"/>
              </a:spcAft>
            </a:pPr>
            <a:r>
              <a:rPr sz="1300" b="1">
                <a:solidFill>
                  <a:srgbClr val="E8EAF2"/>
                </a:solidFill>
                <a:latin typeface="Segoe UI"/>
              </a:rPr>
              <a:t>+0.0012</a:t>
            </a:r>
          </a:p>
        </p:txBody>
      </p:sp>
      <p:sp>
        <p:nvSpPr>
          <p:cNvPr id="43" name="TextBox 42"/>
          <p:cNvSpPr txBox="1"/>
          <p:nvPr/>
        </p:nvSpPr>
        <p:spPr>
          <a:xfrm>
            <a:off x="6949440" y="4736592"/>
            <a:ext cx="4480560" cy="274320"/>
          </a:xfrm>
          <a:prstGeom prst="rect">
            <a:avLst/>
          </a:prstGeom>
          <a:noFill/>
        </p:spPr>
        <p:txBody>
          <a:bodyPr wrap="square" anchor="t" lIns="45720" rIns="45720">
            <a:spAutoFit/>
          </a:bodyPr>
          <a:lstStyle/>
          <a:p>
            <a:pPr algn="l">
              <a:spcAft>
                <a:spcPts val="0"/>
              </a:spcAft>
            </a:pPr>
            <a:r>
              <a:rPr sz="1200" b="0">
                <a:solidFill>
                  <a:srgbClr val="B8BED3"/>
                </a:solidFill>
                <a:latin typeface="Segoe UI"/>
              </a:rPr>
              <a:t>Expert mask on the start slice</a:t>
            </a:r>
          </a:p>
        </p:txBody>
      </p:sp>
      <p:sp>
        <p:nvSpPr>
          <p:cNvPr id="44" name="Rectangle 43"/>
          <p:cNvSpPr/>
          <p:nvPr/>
        </p:nvSpPr>
        <p:spPr>
          <a:xfrm>
            <a:off x="6995160" y="5029200"/>
            <a:ext cx="3008376" cy="256032"/>
          </a:xfrm>
          <a:prstGeom prst="rect">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76688" y="4992624"/>
            <a:ext cx="914400" cy="320040"/>
          </a:xfrm>
          <a:prstGeom prst="rect">
            <a:avLst/>
          </a:prstGeom>
          <a:noFill/>
        </p:spPr>
        <p:txBody>
          <a:bodyPr wrap="square" anchor="t" lIns="45720" rIns="45720">
            <a:spAutoFit/>
          </a:bodyPr>
          <a:lstStyle/>
          <a:p>
            <a:pPr algn="l">
              <a:spcAft>
                <a:spcPts val="0"/>
              </a:spcAft>
            </a:pPr>
            <a:r>
              <a:rPr sz="1300" b="1">
                <a:solidFill>
                  <a:srgbClr val="E8EAF2"/>
                </a:solidFill>
                <a:latin typeface="Segoe UI"/>
              </a:rPr>
              <a:t>+0.0047</a:t>
            </a:r>
          </a:p>
        </p:txBody>
      </p:sp>
      <p:sp>
        <p:nvSpPr>
          <p:cNvPr id="46" name="Rounded Rectangle 45"/>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80644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Key takeaway:</a:t>
            </a:r>
            <a:r>
              <a:rPr sz="1600" b="0">
                <a:solidFill>
                  <a:srgbClr val="E8EAF2"/>
                </a:solidFill>
                <a:latin typeface="Segoe UI"/>
              </a:rPr>
              <a:t> one correct slice, carried by memory, adds +0.005 Dice: 4× the best confidence idea.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45720" rIns="45720">
            <a:spAutoFit/>
          </a:bodyPr>
          <a:lstStyle/>
          <a:p>
            <a:pPr algn="l">
              <a:spcAft>
                <a:spcPts val="600"/>
              </a:spcAft>
            </a:pPr>
            <a:r>
              <a:rPr sz="1200" b="0">
                <a:solidFill>
                  <a:srgbClr val="FFFFFF"/>
                </a:solidFill>
                <a:latin typeface="Segoe UI"/>
              </a:rPr>
              <a:t>RESULTS · TEST, 324 PATIENTS</a:t>
            </a:r>
          </a:p>
        </p:txBody>
      </p:sp>
      <p:sp>
        <p:nvSpPr>
          <p:cNvPr id="3" name="TextBox 2"/>
          <p:cNvSpPr txBox="1"/>
          <p:nvPr/>
        </p:nvSpPr>
        <p:spPr>
          <a:xfrm>
            <a:off x="548640" y="475488"/>
            <a:ext cx="11064240" cy="585216"/>
          </a:xfrm>
          <a:prstGeom prst="rect">
            <a:avLst/>
          </a:prstGeom>
          <a:noFill/>
        </p:spPr>
        <p:txBody>
          <a:bodyPr wrap="square" anchor="t" lIns="45720" rIns="45720">
            <a:spAutoFit/>
          </a:bodyPr>
          <a:lstStyle/>
          <a:p>
            <a:pPr algn="l">
              <a:spcAft>
                <a:spcPts val="0"/>
              </a:spcAft>
            </a:pPr>
            <a:r>
              <a:rPr sz="3200" b="0">
                <a:solidFill>
                  <a:srgbClr val="FFFFFF"/>
                </a:solidFill>
                <a:latin typeface="Segoe UI"/>
              </a:rPr>
              <a:t>Separate tumour pieces: MedSAM2 needs YOLO to see them</a:t>
            </a:r>
          </a:p>
        </p:txBody>
      </p:sp>
      <p:sp>
        <p:nvSpPr>
          <p:cNvPr id="4" name="TextBox 3"/>
          <p:cNvSpPr txBox="1"/>
          <p:nvPr/>
        </p:nvSpPr>
        <p:spPr>
          <a:xfrm>
            <a:off x="10972800" y="6446520"/>
            <a:ext cx="914400" cy="265176"/>
          </a:xfrm>
          <a:prstGeom prst="rect">
            <a:avLst/>
          </a:prstGeom>
          <a:noFill/>
        </p:spPr>
        <p:txBody>
          <a:bodyPr wrap="square" anchor="t" lIns="45720" rIns="45720">
            <a:spAutoFit/>
          </a:bodyPr>
          <a:lstStyle/>
          <a:p>
            <a:pPr algn="r">
              <a:spcAft>
                <a:spcPts val="600"/>
              </a:spcAft>
            </a:pPr>
            <a:r>
              <a:rPr sz="1100" b="0">
                <a:solidFill>
                  <a:srgbClr val="FFFFFF"/>
                </a:solidFill>
                <a:latin typeface="Segoe UI"/>
              </a:rPr>
              <a:t>17</a:t>
            </a:r>
          </a:p>
        </p:txBody>
      </p:sp>
      <p:sp>
        <p:nvSpPr>
          <p:cNvPr id="5" name="Rounded Rectangle 4"/>
          <p:cNvSpPr/>
          <p:nvPr/>
        </p:nvSpPr>
        <p:spPr>
          <a:xfrm>
            <a:off x="548640" y="132588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35 of 324 patients (11%)</a:t>
            </a:r>
            <a:r>
              <a:rPr sz="1600" b="0">
                <a:solidFill>
                  <a:srgbClr val="E8EAF2"/>
                </a:solidFill>
                <a:latin typeface="Segoe UI"/>
              </a:rPr>
              <a:t> have tumour pieces that share no slice. The start slice is in the largest piece in 33 of them.</a:t>
            </a:r>
          </a:p>
        </p:txBody>
      </p:sp>
      <p:sp>
        <p:nvSpPr>
          <p:cNvPr id="7" name="Rectangle 6"/>
          <p:cNvSpPr/>
          <p:nvPr/>
        </p:nvSpPr>
        <p:spPr>
          <a:xfrm>
            <a:off x="548640" y="2103120"/>
            <a:ext cx="548640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12848"/>
            <a:ext cx="5120640" cy="411480"/>
          </a:xfrm>
          <a:prstGeom prst="rect">
            <a:avLst/>
          </a:prstGeom>
          <a:noFill/>
        </p:spPr>
        <p:txBody>
          <a:bodyPr wrap="square" anchor="t" lIns="45720" rIns="45720">
            <a:spAutoFit/>
          </a:bodyPr>
          <a:lstStyle/>
          <a:p>
            <a:pPr algn="l">
              <a:spcAft>
                <a:spcPts val="0"/>
              </a:spcAft>
            </a:pPr>
            <a:r>
              <a:rPr sz="1900" b="1">
                <a:solidFill>
                  <a:srgbClr val="E06A2E"/>
                </a:solidFill>
                <a:latin typeface="Segoe UI"/>
              </a:rPr>
              <a:t>What MedSAM2 faces</a:t>
            </a:r>
          </a:p>
        </p:txBody>
      </p:sp>
      <p:sp>
        <p:nvSpPr>
          <p:cNvPr id="9" name="Rounded Rectangle 8"/>
          <p:cNvSpPr/>
          <p:nvPr/>
        </p:nvSpPr>
        <p:spPr>
          <a:xfrm>
            <a:off x="813816" y="2971800"/>
            <a:ext cx="384048" cy="868680"/>
          </a:xfrm>
          <a:prstGeom prst="roundRect">
            <a:avLst>
              <a:gd name="adj" fmla="val 1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271016" y="2971800"/>
            <a:ext cx="384048" cy="868680"/>
          </a:xfrm>
          <a:prstGeom prst="roundRect">
            <a:avLst>
              <a:gd name="adj" fmla="val 1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28216" y="2971800"/>
            <a:ext cx="384048" cy="868680"/>
          </a:xfrm>
          <a:prstGeom prst="roundRect">
            <a:avLst>
              <a:gd name="adj" fmla="val 1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45336" y="2679192"/>
            <a:ext cx="749808" cy="274320"/>
          </a:xfrm>
          <a:prstGeom prst="rect">
            <a:avLst/>
          </a:prstGeom>
          <a:noFill/>
        </p:spPr>
        <p:txBody>
          <a:bodyPr wrap="square" anchor="t" lIns="45720" rIns="45720">
            <a:spAutoFit/>
          </a:bodyPr>
          <a:lstStyle/>
          <a:p>
            <a:pPr algn="ctr">
              <a:spcAft>
                <a:spcPts val="0"/>
              </a:spcAft>
            </a:pPr>
            <a:r>
              <a:rPr sz="1100" b="0">
                <a:solidFill>
                  <a:srgbClr val="FFFFFF"/>
                </a:solidFill>
                <a:latin typeface="Segoe UI"/>
              </a:rPr>
              <a:t>start</a:t>
            </a:r>
          </a:p>
        </p:txBody>
      </p:sp>
      <p:sp>
        <p:nvSpPr>
          <p:cNvPr id="13" name="Rounded Rectangle 12"/>
          <p:cNvSpPr/>
          <p:nvPr/>
        </p:nvSpPr>
        <p:spPr>
          <a:xfrm>
            <a:off x="2185416" y="2971800"/>
            <a:ext cx="384048" cy="868680"/>
          </a:xfrm>
          <a:prstGeom prst="roundRect">
            <a:avLst>
              <a:gd name="adj" fmla="val 1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642616" y="2971800"/>
            <a:ext cx="384048" cy="868680"/>
          </a:xfrm>
          <a:prstGeom prst="roundRect">
            <a:avLst>
              <a:gd name="adj" fmla="val 1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099816" y="2971800"/>
            <a:ext cx="384048" cy="868680"/>
          </a:xfrm>
          <a:prstGeom prst="roundRect">
            <a:avLst>
              <a:gd name="adj" fmla="val 15000"/>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57016" y="2971800"/>
            <a:ext cx="384048" cy="868680"/>
          </a:xfrm>
          <a:prstGeom prst="roundRect">
            <a:avLst>
              <a:gd name="adj" fmla="val 15000"/>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014215" y="2971800"/>
            <a:ext cx="384048" cy="868680"/>
          </a:xfrm>
          <a:prstGeom prst="roundRect">
            <a:avLst>
              <a:gd name="adj" fmla="val 15000"/>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71416" y="2971800"/>
            <a:ext cx="384048" cy="868680"/>
          </a:xfrm>
          <a:prstGeom prst="roundRect">
            <a:avLst>
              <a:gd name="adj" fmla="val 15000"/>
            </a:avLst>
          </a:prstGeom>
          <a:solidFill>
            <a:srgbClr val="8FE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28616" y="2971800"/>
            <a:ext cx="384048" cy="868680"/>
          </a:xfrm>
          <a:prstGeom prst="roundRect">
            <a:avLst>
              <a:gd name="adj" fmla="val 15000"/>
            </a:avLst>
          </a:prstGeom>
          <a:solidFill>
            <a:srgbClr val="8FE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85816" y="2971800"/>
            <a:ext cx="384048" cy="868680"/>
          </a:xfrm>
          <a:prstGeom prst="roundRect">
            <a:avLst>
              <a:gd name="adj" fmla="val 15000"/>
            </a:avLst>
          </a:prstGeom>
          <a:solidFill>
            <a:srgbClr val="8FE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3895344"/>
            <a:ext cx="2395728" cy="274320"/>
          </a:xfrm>
          <a:prstGeom prst="rect">
            <a:avLst/>
          </a:prstGeom>
          <a:noFill/>
        </p:spPr>
        <p:txBody>
          <a:bodyPr wrap="square" anchor="t" lIns="45720" rIns="45720">
            <a:spAutoFit/>
          </a:bodyPr>
          <a:lstStyle/>
          <a:p>
            <a:pPr algn="ctr">
              <a:spcAft>
                <a:spcPts val="0"/>
              </a:spcAft>
            </a:pPr>
            <a:r>
              <a:rPr sz="1200" b="0">
                <a:solidFill>
                  <a:srgbClr val="B8BED3"/>
                </a:solidFill>
                <a:latin typeface="Segoe UI"/>
              </a:rPr>
              <a:t>largest piece</a:t>
            </a:r>
          </a:p>
        </p:txBody>
      </p:sp>
      <p:sp>
        <p:nvSpPr>
          <p:cNvPr id="22" name="TextBox 21"/>
          <p:cNvSpPr txBox="1"/>
          <p:nvPr/>
        </p:nvSpPr>
        <p:spPr>
          <a:xfrm>
            <a:off x="3008376" y="3895344"/>
            <a:ext cx="1481328" cy="274320"/>
          </a:xfrm>
          <a:prstGeom prst="rect">
            <a:avLst/>
          </a:prstGeom>
          <a:noFill/>
        </p:spPr>
        <p:txBody>
          <a:bodyPr wrap="square" anchor="t" lIns="45720" rIns="45720">
            <a:spAutoFit/>
          </a:bodyPr>
          <a:lstStyle/>
          <a:p>
            <a:pPr algn="ctr">
              <a:spcAft>
                <a:spcPts val="0"/>
              </a:spcAft>
            </a:pPr>
            <a:r>
              <a:rPr sz="1200" b="0">
                <a:solidFill>
                  <a:srgbClr val="B8BED3"/>
                </a:solidFill>
                <a:latin typeface="Segoe UI"/>
              </a:rPr>
              <a:t>empty slices</a:t>
            </a:r>
          </a:p>
        </p:txBody>
      </p:sp>
      <p:sp>
        <p:nvSpPr>
          <p:cNvPr id="23" name="TextBox 22"/>
          <p:cNvSpPr txBox="1"/>
          <p:nvPr/>
        </p:nvSpPr>
        <p:spPr>
          <a:xfrm>
            <a:off x="4379976" y="3895344"/>
            <a:ext cx="1481328" cy="274320"/>
          </a:xfrm>
          <a:prstGeom prst="rect">
            <a:avLst/>
          </a:prstGeom>
          <a:noFill/>
        </p:spPr>
        <p:txBody>
          <a:bodyPr wrap="square" anchor="t" lIns="45720" rIns="45720">
            <a:spAutoFit/>
          </a:bodyPr>
          <a:lstStyle/>
          <a:p>
            <a:pPr algn="ctr">
              <a:spcAft>
                <a:spcPts val="0"/>
              </a:spcAft>
            </a:pPr>
            <a:r>
              <a:rPr sz="1200" b="0">
                <a:solidFill>
                  <a:srgbClr val="B8BED3"/>
                </a:solidFill>
                <a:latin typeface="Segoe UI"/>
              </a:rPr>
              <a:t>other piece</a:t>
            </a:r>
          </a:p>
        </p:txBody>
      </p:sp>
      <p:sp>
        <p:nvSpPr>
          <p:cNvPr id="24" name="TextBox 23"/>
          <p:cNvSpPr txBox="1"/>
          <p:nvPr/>
        </p:nvSpPr>
        <p:spPr>
          <a:xfrm>
            <a:off x="731520" y="4389120"/>
            <a:ext cx="5120640" cy="1188720"/>
          </a:xfrm>
          <a:prstGeom prst="rect">
            <a:avLst/>
          </a:prstGeom>
          <a:noFill/>
        </p:spPr>
        <p:txBody>
          <a:bodyPr wrap="square" anchor="t" lIns="45720" rIns="45720">
            <a:spAutoFit/>
          </a:bodyPr>
          <a:lstStyle/>
          <a:p>
            <a:pPr algn="l">
              <a:spcAft>
                <a:spcPts val="500"/>
              </a:spcAft>
            </a:pPr>
            <a:r>
              <a:rPr sz="1400" b="0">
                <a:solidFill>
                  <a:srgbClr val="E8EAF2"/>
                </a:solidFill>
                <a:latin typeface="Segoe UI"/>
              </a:rPr>
              <a:t>•  Memory passes the tumour from slice to slice.</a:t>
            </a:r>
          </a:p>
          <a:p>
            <a:pPr algn="l">
              <a:spcAft>
                <a:spcPts val="500"/>
              </a:spcAft>
            </a:pPr>
            <a:r>
              <a:rPr sz="1400" b="0">
                <a:solidFill>
                  <a:srgbClr val="E8EAF2"/>
                </a:solidFill>
                <a:latin typeface="Segoe UI"/>
              </a:rPr>
              <a:t>•  Across empty slices there is nothing to pass on, so the next piece must come from </a:t>
            </a:r>
            <a:r>
              <a:rPr sz="1400" b="1">
                <a:solidFill>
                  <a:srgbClr val="E8EAF2"/>
                </a:solidFill>
                <a:latin typeface="Segoe UI"/>
              </a:rPr>
              <a:t>YOLO's hint</a:t>
            </a:r>
            <a:r>
              <a:rPr sz="1400" b="0">
                <a:solidFill>
                  <a:srgbClr val="E8EAF2"/>
                </a:solidFill>
                <a:latin typeface="Segoe UI"/>
              </a:rPr>
              <a:t>.</a:t>
            </a:r>
          </a:p>
        </p:txBody>
      </p:sp>
      <p:sp>
        <p:nvSpPr>
          <p:cNvPr id="25" name="Rectangle 24"/>
          <p:cNvSpPr/>
          <p:nvPr/>
        </p:nvSpPr>
        <p:spPr>
          <a:xfrm>
            <a:off x="6217920" y="2103120"/>
            <a:ext cx="539496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212848"/>
            <a:ext cx="5029200" cy="411480"/>
          </a:xfrm>
          <a:prstGeom prst="rect">
            <a:avLst/>
          </a:prstGeom>
          <a:noFill/>
        </p:spPr>
        <p:txBody>
          <a:bodyPr wrap="square" anchor="t" lIns="45720" rIns="45720">
            <a:spAutoFit/>
          </a:bodyPr>
          <a:lstStyle/>
          <a:p>
            <a:pPr algn="l">
              <a:spcAft>
                <a:spcPts val="0"/>
              </a:spcAft>
            </a:pPr>
            <a:r>
              <a:rPr sz="1900" b="1">
                <a:solidFill>
                  <a:srgbClr val="3987E5"/>
                </a:solidFill>
                <a:latin typeface="Segoe UI"/>
              </a:rPr>
              <a:t>Did MedSAM2 find the piece?</a:t>
            </a:r>
          </a:p>
        </p:txBody>
      </p:sp>
      <p:sp>
        <p:nvSpPr>
          <p:cNvPr id="27" name="TextBox 26"/>
          <p:cNvSpPr txBox="1"/>
          <p:nvPr/>
        </p:nvSpPr>
        <p:spPr>
          <a:xfrm>
            <a:off x="6400800" y="2743200"/>
            <a:ext cx="384048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Largest piece</a:t>
            </a:r>
          </a:p>
        </p:txBody>
      </p:sp>
      <p:sp>
        <p:nvSpPr>
          <p:cNvPr id="28" name="Rectangle 27"/>
          <p:cNvSpPr/>
          <p:nvPr/>
        </p:nvSpPr>
        <p:spPr>
          <a:xfrm>
            <a:off x="6446520" y="3044952"/>
            <a:ext cx="3566160" cy="219456"/>
          </a:xfrm>
          <a:prstGeom prst="rect">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46520" y="3044952"/>
            <a:ext cx="3566160" cy="219456"/>
          </a:xfrm>
          <a:prstGeom prst="rect">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04119" y="2980944"/>
            <a:ext cx="128016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35 / 35</a:t>
            </a:r>
          </a:p>
        </p:txBody>
      </p:sp>
      <p:sp>
        <p:nvSpPr>
          <p:cNvPr id="31" name="TextBox 30"/>
          <p:cNvSpPr txBox="1"/>
          <p:nvPr/>
        </p:nvSpPr>
        <p:spPr>
          <a:xfrm>
            <a:off x="6400800" y="3401568"/>
            <a:ext cx="384048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Other piece, YOLO hinted it</a:t>
            </a:r>
          </a:p>
        </p:txBody>
      </p:sp>
      <p:sp>
        <p:nvSpPr>
          <p:cNvPr id="32" name="Rectangle 31"/>
          <p:cNvSpPr/>
          <p:nvPr/>
        </p:nvSpPr>
        <p:spPr>
          <a:xfrm>
            <a:off x="6446520" y="3703320"/>
            <a:ext cx="3566160" cy="219456"/>
          </a:xfrm>
          <a:prstGeom prst="rect">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46520" y="3703320"/>
            <a:ext cx="2773680" cy="219456"/>
          </a:xfrm>
          <a:prstGeom prst="rect">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4119" y="3639311"/>
            <a:ext cx="128016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7 / 9</a:t>
            </a:r>
          </a:p>
        </p:txBody>
      </p:sp>
      <p:sp>
        <p:nvSpPr>
          <p:cNvPr id="35" name="TextBox 34"/>
          <p:cNvSpPr txBox="1"/>
          <p:nvPr/>
        </p:nvSpPr>
        <p:spPr>
          <a:xfrm>
            <a:off x="6400800" y="4059935"/>
            <a:ext cx="384048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Other piece, YOLO missed it</a:t>
            </a:r>
          </a:p>
        </p:txBody>
      </p:sp>
      <p:sp>
        <p:nvSpPr>
          <p:cNvPr id="36" name="Rectangle 35"/>
          <p:cNvSpPr/>
          <p:nvPr/>
        </p:nvSpPr>
        <p:spPr>
          <a:xfrm>
            <a:off x="6446520" y="4361688"/>
            <a:ext cx="3566160" cy="219456"/>
          </a:xfrm>
          <a:prstGeom prst="rect">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4119" y="4297679"/>
            <a:ext cx="128016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0 / 7</a:t>
            </a:r>
          </a:p>
        </p:txBody>
      </p:sp>
      <p:sp>
        <p:nvSpPr>
          <p:cNvPr id="38" name="TextBox 37"/>
          <p:cNvSpPr txBox="1"/>
          <p:nvPr/>
        </p:nvSpPr>
        <p:spPr>
          <a:xfrm>
            <a:off x="6400800" y="4754880"/>
            <a:ext cx="5029200" cy="777240"/>
          </a:xfrm>
          <a:prstGeom prst="rect">
            <a:avLst/>
          </a:prstGeom>
          <a:noFill/>
        </p:spPr>
        <p:txBody>
          <a:bodyPr wrap="square" anchor="t" lIns="45720" rIns="45720">
            <a:spAutoFit/>
          </a:bodyPr>
          <a:lstStyle/>
          <a:p>
            <a:pPr algn="l">
              <a:spcAft>
                <a:spcPts val="200"/>
              </a:spcAft>
            </a:pPr>
            <a:r>
              <a:rPr sz="1100" b="0">
                <a:solidFill>
                  <a:srgbClr val="B8BED3"/>
                </a:solidFill>
                <a:latin typeface="Segoe UI"/>
              </a:rPr>
              <a:t>Other pieces of 100+ voxels only; 26 specks under 100 voxels left out.</a:t>
            </a:r>
          </a:p>
          <a:p>
            <a:pPr algn="l">
              <a:spcAft>
                <a:spcPts val="200"/>
              </a:spcAft>
            </a:pPr>
            <a:r>
              <a:rPr sz="1100" b="0">
                <a:solidFill>
                  <a:srgbClr val="B8BED3"/>
                </a:solidFill>
                <a:latin typeface="Segoe UI"/>
              </a:rPr>
              <a:t>Lost 2 that YOLO found well (707 and 277 voxels).</a:t>
            </a:r>
          </a:p>
        </p:txBody>
      </p:sp>
      <p:sp>
        <p:nvSpPr>
          <p:cNvPr id="39" name="Rounded Rectangle 38"/>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80644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Key takeaway:</a:t>
            </a:r>
            <a:r>
              <a:rPr sz="1600" b="0">
                <a:solidFill>
                  <a:srgbClr val="E8EAF2"/>
                </a:solidFill>
                <a:latin typeface="Segoe UI"/>
              </a:rPr>
              <a:t> MedSAM2 finds a separate piece only when YOLO hints it; memory can't jump across empty slices.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8229600" cy="320040"/>
          </a:xfrm>
          <a:prstGeom prst="rect">
            <a:avLst/>
          </a:prstGeom>
          <a:noFill/>
        </p:spPr>
        <p:txBody>
          <a:bodyPr wrap="square" lIns="45720" rIns="45720" anchor="t">
            <a:spAutoFit/>
          </a:bodyPr>
          <a:lstStyle/>
          <a:p>
            <a:pPr algn="l">
              <a:spcAft>
                <a:spcPts val="600"/>
              </a:spcAft>
            </a:pPr>
            <a:r>
              <a:rPr sz="1200" b="0">
                <a:solidFill>
                  <a:srgbClr val="E06A2E"/>
                </a:solidFill>
                <a:latin typeface="Segoe UI"/>
              </a:rPr>
              <a:t>NEXT STEPS</a:t>
            </a:r>
          </a:p>
        </p:txBody>
      </p:sp>
      <p:sp>
        <p:nvSpPr>
          <p:cNvPr id="3" name="TextBox 2"/>
          <p:cNvSpPr txBox="1"/>
          <p:nvPr/>
        </p:nvSpPr>
        <p:spPr>
          <a:xfrm>
            <a:off x="548640" y="475488"/>
            <a:ext cx="11064240" cy="731520"/>
          </a:xfrm>
          <a:prstGeom prst="rect">
            <a:avLst/>
          </a:prstGeom>
          <a:noFill/>
        </p:spPr>
        <p:txBody>
          <a:bodyPr wrap="square" lIns="45720" rIns="45720" anchor="t">
            <a:spAutoFit/>
          </a:bodyPr>
          <a:lstStyle/>
          <a:p>
            <a:pPr algn="l">
              <a:spcAft>
                <a:spcPts val="0"/>
              </a:spcAft>
            </a:pPr>
            <a:r>
              <a:rPr sz="3200" b="0">
                <a:solidFill>
                  <a:srgbClr val="E8EAF2"/>
                </a:solidFill>
                <a:latin typeface="Segoe UI"/>
              </a:rPr>
              <a:t>Future work</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19</a:t>
            </a:r>
            <a:endParaRPr sz="1100" b="0" dirty="0">
              <a:solidFill>
                <a:schemeClr val="bg1"/>
              </a:solidFill>
              <a:latin typeface="Segoe UI"/>
            </a:endParaRPr>
          </a:p>
        </p:txBody>
      </p:sp>
      <p:sp>
        <p:nvSpPr>
          <p:cNvPr id="5" name="Rectangle 4"/>
          <p:cNvSpPr/>
          <p:nvPr/>
        </p:nvSpPr>
        <p:spPr>
          <a:xfrm>
            <a:off x="548640" y="1463040"/>
            <a:ext cx="3566160" cy="402336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3200400" cy="457200"/>
          </a:xfrm>
          <a:prstGeom prst="rect">
            <a:avLst/>
          </a:prstGeom>
          <a:noFill/>
        </p:spPr>
        <p:txBody>
          <a:bodyPr wrap="square" lIns="45720" rIns="45720" anchor="t">
            <a:spAutoFit/>
          </a:bodyPr>
          <a:lstStyle/>
          <a:p>
            <a:pPr algn="l">
              <a:spcAft>
                <a:spcPts val="600"/>
              </a:spcAft>
            </a:pPr>
            <a:r>
              <a:rPr sz="1900" b="1">
                <a:solidFill>
                  <a:srgbClr val="E06A2E"/>
                </a:solidFill>
                <a:latin typeface="Segoe UI"/>
              </a:rPr>
              <a:t>Sharper edges</a:t>
            </a:r>
          </a:p>
        </p:txBody>
      </p:sp>
      <p:sp>
        <p:nvSpPr>
          <p:cNvPr id="7" name="TextBox 6"/>
          <p:cNvSpPr txBox="1"/>
          <p:nvPr/>
        </p:nvSpPr>
        <p:spPr>
          <a:xfrm>
            <a:off x="731520" y="2240280"/>
            <a:ext cx="3200400" cy="32004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Average several trained MedSAM2 runs (an ensemble), with no new training.</a:t>
            </a:r>
          </a:p>
          <a:p>
            <a:pPr algn="l">
              <a:spcAft>
                <a:spcPts val="1200"/>
              </a:spcAft>
            </a:pPr>
            <a:r>
              <a:rPr sz="1600" b="0">
                <a:solidFill>
                  <a:srgbClr val="E8EAF2"/>
                </a:solidFill>
                <a:latin typeface="Segoe UI"/>
              </a:rPr>
              <a:t>•  Edge-focused training loss.</a:t>
            </a:r>
          </a:p>
          <a:p>
            <a:pPr algn="l">
              <a:spcAft>
                <a:spcPts val="1200"/>
              </a:spcAft>
            </a:pPr>
            <a:r>
              <a:rPr sz="1600" b="0">
                <a:solidFill>
                  <a:srgbClr val="E8EAF2"/>
                </a:solidFill>
                <a:latin typeface="Segoe UI"/>
              </a:rPr>
              <a:t>•  Finer output: scans are 182 × 218, the model works at 512 × 512.</a:t>
            </a:r>
          </a:p>
        </p:txBody>
      </p:sp>
      <p:sp>
        <p:nvSpPr>
          <p:cNvPr id="8" name="Rectangle 7"/>
          <p:cNvSpPr/>
          <p:nvPr/>
        </p:nvSpPr>
        <p:spPr>
          <a:xfrm>
            <a:off x="4297679" y="1463040"/>
            <a:ext cx="3566160" cy="402336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59" y="1645920"/>
            <a:ext cx="3200400" cy="457200"/>
          </a:xfrm>
          <a:prstGeom prst="rect">
            <a:avLst/>
          </a:prstGeom>
          <a:noFill/>
        </p:spPr>
        <p:txBody>
          <a:bodyPr wrap="square" lIns="45720" rIns="45720" anchor="t">
            <a:spAutoFit/>
          </a:bodyPr>
          <a:lstStyle/>
          <a:p>
            <a:pPr algn="l">
              <a:spcAft>
                <a:spcPts val="600"/>
              </a:spcAft>
            </a:pPr>
            <a:r>
              <a:rPr sz="1900" b="1">
                <a:solidFill>
                  <a:srgbClr val="3987E5"/>
                </a:solidFill>
                <a:latin typeface="Segoe UI"/>
              </a:rPr>
              <a:t>Hints &amp; small tumours</a:t>
            </a:r>
          </a:p>
        </p:txBody>
      </p:sp>
      <p:sp>
        <p:nvSpPr>
          <p:cNvPr id="10" name="TextBox 9"/>
          <p:cNvSpPr txBox="1"/>
          <p:nvPr/>
        </p:nvSpPr>
        <p:spPr>
          <a:xfrm>
            <a:off x="4480559" y="2240280"/>
            <a:ext cx="3200400" cy="32004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Replace YOLO with a 3D nnU‑Net as the hint maker: the final score follows the hint quality.</a:t>
            </a:r>
          </a:p>
          <a:p>
            <a:pPr algn="l">
              <a:spcAft>
                <a:spcPts val="1200"/>
              </a:spcAft>
            </a:pPr>
            <a:r>
              <a:rPr sz="1600" b="0">
                <a:solidFill>
                  <a:srgbClr val="E8EAF2"/>
                </a:solidFill>
                <a:latin typeface="Segoe UI"/>
              </a:rPr>
              <a:t>•  Weigh hint pixels by shape confidence ('max_weighted').</a:t>
            </a:r>
          </a:p>
          <a:p>
            <a:pPr algn="l">
              <a:spcAft>
                <a:spcPts val="1200"/>
              </a:spcAft>
            </a:pPr>
            <a:r>
              <a:rPr sz="1600" b="0">
                <a:solidFill>
                  <a:srgbClr val="E8EAF2"/>
                </a:solidFill>
                <a:latin typeface="Segoe UI"/>
              </a:rPr>
              <a:t>•  Give YOLO 3D context (neighbouring slices).</a:t>
            </a:r>
          </a:p>
          <a:p>
            <a:pPr algn="l">
              <a:spcAft>
                <a:spcPts val="1200"/>
              </a:spcAft>
            </a:pPr>
            <a:r>
              <a:rPr sz="1600" b="0">
                <a:solidFill>
                  <a:srgbClr val="E8EAF2"/>
                </a:solidFill>
                <a:latin typeface="Segoe UI"/>
              </a:rPr>
              <a:t>•  Train more on tumours under 10 mL.</a:t>
            </a:r>
          </a:p>
        </p:txBody>
      </p:sp>
      <p:sp>
        <p:nvSpPr>
          <p:cNvPr id="11" name="Rectangle 10"/>
          <p:cNvSpPr/>
          <p:nvPr/>
        </p:nvSpPr>
        <p:spPr>
          <a:xfrm>
            <a:off x="8046719" y="1463040"/>
            <a:ext cx="3566160" cy="402336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9" y="1645920"/>
            <a:ext cx="3200400" cy="457200"/>
          </a:xfrm>
          <a:prstGeom prst="rect">
            <a:avLst/>
          </a:prstGeom>
          <a:noFill/>
        </p:spPr>
        <p:txBody>
          <a:bodyPr wrap="square" lIns="45720" rIns="45720" anchor="t">
            <a:spAutoFit/>
          </a:bodyPr>
          <a:lstStyle/>
          <a:p>
            <a:pPr algn="l">
              <a:spcAft>
                <a:spcPts val="600"/>
              </a:spcAft>
            </a:pPr>
            <a:r>
              <a:rPr sz="1900" b="1">
                <a:solidFill>
                  <a:srgbClr val="2FB35C"/>
                </a:solidFill>
                <a:latin typeface="Segoe UI"/>
              </a:rPr>
              <a:t>Beyond this project</a:t>
            </a:r>
          </a:p>
        </p:txBody>
      </p:sp>
      <p:sp>
        <p:nvSpPr>
          <p:cNvPr id="13" name="TextBox 12"/>
          <p:cNvSpPr txBox="1"/>
          <p:nvPr/>
        </p:nvSpPr>
        <p:spPr>
          <a:xfrm>
            <a:off x="8229599" y="2240280"/>
            <a:ext cx="3200400" cy="32004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Predict the tumour parts (ET, NETC, SNFH), not only the whole tumour.</a:t>
            </a:r>
          </a:p>
          <a:p>
            <a:pPr algn="l">
              <a:spcAft>
                <a:spcPts val="1200"/>
              </a:spcAft>
            </a:pPr>
            <a:r>
              <a:rPr sz="1600" b="0">
                <a:solidFill>
                  <a:srgbClr val="E8EAF2"/>
                </a:solidFill>
                <a:latin typeface="Segoe UI"/>
              </a:rPr>
              <a:t>•  Test on other hospitals' scans.</a:t>
            </a:r>
          </a:p>
          <a:p>
            <a:pPr algn="l">
              <a:spcAft>
                <a:spcPts val="1200"/>
              </a:spcAft>
            </a:pPr>
            <a:r>
              <a:rPr sz="1600" b="0">
                <a:solidFill>
                  <a:srgbClr val="E8EAF2"/>
                </a:solidFill>
                <a:latin typeface="Segoe UI"/>
              </a:rPr>
              <a:t>•  Remove the test/train people overlap; measure speed.</a:t>
            </a:r>
          </a:p>
        </p:txBody>
      </p:sp>
      <p:sp>
        <p:nvSpPr>
          <p:cNvPr id="14" name="Rounded Rectangle 13"/>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06440"/>
            <a:ext cx="10744200" cy="566928"/>
          </a:xfrm>
          <a:prstGeom prst="rect">
            <a:avLst/>
          </a:prstGeom>
          <a:noFill/>
        </p:spPr>
        <p:txBody>
          <a:bodyPr wrap="square" lIns="45720" rIns="45720" anchor="ctr">
            <a:spAutoFit/>
          </a:bodyPr>
          <a:lstStyle/>
          <a:p>
            <a:pPr algn="l">
              <a:spcAft>
                <a:spcPts val="0"/>
              </a:spcAft>
            </a:pPr>
            <a:r>
              <a:rPr sz="1600" b="1">
                <a:solidFill>
                  <a:srgbClr val="E8EAF2"/>
                </a:solidFill>
                <a:latin typeface="Segoe UI"/>
              </a:rPr>
              <a:t>Key takeaway:</a:t>
            </a:r>
            <a:r>
              <a:rPr sz="1600" b="0">
                <a:solidFill>
                  <a:srgbClr val="E8EAF2"/>
                </a:solidFill>
                <a:latin typeface="Segoe UI"/>
              </a:rPr>
              <a:t> Next gains come from sharper edges and small tumours, then proving it on outside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8229600" cy="320040"/>
          </a:xfrm>
          <a:prstGeom prst="rect">
            <a:avLst/>
          </a:prstGeom>
          <a:noFill/>
        </p:spPr>
        <p:txBody>
          <a:bodyPr wrap="square" lIns="45720" rIns="45720" anchor="t">
            <a:spAutoFit/>
          </a:bodyPr>
          <a:lstStyle/>
          <a:p>
            <a:pPr algn="l">
              <a:spcAft>
                <a:spcPts val="600"/>
              </a:spcAft>
            </a:pPr>
            <a:r>
              <a:rPr sz="1200" b="0">
                <a:solidFill>
                  <a:srgbClr val="E06A2E"/>
                </a:solidFill>
                <a:latin typeface="Segoe UI"/>
              </a:rPr>
              <a:t>NEXT STEPS</a:t>
            </a:r>
          </a:p>
        </p:txBody>
      </p:sp>
      <p:sp>
        <p:nvSpPr>
          <p:cNvPr id="3" name="TextBox 2"/>
          <p:cNvSpPr txBox="1"/>
          <p:nvPr/>
        </p:nvSpPr>
        <p:spPr>
          <a:xfrm>
            <a:off x="548640" y="475488"/>
            <a:ext cx="11064240" cy="731520"/>
          </a:xfrm>
          <a:prstGeom prst="rect">
            <a:avLst/>
          </a:prstGeom>
          <a:noFill/>
        </p:spPr>
        <p:txBody>
          <a:bodyPr wrap="square" lIns="45720" rIns="45720" anchor="t">
            <a:spAutoFit/>
          </a:bodyPr>
          <a:lstStyle/>
          <a:p>
            <a:pPr algn="l">
              <a:spcAft>
                <a:spcPts val="0"/>
              </a:spcAft>
            </a:pPr>
            <a:r>
              <a:rPr sz="3200" b="0">
                <a:solidFill>
                  <a:srgbClr val="E8EAF2"/>
                </a:solidFill>
                <a:latin typeface="Segoe UI"/>
              </a:rPr>
              <a:t>Future work: fewer missed and false slices</a:t>
            </a:r>
          </a:p>
        </p:txBody>
      </p:sp>
      <p:sp>
        <p:nvSpPr>
          <p:cNvPr id="4" name="TextBox 3"/>
          <p:cNvSpPr txBox="1"/>
          <p:nvPr/>
        </p:nvSpPr>
        <p:spPr>
          <a:xfrm>
            <a:off x="10972800" y="6446520"/>
            <a:ext cx="914400" cy="261610"/>
          </a:xfrm>
          <a:prstGeom prst="rect">
            <a:avLst/>
          </a:prstGeom>
          <a:noFill/>
        </p:spPr>
        <p:txBody>
          <a:bodyPr wrap="square" lIns="45720" rIns="45720" anchor="t">
            <a:spAutoFit/>
          </a:bodyPr>
          <a:lstStyle/>
          <a:p>
            <a:pPr algn="r">
              <a:spcAft>
                <a:spcPts val="600"/>
              </a:spcAft>
            </a:pPr>
            <a:r>
              <a:rPr lang="en-US" sz="1100" b="0" dirty="0">
                <a:solidFill>
                  <a:schemeClr val="bg1"/>
                </a:solidFill>
                <a:latin typeface="Segoe UI"/>
              </a:rPr>
              <a:t>20</a:t>
            </a:r>
            <a:endParaRPr sz="1100" b="0" dirty="0">
              <a:solidFill>
                <a:schemeClr val="bg1"/>
              </a:solidFill>
              <a:latin typeface="Segoe UI"/>
            </a:endParaRPr>
          </a:p>
        </p:txBody>
      </p:sp>
      <p:sp>
        <p:nvSpPr>
          <p:cNvPr id="5" name="Rectangle 4"/>
          <p:cNvSpPr/>
          <p:nvPr/>
        </p:nvSpPr>
        <p:spPr>
          <a:xfrm>
            <a:off x="548640" y="2103120"/>
            <a:ext cx="356616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40280"/>
            <a:ext cx="3200400" cy="457200"/>
          </a:xfrm>
          <a:prstGeom prst="rect">
            <a:avLst/>
          </a:prstGeom>
          <a:noFill/>
        </p:spPr>
        <p:txBody>
          <a:bodyPr wrap="square" lIns="45720" rIns="45720" anchor="t">
            <a:spAutoFit/>
          </a:bodyPr>
          <a:lstStyle/>
          <a:p>
            <a:pPr algn="l">
              <a:spcAft>
                <a:spcPts val="600"/>
              </a:spcAft>
            </a:pPr>
            <a:r>
              <a:rPr sz="1900" b="1">
                <a:solidFill>
                  <a:srgbClr val="E06A2E"/>
                </a:solidFill>
                <a:latin typeface="Segoe UI"/>
              </a:rPr>
              <a:t>Fewer false slices</a:t>
            </a:r>
          </a:p>
        </p:txBody>
      </p:sp>
      <p:sp>
        <p:nvSpPr>
          <p:cNvPr id="7" name="TextBox 6"/>
          <p:cNvSpPr txBox="1"/>
          <p:nvPr/>
        </p:nvSpPr>
        <p:spPr>
          <a:xfrm>
            <a:off x="731520" y="2788920"/>
            <a:ext cx="3200400" cy="27432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Smooth YOLO across neighbouring slices, so a one-slice false alarm fades before it becomes a hint.</a:t>
            </a:r>
          </a:p>
          <a:p>
            <a:pPr algn="l">
              <a:spcAft>
                <a:spcPts val="1200"/>
              </a:spcAft>
            </a:pPr>
            <a:r>
              <a:rPr sz="1600" b="0">
                <a:solidFill>
                  <a:srgbClr val="E8EAF2"/>
                </a:solidFill>
                <a:latin typeface="Segoe UI"/>
              </a:rPr>
              <a:t>•  Let MedSAM2's 'tumour here?' score wipe empty slices (the switch is in the code, not yet tested).</a:t>
            </a:r>
          </a:p>
        </p:txBody>
      </p:sp>
      <p:sp>
        <p:nvSpPr>
          <p:cNvPr id="8" name="Rectangle 7"/>
          <p:cNvSpPr/>
          <p:nvPr/>
        </p:nvSpPr>
        <p:spPr>
          <a:xfrm>
            <a:off x="4297679" y="2103120"/>
            <a:ext cx="356616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59" y="2240280"/>
            <a:ext cx="3200400" cy="457200"/>
          </a:xfrm>
          <a:prstGeom prst="rect">
            <a:avLst/>
          </a:prstGeom>
          <a:noFill/>
        </p:spPr>
        <p:txBody>
          <a:bodyPr wrap="square" lIns="45720" rIns="45720" anchor="t">
            <a:spAutoFit/>
          </a:bodyPr>
          <a:lstStyle/>
          <a:p>
            <a:pPr algn="l">
              <a:spcAft>
                <a:spcPts val="600"/>
              </a:spcAft>
            </a:pPr>
            <a:r>
              <a:rPr sz="1900" b="1">
                <a:solidFill>
                  <a:srgbClr val="3987E5"/>
                </a:solidFill>
                <a:latin typeface="Segoe UI"/>
              </a:rPr>
              <a:t>Hints &amp; small tumours</a:t>
            </a:r>
          </a:p>
        </p:txBody>
      </p:sp>
      <p:sp>
        <p:nvSpPr>
          <p:cNvPr id="10" name="TextBox 9"/>
          <p:cNvSpPr txBox="1"/>
          <p:nvPr/>
        </p:nvSpPr>
        <p:spPr>
          <a:xfrm>
            <a:off x="4480559" y="2788920"/>
            <a:ext cx="3200400" cy="27432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Multiply each pixel of the hint by its shape’s confidence, so a 0.06 shape becomes faint instead of as loud as a 0.90 one.</a:t>
            </a:r>
          </a:p>
          <a:p>
            <a:pPr algn="l">
              <a:spcAft>
                <a:spcPts val="1200"/>
              </a:spcAft>
            </a:pPr>
            <a:r>
              <a:rPr sz="1600" b="0">
                <a:solidFill>
                  <a:srgbClr val="E8EAF2"/>
                </a:solidFill>
                <a:latin typeface="Segoe UI"/>
              </a:rPr>
              <a:t>•  Train more on tumours under 10 mL.</a:t>
            </a:r>
          </a:p>
        </p:txBody>
      </p:sp>
      <p:sp>
        <p:nvSpPr>
          <p:cNvPr id="11" name="Rectangle 10"/>
          <p:cNvSpPr/>
          <p:nvPr/>
        </p:nvSpPr>
        <p:spPr>
          <a:xfrm>
            <a:off x="8046719" y="2103120"/>
            <a:ext cx="356616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9" y="2240280"/>
            <a:ext cx="3200400" cy="457200"/>
          </a:xfrm>
          <a:prstGeom prst="rect">
            <a:avLst/>
          </a:prstGeom>
          <a:noFill/>
        </p:spPr>
        <p:txBody>
          <a:bodyPr wrap="square" lIns="45720" rIns="45720" anchor="t">
            <a:spAutoFit/>
          </a:bodyPr>
          <a:lstStyle/>
          <a:p>
            <a:pPr algn="l">
              <a:spcAft>
                <a:spcPts val="600"/>
              </a:spcAft>
            </a:pPr>
            <a:r>
              <a:rPr sz="1900" b="1">
                <a:solidFill>
                  <a:srgbClr val="2FB35C"/>
                </a:solidFill>
                <a:latin typeface="Segoe UI"/>
              </a:rPr>
              <a:t>Much more data</a:t>
            </a:r>
          </a:p>
        </p:txBody>
      </p:sp>
      <p:sp>
        <p:nvSpPr>
          <p:cNvPr id="13" name="TextBox 12"/>
          <p:cNvSpPr txBox="1"/>
          <p:nvPr/>
        </p:nvSpPr>
        <p:spPr>
          <a:xfrm>
            <a:off x="8229599" y="2788920"/>
            <a:ext cx="3200400" cy="2743200"/>
          </a:xfrm>
          <a:prstGeom prst="rect">
            <a:avLst/>
          </a:prstGeom>
          <a:noFill/>
        </p:spPr>
        <p:txBody>
          <a:bodyPr wrap="square" lIns="45720" rIns="45720" anchor="t">
            <a:spAutoFit/>
          </a:bodyPr>
          <a:lstStyle/>
          <a:p>
            <a:pPr algn="l">
              <a:spcAft>
                <a:spcPts val="1200"/>
              </a:spcAft>
            </a:pPr>
            <a:r>
              <a:rPr sz="1600" b="0">
                <a:solidFill>
                  <a:srgbClr val="E8EAF2"/>
                </a:solidFill>
                <a:latin typeface="Segoe UI"/>
              </a:rPr>
              <a:t>•  Train on much more data sets: other BraTS collections and other hospitals' scans.</a:t>
            </a:r>
          </a:p>
          <a:p>
            <a:pPr algn="l">
              <a:spcAft>
                <a:spcPts val="1200"/>
              </a:spcAft>
            </a:pPr>
            <a:r>
              <a:rPr sz="1600" b="0">
                <a:solidFill>
                  <a:srgbClr val="E8EAF2"/>
                </a:solidFill>
                <a:latin typeface="Segoe UI"/>
              </a:rPr>
              <a:t>•  YOLO still improved with more data; MedSAM2 had levelled off.</a:t>
            </a:r>
          </a:p>
        </p:txBody>
      </p:sp>
      <p:sp>
        <p:nvSpPr>
          <p:cNvPr id="14" name="Rounded Rectangle 13"/>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5806440"/>
            <a:ext cx="10744200" cy="566928"/>
          </a:xfrm>
          <a:prstGeom prst="rect">
            <a:avLst/>
          </a:prstGeom>
          <a:noFill/>
        </p:spPr>
        <p:txBody>
          <a:bodyPr wrap="square" lIns="45720" rIns="45720" anchor="ctr">
            <a:spAutoFit/>
          </a:bodyPr>
          <a:lstStyle/>
          <a:p>
            <a:pPr algn="l">
              <a:spcAft>
                <a:spcPts val="0"/>
              </a:spcAft>
            </a:pPr>
            <a:r>
              <a:rPr sz="1600" b="1">
                <a:solidFill>
                  <a:srgbClr val="E8EAF2"/>
                </a:solidFill>
                <a:latin typeface="Segoe UI"/>
              </a:rPr>
              <a:t>Key takeaway: </a:t>
            </a:r>
            <a:r>
              <a:rPr sz="1600" b="0">
                <a:solidFill>
                  <a:srgbClr val="E8EAF2"/>
                </a:solidFill>
                <a:latin typeface="Segoe UI"/>
              </a:rPr>
              <a:t>cleaner hints, more small tumours and much more data should cut missed and false slices.</a:t>
            </a:r>
          </a:p>
        </p:txBody>
      </p:sp>
      <p:sp>
        <p:nvSpPr>
          <p:cNvPr id="14" name="Rounded Rectangle 13"/>
          <p:cNvSpPr/>
          <p:nvPr/>
        </p:nvSpPr>
        <p:spPr>
          <a:xfrm>
            <a:off x="548640" y="132588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1325880"/>
            <a:ext cx="10744200" cy="566928"/>
          </a:xfrm>
          <a:prstGeom prst="rect">
            <a:avLst/>
          </a:prstGeom>
          <a:noFill/>
        </p:spPr>
        <p:txBody>
          <a:bodyPr wrap="square" lIns="45720" rIns="45720" anchor="ctr">
            <a:spAutoFit/>
          </a:bodyPr>
          <a:lstStyle/>
          <a:p>
            <a:pPr algn="l">
              <a:spcAft>
                <a:spcPts val="0"/>
              </a:spcAft>
            </a:pPr>
            <a:r>
              <a:rPr sz="1600" b="1">
                <a:solidFill>
                  <a:srgbClr val="E8EAF2"/>
                </a:solidFill>
                <a:latin typeface="Segoe UI"/>
              </a:rPr>
              <a:t>The problem (test): </a:t>
            </a:r>
            <a:r>
              <a:rPr sz="1600" b="0">
                <a:solidFill>
                  <a:srgbClr val="E8EAF2"/>
                </a:solidFill>
                <a:latin typeface="Segoe UI"/>
              </a:rPr>
              <a:t>672 of 21,910 tumour slices missed (3.1%) · 815 of 22,663 empty slices drawn on (3.6%).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914400"/>
            <a:ext cx="7315200" cy="292388"/>
          </a:xfrm>
          <a:prstGeom prst="rect">
            <a:avLst/>
          </a:prstGeom>
          <a:noFill/>
        </p:spPr>
        <p:txBody>
          <a:bodyPr wrap="square" lIns="45720" rIns="45720" anchor="t">
            <a:spAutoFit/>
          </a:bodyPr>
          <a:lstStyle/>
          <a:p>
            <a:pPr algn="l">
              <a:spcAft>
                <a:spcPts val="600"/>
              </a:spcAft>
            </a:pPr>
            <a:r>
              <a:rPr sz="1300" b="0">
                <a:solidFill>
                  <a:schemeClr val="bg1"/>
                </a:solidFill>
                <a:latin typeface="Segoe UI"/>
              </a:rPr>
              <a:t>BRAIN TUMOUR SEGMENTATION · YOLO + MEDSAM2</a:t>
            </a:r>
          </a:p>
        </p:txBody>
      </p:sp>
      <p:sp>
        <p:nvSpPr>
          <p:cNvPr id="3" name="TextBox 2"/>
          <p:cNvSpPr txBox="1"/>
          <p:nvPr/>
        </p:nvSpPr>
        <p:spPr>
          <a:xfrm>
            <a:off x="640080" y="1371600"/>
            <a:ext cx="6583680" cy="1015663"/>
          </a:xfrm>
          <a:prstGeom prst="rect">
            <a:avLst/>
          </a:prstGeom>
          <a:noFill/>
        </p:spPr>
        <p:txBody>
          <a:bodyPr wrap="square" lIns="45720" rIns="45720" anchor="t">
            <a:spAutoFit/>
          </a:bodyPr>
          <a:lstStyle/>
          <a:p>
            <a:pPr algn="l">
              <a:spcAft>
                <a:spcPts val="0"/>
              </a:spcAft>
            </a:pPr>
            <a:r>
              <a:rPr sz="6000" b="0">
                <a:solidFill>
                  <a:schemeClr val="bg1"/>
                </a:solidFill>
                <a:latin typeface="Segoe UI"/>
              </a:rPr>
              <a:t>Thank you</a:t>
            </a:r>
          </a:p>
        </p:txBody>
      </p:sp>
      <p:sp>
        <p:nvSpPr>
          <p:cNvPr id="4" name="TextBox 3"/>
          <p:cNvSpPr txBox="1"/>
          <p:nvPr/>
        </p:nvSpPr>
        <p:spPr>
          <a:xfrm>
            <a:off x="640080" y="2514600"/>
            <a:ext cx="6583680" cy="553998"/>
          </a:xfrm>
          <a:prstGeom prst="rect">
            <a:avLst/>
          </a:prstGeom>
          <a:noFill/>
        </p:spPr>
        <p:txBody>
          <a:bodyPr wrap="square" lIns="45720" rIns="45720" anchor="t">
            <a:spAutoFit/>
          </a:bodyPr>
          <a:lstStyle/>
          <a:p>
            <a:pPr algn="l">
              <a:spcAft>
                <a:spcPts val="0"/>
              </a:spcAft>
            </a:pPr>
            <a:r>
              <a:rPr sz="3000" b="0">
                <a:solidFill>
                  <a:schemeClr val="bg1"/>
                </a:solidFill>
                <a:latin typeface="Segoe UI"/>
              </a:rPr>
              <a:t>Questions?</a:t>
            </a:r>
          </a:p>
        </p:txBody>
      </p:sp>
      <p:pic>
        <p:nvPicPr>
          <p:cNvPr id="14" name="Picture 13" descr="mod_labels.png"/>
          <p:cNvPicPr>
            <a:picLocks noChangeAspect="1"/>
          </p:cNvPicPr>
          <p:nvPr/>
        </p:nvPicPr>
        <p:blipFill>
          <a:blip r:embed="rId3"/>
          <a:stretch>
            <a:fillRect/>
          </a:stretch>
        </p:blipFill>
        <p:spPr>
          <a:xfrm>
            <a:off x="8011223" y="914400"/>
            <a:ext cx="3271393" cy="4937760"/>
          </a:xfrm>
          <a:prstGeom prst="rect">
            <a:avLst/>
          </a:prstGeom>
          <a:ln w="9525">
            <a:solidFill>
              <a:srgbClr val="2A2F47"/>
            </a:solidFill>
          </a:ln>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8229600" cy="274320"/>
          </a:xfrm>
          <a:prstGeom prst="rect">
            <a:avLst/>
          </a:prstGeom>
          <a:noFill/>
        </p:spPr>
        <p:txBody>
          <a:bodyPr wrap="square" anchor="t" lIns="45720" rIns="45720">
            <a:spAutoFit/>
          </a:bodyPr>
          <a:lstStyle/>
          <a:p>
            <a:pPr algn="l">
              <a:spcAft>
                <a:spcPts val="600"/>
              </a:spcAft>
            </a:pPr>
            <a:r>
              <a:rPr sz="1200" b="0">
                <a:solidFill>
                  <a:srgbClr val="FFFFFF"/>
                </a:solidFill>
                <a:latin typeface="Segoe UI"/>
              </a:rPr>
              <a:t>EXPERIMENTS · TEST, 324 PATIENTS</a:t>
            </a:r>
          </a:p>
        </p:txBody>
      </p:sp>
      <p:sp>
        <p:nvSpPr>
          <p:cNvPr id="3" name="TextBox 2"/>
          <p:cNvSpPr txBox="1"/>
          <p:nvPr/>
        </p:nvSpPr>
        <p:spPr>
          <a:xfrm>
            <a:off x="548640" y="475488"/>
            <a:ext cx="11064240" cy="585216"/>
          </a:xfrm>
          <a:prstGeom prst="rect">
            <a:avLst/>
          </a:prstGeom>
          <a:noFill/>
        </p:spPr>
        <p:txBody>
          <a:bodyPr wrap="square" anchor="t" lIns="45720" rIns="45720">
            <a:spAutoFit/>
          </a:bodyPr>
          <a:lstStyle/>
          <a:p>
            <a:pPr algn="l">
              <a:spcAft>
                <a:spcPts val="0"/>
              </a:spcAft>
            </a:pPr>
            <a:r>
              <a:rPr sz="3200" b="0">
                <a:solidFill>
                  <a:srgbClr val="FFFFFF"/>
                </a:solidFill>
                <a:latin typeface="Segoe UI"/>
              </a:rPr>
              <a:t>Should the surgery cavity count as tumour?</a:t>
            </a:r>
          </a:p>
        </p:txBody>
      </p:sp>
      <p:sp>
        <p:nvSpPr>
          <p:cNvPr id="4" name="TextBox 3"/>
          <p:cNvSpPr txBox="1"/>
          <p:nvPr/>
        </p:nvSpPr>
        <p:spPr>
          <a:xfrm>
            <a:off x="10972800" y="6446520"/>
            <a:ext cx="914400" cy="265176"/>
          </a:xfrm>
          <a:prstGeom prst="rect">
            <a:avLst/>
          </a:prstGeom>
          <a:noFill/>
        </p:spPr>
        <p:txBody>
          <a:bodyPr wrap="square" anchor="t" lIns="45720" rIns="45720">
            <a:spAutoFit/>
          </a:bodyPr>
          <a:lstStyle/>
          <a:p>
            <a:pPr algn="r">
              <a:spcAft>
                <a:spcPts val="600"/>
              </a:spcAft>
            </a:pPr>
            <a:r>
              <a:rPr sz="1100" b="0">
                <a:solidFill>
                  <a:srgbClr val="FFFFFF"/>
                </a:solidFill>
                <a:latin typeface="Segoe UI"/>
              </a:rPr>
              <a:t>18</a:t>
            </a:r>
          </a:p>
        </p:txBody>
      </p:sp>
      <p:sp>
        <p:nvSpPr>
          <p:cNvPr id="5" name="Rounded Rectangle 4"/>
          <p:cNvSpPr/>
          <p:nvPr/>
        </p:nvSpPr>
        <p:spPr>
          <a:xfrm>
            <a:off x="548640" y="132588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Our target counts the resection cavity (RC) as tumour:</a:t>
            </a:r>
            <a:r>
              <a:rPr sz="1600" b="0">
                <a:solidFill>
                  <a:srgbClr val="E8EAF2"/>
                </a:solidFill>
                <a:latin typeface="Segoe UI"/>
              </a:rPr>
              <a:t> 17% of all tumour voxels; 270 of 324 test patients have one.</a:t>
            </a:r>
          </a:p>
        </p:txBody>
      </p:sp>
      <p:sp>
        <p:nvSpPr>
          <p:cNvPr id="7" name="Rectangle 6"/>
          <p:cNvSpPr/>
          <p:nvPr/>
        </p:nvSpPr>
        <p:spPr>
          <a:xfrm>
            <a:off x="548640" y="2103120"/>
            <a:ext cx="548640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12848"/>
            <a:ext cx="5120640" cy="411480"/>
          </a:xfrm>
          <a:prstGeom prst="rect">
            <a:avLst/>
          </a:prstGeom>
          <a:noFill/>
        </p:spPr>
        <p:txBody>
          <a:bodyPr wrap="square" anchor="t" lIns="45720" rIns="45720">
            <a:spAutoFit/>
          </a:bodyPr>
          <a:lstStyle/>
          <a:p>
            <a:pPr algn="l">
              <a:spcAft>
                <a:spcPts val="600"/>
              </a:spcAft>
            </a:pPr>
            <a:r>
              <a:rPr sz="1900" b="1">
                <a:solidFill>
                  <a:srgbClr val="E06A2E"/>
                </a:solidFill>
                <a:latin typeface="Segoe UI"/>
              </a:rPr>
              <a:t>What counts as tumour</a:t>
            </a:r>
          </a:p>
        </p:txBody>
      </p:sp>
      <p:sp>
        <p:nvSpPr>
          <p:cNvPr id="9" name="TextBox 8"/>
          <p:cNvSpPr txBox="1"/>
          <p:nvPr/>
        </p:nvSpPr>
        <p:spPr>
          <a:xfrm>
            <a:off x="731520" y="2788920"/>
            <a:ext cx="1005840" cy="457200"/>
          </a:xfrm>
          <a:prstGeom prst="rect">
            <a:avLst/>
          </a:prstGeom>
          <a:noFill/>
        </p:spPr>
        <p:txBody>
          <a:bodyPr wrap="square" anchor="ctr" lIns="45720" rIns="45720">
            <a:spAutoFit/>
          </a:bodyPr>
          <a:lstStyle/>
          <a:p>
            <a:pPr algn="l">
              <a:spcAft>
                <a:spcPts val="600"/>
              </a:spcAft>
            </a:pPr>
            <a:r>
              <a:rPr sz="1300" b="0">
                <a:solidFill>
                  <a:srgbClr val="B8BED3"/>
                </a:solidFill>
                <a:latin typeface="Segoe UI"/>
              </a:rPr>
              <a:t>Today</a:t>
            </a:r>
          </a:p>
        </p:txBody>
      </p:sp>
      <p:sp>
        <p:nvSpPr>
          <p:cNvPr id="10" name="Rounded Rectangle 9"/>
          <p:cNvSpPr/>
          <p:nvPr/>
        </p:nvSpPr>
        <p:spPr>
          <a:xfrm>
            <a:off x="1783080" y="2788920"/>
            <a:ext cx="932688" cy="457200"/>
          </a:xfrm>
          <a:prstGeom prst="roundRect">
            <a:avLst>
              <a:gd name="adj" fmla="val 25000"/>
            </a:avLst>
          </a:prstGeom>
          <a:solidFill>
            <a:srgbClr val="E0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83080" y="278892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NETC</a:t>
            </a:r>
          </a:p>
        </p:txBody>
      </p:sp>
      <p:sp>
        <p:nvSpPr>
          <p:cNvPr id="12" name="Rounded Rectangle 11"/>
          <p:cNvSpPr/>
          <p:nvPr/>
        </p:nvSpPr>
        <p:spPr>
          <a:xfrm>
            <a:off x="2807208" y="2788920"/>
            <a:ext cx="932688" cy="457200"/>
          </a:xfrm>
          <a:prstGeom prst="roundRect">
            <a:avLst>
              <a:gd name="adj" fmla="val 2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7208" y="278892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SNFH</a:t>
            </a:r>
          </a:p>
        </p:txBody>
      </p:sp>
      <p:sp>
        <p:nvSpPr>
          <p:cNvPr id="14" name="Rounded Rectangle 13"/>
          <p:cNvSpPr/>
          <p:nvPr/>
        </p:nvSpPr>
        <p:spPr>
          <a:xfrm>
            <a:off x="3831336" y="2788920"/>
            <a:ext cx="932688" cy="457200"/>
          </a:xfrm>
          <a:prstGeom prst="roundRect">
            <a:avLst>
              <a:gd name="adj" fmla="val 25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31336" y="278892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ET</a:t>
            </a:r>
          </a:p>
        </p:txBody>
      </p:sp>
      <p:sp>
        <p:nvSpPr>
          <p:cNvPr id="16" name="Rounded Rectangle 15"/>
          <p:cNvSpPr/>
          <p:nvPr/>
        </p:nvSpPr>
        <p:spPr>
          <a:xfrm>
            <a:off x="4855464" y="2788920"/>
            <a:ext cx="932688" cy="457200"/>
          </a:xfrm>
          <a:prstGeom prst="roundRect">
            <a:avLst>
              <a:gd name="adj" fmla="val 25000"/>
            </a:avLst>
          </a:prstGeom>
          <a:solidFill>
            <a:srgbClr val="E8C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5464" y="278892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RC</a:t>
            </a:r>
          </a:p>
        </p:txBody>
      </p:sp>
      <p:sp>
        <p:nvSpPr>
          <p:cNvPr id="18" name="TextBox 17"/>
          <p:cNvSpPr txBox="1"/>
          <p:nvPr/>
        </p:nvSpPr>
        <p:spPr>
          <a:xfrm>
            <a:off x="731520" y="3429000"/>
            <a:ext cx="1005840" cy="457200"/>
          </a:xfrm>
          <a:prstGeom prst="rect">
            <a:avLst/>
          </a:prstGeom>
          <a:noFill/>
        </p:spPr>
        <p:txBody>
          <a:bodyPr wrap="square" anchor="ctr" lIns="45720" rIns="45720">
            <a:spAutoFit/>
          </a:bodyPr>
          <a:lstStyle/>
          <a:p>
            <a:pPr algn="l">
              <a:spcAft>
                <a:spcPts val="600"/>
              </a:spcAft>
            </a:pPr>
            <a:r>
              <a:rPr sz="1300" b="0">
                <a:solidFill>
                  <a:srgbClr val="B8BED3"/>
                </a:solidFill>
                <a:latin typeface="Segoe UI"/>
              </a:rPr>
              <a:t>Proposed</a:t>
            </a:r>
          </a:p>
        </p:txBody>
      </p:sp>
      <p:sp>
        <p:nvSpPr>
          <p:cNvPr id="19" name="Rounded Rectangle 18"/>
          <p:cNvSpPr/>
          <p:nvPr/>
        </p:nvSpPr>
        <p:spPr>
          <a:xfrm>
            <a:off x="1783080" y="3429000"/>
            <a:ext cx="932688" cy="457200"/>
          </a:xfrm>
          <a:prstGeom prst="roundRect">
            <a:avLst>
              <a:gd name="adj" fmla="val 25000"/>
            </a:avLst>
          </a:prstGeom>
          <a:solidFill>
            <a:srgbClr val="E04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83080" y="342900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NETC</a:t>
            </a:r>
          </a:p>
        </p:txBody>
      </p:sp>
      <p:sp>
        <p:nvSpPr>
          <p:cNvPr id="21" name="Rounded Rectangle 20"/>
          <p:cNvSpPr/>
          <p:nvPr/>
        </p:nvSpPr>
        <p:spPr>
          <a:xfrm>
            <a:off x="2807208" y="3429000"/>
            <a:ext cx="932688" cy="457200"/>
          </a:xfrm>
          <a:prstGeom prst="roundRect">
            <a:avLst>
              <a:gd name="adj" fmla="val 25000"/>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7208" y="342900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SNFH</a:t>
            </a:r>
          </a:p>
        </p:txBody>
      </p:sp>
      <p:sp>
        <p:nvSpPr>
          <p:cNvPr id="23" name="Rounded Rectangle 22"/>
          <p:cNvSpPr/>
          <p:nvPr/>
        </p:nvSpPr>
        <p:spPr>
          <a:xfrm>
            <a:off x="3831336" y="3429000"/>
            <a:ext cx="932688" cy="457200"/>
          </a:xfrm>
          <a:prstGeom prst="roundRect">
            <a:avLst>
              <a:gd name="adj" fmla="val 25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1336" y="3429000"/>
            <a:ext cx="932688" cy="457200"/>
          </a:xfrm>
          <a:prstGeom prst="rect">
            <a:avLst/>
          </a:prstGeom>
          <a:noFill/>
        </p:spPr>
        <p:txBody>
          <a:bodyPr wrap="square" anchor="ctr" lIns="45720" rIns="45720">
            <a:spAutoFit/>
          </a:bodyPr>
          <a:lstStyle/>
          <a:p>
            <a:pPr algn="ctr">
              <a:spcAft>
                <a:spcPts val="0"/>
              </a:spcAft>
            </a:pPr>
            <a:r>
              <a:rPr sz="1300" b="1">
                <a:solidFill>
                  <a:srgbClr val="10131F"/>
                </a:solidFill>
                <a:latin typeface="Segoe UI"/>
              </a:rPr>
              <a:t>ET</a:t>
            </a:r>
          </a:p>
        </p:txBody>
      </p:sp>
      <p:sp>
        <p:nvSpPr>
          <p:cNvPr id="25" name="Rounded Rectangle 24"/>
          <p:cNvSpPr/>
          <p:nvPr/>
        </p:nvSpPr>
        <p:spPr>
          <a:xfrm>
            <a:off x="4855464" y="3429000"/>
            <a:ext cx="932688" cy="457200"/>
          </a:xfrm>
          <a:prstGeom prst="roundRect">
            <a:avLst>
              <a:gd name="adj" fmla="val 25000"/>
            </a:avLst>
          </a:prstGeom>
          <a:solidFill>
            <a:srgbClr val="3A4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5464" y="3429000"/>
            <a:ext cx="932688" cy="457200"/>
          </a:xfrm>
          <a:prstGeom prst="rect">
            <a:avLst/>
          </a:prstGeom>
          <a:noFill/>
        </p:spPr>
        <p:txBody>
          <a:bodyPr wrap="square" anchor="ctr" lIns="45720" rIns="45720">
            <a:spAutoFit/>
          </a:bodyPr>
          <a:lstStyle/>
          <a:p>
            <a:pPr algn="ctr">
              <a:spcAft>
                <a:spcPts val="0"/>
              </a:spcAft>
            </a:pPr>
            <a:r>
              <a:rPr sz="1300" b="1">
                <a:solidFill>
                  <a:srgbClr val="B8BED3"/>
                </a:solidFill>
                <a:latin typeface="Segoe UI"/>
              </a:rPr>
              <a:t>0 · bg</a:t>
            </a:r>
          </a:p>
        </p:txBody>
      </p:sp>
      <p:sp>
        <p:nvSpPr>
          <p:cNvPr id="27" name="TextBox 26"/>
          <p:cNvSpPr txBox="1"/>
          <p:nvPr/>
        </p:nvSpPr>
        <p:spPr>
          <a:xfrm>
            <a:off x="1783080" y="3931920"/>
            <a:ext cx="4023360" cy="274320"/>
          </a:xfrm>
          <a:prstGeom prst="rect">
            <a:avLst/>
          </a:prstGeom>
          <a:noFill/>
        </p:spPr>
        <p:txBody>
          <a:bodyPr wrap="square" anchor="t" lIns="45720" rIns="45720">
            <a:spAutoFit/>
          </a:bodyPr>
          <a:lstStyle/>
          <a:p>
            <a:pPr algn="l">
              <a:spcAft>
                <a:spcPts val="0"/>
              </a:spcAft>
            </a:pPr>
            <a:r>
              <a:rPr sz="1100" b="0">
                <a:solidFill>
                  <a:srgbClr val="B8BED3"/>
                </a:solidFill>
                <a:latin typeface="Segoe UI"/>
              </a:rPr>
              <a:t>Dead core · Swelling · Enhancing · Cavity</a:t>
            </a:r>
          </a:p>
        </p:txBody>
      </p:sp>
      <p:sp>
        <p:nvSpPr>
          <p:cNvPr id="28" name="TextBox 27"/>
          <p:cNvSpPr txBox="1"/>
          <p:nvPr/>
        </p:nvSpPr>
        <p:spPr>
          <a:xfrm>
            <a:off x="731520" y="4343400"/>
            <a:ext cx="5120640" cy="1234440"/>
          </a:xfrm>
          <a:prstGeom prst="rect">
            <a:avLst/>
          </a:prstGeom>
          <a:noFill/>
        </p:spPr>
        <p:txBody>
          <a:bodyPr wrap="square" anchor="t" lIns="45720" rIns="45720">
            <a:spAutoFit/>
          </a:bodyPr>
          <a:lstStyle/>
          <a:p>
            <a:pPr algn="l">
              <a:spcAft>
                <a:spcPts val="400"/>
              </a:spcAft>
            </a:pPr>
            <a:r>
              <a:rPr sz="1400" b="0">
                <a:solidFill>
                  <a:srgbClr val="E8EAF2"/>
                </a:solidFill>
                <a:latin typeface="Segoe UI"/>
              </a:rPr>
              <a:t>•  The cavity is the </a:t>
            </a:r>
            <a:r>
              <a:rPr sz="1400" b="1">
                <a:solidFill>
                  <a:srgbClr val="E8EAF2"/>
                </a:solidFill>
                <a:latin typeface="Segoe UI"/>
              </a:rPr>
              <a:t>hole left by surgery</a:t>
            </a:r>
            <a:r>
              <a:rPr sz="1400" b="0">
                <a:solidFill>
                  <a:srgbClr val="E8EAF2"/>
                </a:solidFill>
                <a:latin typeface="Segoe UI"/>
              </a:rPr>
              <a:t>, not tumour.</a:t>
            </a:r>
          </a:p>
          <a:p>
            <a:pPr algn="l">
              <a:spcAft>
                <a:spcPts val="400"/>
              </a:spcAft>
            </a:pPr>
            <a:r>
              <a:rPr sz="1400" b="0">
                <a:solidFill>
                  <a:srgbClr val="E8EAF2"/>
                </a:solidFill>
                <a:latin typeface="Segoe UI"/>
              </a:rPr>
              <a:t>•  BraTS 2024: </a:t>
            </a:r>
            <a:r>
              <a:rPr sz="1400" b="1">
                <a:solidFill>
                  <a:srgbClr val="E8EAF2"/>
                </a:solidFill>
                <a:latin typeface="Segoe UI"/>
              </a:rPr>
              <a:t>whole tumour = NETC + SNFH + ET</a:t>
            </a:r>
            <a:r>
              <a:rPr sz="1400" b="0">
                <a:solidFill>
                  <a:srgbClr val="E8EAF2"/>
                </a:solidFill>
                <a:latin typeface="Segoe UI"/>
              </a:rPr>
              <a:t>.</a:t>
            </a:r>
          </a:p>
          <a:p>
            <a:pPr algn="l">
              <a:spcAft>
                <a:spcPts val="400"/>
              </a:spcAft>
            </a:pPr>
            <a:r>
              <a:rPr sz="1400" b="0">
                <a:solidFill>
                  <a:srgbClr val="E8EAF2"/>
                </a:solidFill>
                <a:latin typeface="Segoe UI"/>
              </a:rPr>
              <a:t>•  Fix: RC → </a:t>
            </a:r>
            <a:r>
              <a:rPr sz="1400" b="1">
                <a:solidFill>
                  <a:srgbClr val="E8EAF2"/>
                </a:solidFill>
                <a:latin typeface="Segoe UI"/>
              </a:rPr>
              <a:t>background (0)</a:t>
            </a:r>
            <a:r>
              <a:rPr sz="1400" b="0">
                <a:solidFill>
                  <a:srgbClr val="E8EAF2"/>
                </a:solidFill>
                <a:latin typeface="Segoe UI"/>
              </a:rPr>
              <a:t>, retrain both models.</a:t>
            </a:r>
          </a:p>
        </p:txBody>
      </p:sp>
      <p:sp>
        <p:nvSpPr>
          <p:cNvPr id="29" name="Rectangle 28"/>
          <p:cNvSpPr/>
          <p:nvPr/>
        </p:nvSpPr>
        <p:spPr>
          <a:xfrm>
            <a:off x="6217920" y="2103120"/>
            <a:ext cx="5394960" cy="3520440"/>
          </a:xfrm>
          <a:prstGeom prst="rect">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212848"/>
            <a:ext cx="5029200" cy="411480"/>
          </a:xfrm>
          <a:prstGeom prst="rect">
            <a:avLst/>
          </a:prstGeom>
          <a:noFill/>
        </p:spPr>
        <p:txBody>
          <a:bodyPr wrap="square" anchor="t" lIns="45720" rIns="45720">
            <a:spAutoFit/>
          </a:bodyPr>
          <a:lstStyle/>
          <a:p>
            <a:pPr algn="l">
              <a:spcAft>
                <a:spcPts val="600"/>
              </a:spcAft>
            </a:pPr>
            <a:r>
              <a:rPr sz="1900" b="1">
                <a:solidFill>
                  <a:srgbClr val="3987E5"/>
                </a:solidFill>
                <a:latin typeface="Segoe UI"/>
              </a:rPr>
              <a:t>MedSAM2 3D Dice if RC → background</a:t>
            </a:r>
          </a:p>
        </p:txBody>
      </p:sp>
      <p:sp>
        <p:nvSpPr>
          <p:cNvPr id="31" name="TextBox 30"/>
          <p:cNvSpPr txBox="1"/>
          <p:nvPr/>
        </p:nvSpPr>
        <p:spPr>
          <a:xfrm>
            <a:off x="6400800" y="2743200"/>
            <a:ext cx="402336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Today (cavity counted)</a:t>
            </a:r>
          </a:p>
        </p:txBody>
      </p:sp>
      <p:sp>
        <p:nvSpPr>
          <p:cNvPr id="32" name="Rectangle 31"/>
          <p:cNvSpPr/>
          <p:nvPr/>
        </p:nvSpPr>
        <p:spPr>
          <a:xfrm>
            <a:off x="6446520" y="3044952"/>
            <a:ext cx="3566160" cy="219456"/>
          </a:xfrm>
          <a:prstGeom prst="rect">
            <a:avLst/>
          </a:prstGeom>
          <a:solidFill>
            <a:srgbClr val="2A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46520" y="3044952"/>
            <a:ext cx="3225753" cy="219456"/>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4120" y="2980944"/>
            <a:ext cx="146304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0.899</a:t>
            </a:r>
          </a:p>
        </p:txBody>
      </p:sp>
      <p:sp>
        <p:nvSpPr>
          <p:cNvPr id="35" name="TextBox 34"/>
          <p:cNvSpPr txBox="1"/>
          <p:nvPr/>
        </p:nvSpPr>
        <p:spPr>
          <a:xfrm>
            <a:off x="6400800" y="3401568"/>
            <a:ext cx="402336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Same model, no retraining</a:t>
            </a:r>
          </a:p>
        </p:txBody>
      </p:sp>
      <p:sp>
        <p:nvSpPr>
          <p:cNvPr id="36" name="Rectangle 35"/>
          <p:cNvSpPr/>
          <p:nvPr/>
        </p:nvSpPr>
        <p:spPr>
          <a:xfrm>
            <a:off x="6446520" y="3703320"/>
            <a:ext cx="3566160" cy="219456"/>
          </a:xfrm>
          <a:prstGeom prst="rect">
            <a:avLst/>
          </a:prstGeom>
          <a:solidFill>
            <a:srgbClr val="2A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3703320"/>
            <a:ext cx="1183316" cy="219456"/>
          </a:xfrm>
          <a:prstGeom prst="rect">
            <a:avLst/>
          </a:prstGeom>
          <a:solidFill>
            <a:srgbClr val="6B7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4120" y="3639311"/>
            <a:ext cx="146304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0.773</a:t>
            </a:r>
          </a:p>
        </p:txBody>
      </p:sp>
      <p:sp>
        <p:nvSpPr>
          <p:cNvPr id="39" name="TextBox 38"/>
          <p:cNvSpPr txBox="1"/>
          <p:nvPr/>
        </p:nvSpPr>
        <p:spPr>
          <a:xfrm>
            <a:off x="6400800" y="4059935"/>
            <a:ext cx="402336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Best case: cavity skipped perfectly</a:t>
            </a:r>
          </a:p>
        </p:txBody>
      </p:sp>
      <p:sp>
        <p:nvSpPr>
          <p:cNvPr id="40" name="Rectangle 39"/>
          <p:cNvSpPr/>
          <p:nvPr/>
        </p:nvSpPr>
        <p:spPr>
          <a:xfrm>
            <a:off x="6446520" y="4361688"/>
            <a:ext cx="3566160" cy="219456"/>
          </a:xfrm>
          <a:prstGeom prst="rect">
            <a:avLst/>
          </a:prstGeom>
          <a:solidFill>
            <a:srgbClr val="2A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46520" y="4361688"/>
            <a:ext cx="2755669" cy="219456"/>
          </a:xfrm>
          <a:prstGeom prst="rect">
            <a:avLst/>
          </a:prstGeom>
          <a:solidFill>
            <a:srgbClr val="2FB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04120" y="4297679"/>
            <a:ext cx="146304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0.870</a:t>
            </a:r>
          </a:p>
        </p:txBody>
      </p:sp>
      <p:sp>
        <p:nvSpPr>
          <p:cNvPr id="43" name="TextBox 42"/>
          <p:cNvSpPr txBox="1"/>
          <p:nvPr/>
        </p:nvSpPr>
        <p:spPr>
          <a:xfrm>
            <a:off x="6400800" y="4718304"/>
            <a:ext cx="4023360" cy="274320"/>
          </a:xfrm>
          <a:prstGeom prst="rect">
            <a:avLst/>
          </a:prstGeom>
          <a:noFill/>
        </p:spPr>
        <p:txBody>
          <a:bodyPr wrap="square" anchor="t" lIns="45720" rIns="45720">
            <a:spAutoFit/>
          </a:bodyPr>
          <a:lstStyle/>
          <a:p>
            <a:pPr algn="l">
              <a:spcAft>
                <a:spcPts val="0"/>
              </a:spcAft>
            </a:pPr>
            <a:r>
              <a:rPr sz="1300" b="0">
                <a:solidFill>
                  <a:srgbClr val="E8EAF2"/>
                </a:solidFill>
                <a:latin typeface="Segoe UI"/>
              </a:rPr>
              <a:t>Realistic after retraining (estimate)</a:t>
            </a:r>
          </a:p>
        </p:txBody>
      </p:sp>
      <p:sp>
        <p:nvSpPr>
          <p:cNvPr id="44" name="Rectangle 43"/>
          <p:cNvSpPr/>
          <p:nvPr/>
        </p:nvSpPr>
        <p:spPr>
          <a:xfrm>
            <a:off x="6446520" y="5020056"/>
            <a:ext cx="3566160" cy="219456"/>
          </a:xfrm>
          <a:prstGeom prst="rect">
            <a:avLst/>
          </a:prstGeom>
          <a:solidFill>
            <a:srgbClr val="2A3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46520" y="5020056"/>
            <a:ext cx="2431472" cy="219456"/>
          </a:xfrm>
          <a:prstGeom prst="rect">
            <a:avLst/>
          </a:prstGeom>
          <a:solidFill>
            <a:srgbClr val="8FE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877992" y="5020056"/>
            <a:ext cx="162098" cy="219456"/>
          </a:xfrm>
          <a:prstGeom prst="rect">
            <a:avLst/>
          </a:prstGeom>
          <a:solidFill>
            <a:srgbClr val="C8F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04120" y="4956048"/>
            <a:ext cx="1463040" cy="329184"/>
          </a:xfrm>
          <a:prstGeom prst="rect">
            <a:avLst/>
          </a:prstGeom>
          <a:noFill/>
        </p:spPr>
        <p:txBody>
          <a:bodyPr wrap="square" anchor="t" lIns="45720" rIns="45720">
            <a:spAutoFit/>
          </a:bodyPr>
          <a:lstStyle/>
          <a:p>
            <a:pPr algn="l">
              <a:spcAft>
                <a:spcPts val="0"/>
              </a:spcAft>
            </a:pPr>
            <a:r>
              <a:rPr sz="1400" b="1">
                <a:solidFill>
                  <a:srgbClr val="E8EAF2"/>
                </a:solidFill>
                <a:latin typeface="Segoe UI"/>
              </a:rPr>
              <a:t>≈ 0.85–0.86</a:t>
            </a:r>
          </a:p>
        </p:txBody>
      </p:sp>
      <p:sp>
        <p:nvSpPr>
          <p:cNvPr id="48" name="TextBox 47"/>
          <p:cNvSpPr txBox="1"/>
          <p:nvPr/>
        </p:nvSpPr>
        <p:spPr>
          <a:xfrm>
            <a:off x="6400800" y="5321808"/>
            <a:ext cx="5029200" cy="274320"/>
          </a:xfrm>
          <a:prstGeom prst="rect">
            <a:avLst/>
          </a:prstGeom>
          <a:noFill/>
        </p:spPr>
        <p:txBody>
          <a:bodyPr wrap="square" anchor="t" lIns="45720" rIns="45720">
            <a:spAutoFit/>
          </a:bodyPr>
          <a:lstStyle/>
          <a:p>
            <a:pPr algn="l">
              <a:spcAft>
                <a:spcPts val="0"/>
              </a:spcAft>
            </a:pPr>
            <a:r>
              <a:rPr sz="1100" b="0">
                <a:solidFill>
                  <a:srgbClr val="B8BED3"/>
                </a:solidFill>
                <a:latin typeface="Segoe UI"/>
              </a:rPr>
              <a:t>Bars start at 0.70. YOLO drops alike (0.883 → 0.853): MedSAM2's lead holds.</a:t>
            </a:r>
          </a:p>
        </p:txBody>
      </p:sp>
      <p:sp>
        <p:nvSpPr>
          <p:cNvPr id="49" name="Rounded Rectangle 48"/>
          <p:cNvSpPr/>
          <p:nvPr/>
        </p:nvSpPr>
        <p:spPr>
          <a:xfrm>
            <a:off x="548640" y="5806440"/>
            <a:ext cx="11064240" cy="566928"/>
          </a:xfrm>
          <a:prstGeom prst="roundRect">
            <a:avLst>
              <a:gd name="adj" fmla="val 15000"/>
            </a:avLst>
          </a:prstGeom>
          <a:solidFill>
            <a:srgbClr val="1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7240" y="5806440"/>
            <a:ext cx="10744200" cy="566928"/>
          </a:xfrm>
          <a:prstGeom prst="rect">
            <a:avLst/>
          </a:prstGeom>
          <a:noFill/>
        </p:spPr>
        <p:txBody>
          <a:bodyPr wrap="square" anchor="ctr" lIns="45720" rIns="45720">
            <a:spAutoFit/>
          </a:bodyPr>
          <a:lstStyle/>
          <a:p>
            <a:pPr algn="l">
              <a:spcAft>
                <a:spcPts val="0"/>
              </a:spcAft>
            </a:pPr>
            <a:r>
              <a:rPr sz="1600" b="1">
                <a:solidFill>
                  <a:srgbClr val="E8EAF2"/>
                </a:solidFill>
                <a:latin typeface="Segoe UI"/>
              </a:rPr>
              <a:t>Key takeaway:</a:t>
            </a:r>
            <a:r>
              <a:rPr sz="1600" b="0">
                <a:solidFill>
                  <a:srgbClr val="E8EAF2"/>
                </a:solidFill>
                <a:latin typeface="Segoe UI"/>
              </a:rPr>
              <a:t> without the cavity the task is honest but harder: ~3 Dice points lower, not a worse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1128</TotalTime>
  <Words>2292</Words>
  <Application>Microsoft Office PowerPoint</Application>
  <PresentationFormat>Widescreen</PresentationFormat>
  <Paragraphs>287</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 David, Ofir</cp:lastModifiedBy>
  <cp:revision>1</cp:revision>
  <dcterms:created xsi:type="dcterms:W3CDTF">2013-01-27T09:14:16Z</dcterms:created>
  <dcterms:modified xsi:type="dcterms:W3CDTF">2026-10-10T14:15:31Z</dcterms:modified>
  <cp:category/>
</cp:coreProperties>
</file>