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שלום לכולם. הפרויקט שלנו עוסק בסימון אוטומטי של גידולי מוח בסריקות MRI.</a:t>
            </a:r>
          </a:p>
          <a:p>
            <a:r>
              <a:t>הרעיון המרכזי: משלבים שני מודלים. YOLO הוא מודל מהיר שמוצא את הגידול בכל פרוסה בנפרד, ו-MedSAM2 הוא מודל שמקבל את הניחוש של YOLO ומשפר אותו בעזרת הפרוסות השכנות, כלומר בתלת-ממד.</a:t>
            </a:r>
          </a:p>
          <a:p>
            <a:r>
              <a:t>עבדנו על מאגר BraTS 2024 של גליומות במבוגרים: 1,621 סריקות.</a:t>
            </a:r>
          </a:p>
          <a:p>
            <a:r>
              <a:t>בתמונה למטה רואים את כל התהליך על פרוסה אחת: משמאל התמונה שהמודל רואה, אחריה הרמז של YOLO, אחר כך המסכה של YOLO עצמו, ומימין התשובה של MedSAM2. ירוק = נכון, אדום = מיותר.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למה בכלל צריך סימון אוטומטי?</a:t>
            </a:r>
          </a:p>
          <a:p>
            <a:r>
              <a:t>גליומות הן גידולי המוח הממאירים הראשוניים הנפוצים ביותר במבוגרים.</a:t>
            </a:r>
          </a:p>
          <a:p>
            <a:r>
              <a:t>רופאים מסמנים את הגידול ב-MRI כדי לתכנן ניתוח והקרנות וכדי לעקוב אחרי שינוי בין סריקות.</a:t>
            </a:r>
          </a:p>
          <a:p>
            <a:r>
              <a:t>הבעיה: סריקה אחת היא יותר ממאה פרוסות, וכל אחת מסומנת ביד. זה איטי, וגם מומחים לא מסכימים ביניהם לגמרי.</a:t>
            </a:r>
          </a:p>
          <a:p>
            <a:r>
              <a:t>המטרה: סימון תלת-ממדי מהיר ועקבי, שהרופא רק צריך לבדוק ולאשר.</a:t>
            </a:r>
          </a:p>
          <a:p>
            <a:r>
              <a:t>מסר: סימון אוטומטי חוסך זמן למומחים ונותן מדידות עקביות.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כל סריקה כוללת כמה רצפים של MRI, וכל רצף מראה את הגידול אחרת: T1C עם חומר ניגוד מדגיש את החלק הפעיל, T2 ו-FLAIR מדגישים נוזלים ובצקת.</a:t>
            </a:r>
          </a:p>
          <a:p>
            <a:r>
              <a:t>המומחים סימנו ארבעה חלקים: ליבה מתה (NETC), בצקת (SNFH), גידול פעיל (ET) וחלל ניתוח (RC). כ-85% מהסריקות הן אחרי ניתוח.</a:t>
            </a:r>
          </a:p>
          <a:p>
            <a:r>
              <a:t>אנחנו מסמנים את הגידול כולו, כלומר את כל החלקים יחד.</a:t>
            </a:r>
          </a:p>
          <a:p>
            <a:r>
              <a:t>המדד שלנו הוא 3D Dice: כמה המסכה של המודל חופפת למסכה של המומחה בנפח כולו. 0 = אין חפיפה, 1 = מושלם. מחשבים לכל מטופל ואז ממצעים.</a:t>
            </a:r>
          </a:p>
          <a:p>
            <a:r>
              <a:t>שלושה רצפים (T1C, T2, FLAIR) נכנסים כתמונה צבעונית אחת: אדום, ירוק וכחול.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שני המודלים משלימים זה את זה.</a:t>
            </a:r>
          </a:p>
          <a:p>
            <a:r>
              <a:t>YOLO11: מודל זיהוי מהיר שגם מצייר מסכה לכל צורה שהוא מוצא. הוא עובד על פרוסה אחת בכל פעם ולא יודע מה יש בפרוסות השכנות. לכל צורה הוא נותן ציון ביטחון בין 0 ל-1.</a:t>
            </a:r>
          </a:p>
          <a:p>
            <a:r>
              <a:t>SAM2 של Meta יודע לסמן אובייקט לפי רמז: נקודה, מלבן או מסכה. הוא מתייחס לסריקה תלת-ממדית כמו לווידאו וזוכר את הפרוסות שכבר עבר. MedSAM2 הוא SAM2 שאומן בנוסף על תמונות רפואיות.</a:t>
            </a:r>
          </a:p>
          <a:p>
            <a:r>
              <a:t>ל-MedSAM2 יש כ-39 מיליון משקלים, 70% מהם במקודד התמונה.</a:t>
            </a:r>
          </a:p>
          <a:p>
            <a:r>
              <a:t>מסר: YOLO טוב במציאה, MedSAM2 טוב בתיקון בעזרת ההקשר התלת-ממדי.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שאלת המחקר: האם MedSAM2, כשהוא מקבל רמז מ-YOLO בכל פרוסה, מסמן את הגידול טוב יותר מ-YOLO לבד?</a:t>
            </a:r>
          </a:p>
          <a:p>
            <a:r>
              <a:t>כדי שההשוואה תהיה הוגנת שמרנו על כמה כללים:</a:t>
            </a:r>
          </a:p>
          <a:p>
            <a:r>
              <a:t>המסכה של המומחה אף פעם לא מוצגת למודל בזמן חיזוי, היא רק "דף התשובות".</a:t>
            </a:r>
          </a:p>
          <a:p>
            <a:r>
              <a:t>את ההגדרות בחרנו על קבוצות ולידציה, ואת קבוצת המבחן הרצנו פעם אחת בלבד.</a:t>
            </a:r>
          </a:p>
          <a:p>
            <a:r>
              <a:t>החלוקה היא לפי אדם, לא לפי סריקה.</a:t>
            </a:r>
          </a:p>
          <a:p>
            <a:r>
              <a:t>ומשווים מול הגרסה הכי טובה של YOLO, לא מול גרסה חלשה.</a:t>
            </a:r>
          </a:p>
          <a:p>
            <a:r>
              <a:t>בנינו שלושה דברים: YOLO מאומן, MedSAM2 מאומן, ואפליקציית ווב לניתוח הנתונים והתוצאות.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המאגר: 1,621 סריקות מ-731 אנשים. חילקנו לחמש קבוצות לפי אדם: אימון ו-ולידציה ל-YOLO, אימון ו-ולידציה ל-MedSAM2, וקבוצת מבחן של 324 סריקות.</a:t>
            </a:r>
          </a:p>
          <a:p>
            <a:r>
              <a:t>הנקודה החשובה: אף אדם לא נמצא גם בקבוצה של YOLO וגם בקבוצה של MedSAM2. כך MedSAM2 מתאמן על רמזים ש-YOLO יצר לאנשים שהוא לא ראה, בדיוק כמו בשימוש אמיתי.</a:t>
            </a:r>
          </a:p>
          <a:p>
            <a:r>
              <a:t>את הגדלים קבענו לפי עקומות למידה: MedSAM2 כמעט לא השתפר מעבר ל-500 סריקות, בעוד ש-YOLO עוד הרוויח מעוד נתונים, ולכן העברנו אליו 221 סריקות.</a:t>
            </a:r>
          </a:p>
          <a:p>
            <a:r>
              <a:t>הסתייגות כנה: קבוצת המבחן חולקת חלק מהאנשים (בסריקות אחרות) עם קבוצות האימון, מהחלוקה המקורית. השארנו כך כדי שכל תוצאות המבחן יהיו ברות השוואה.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כדי להכיר את הנתונים בנינו אפליקציית ווב עם ארבעה עמודים: ניתוח נתונים, תוצאות, YOLO ו-MedSAM2. כל גרף מסנן את כל השאר.</a:t>
            </a:r>
          </a:p>
          <a:p>
            <a:r>
              <a:t>כמה עובדות: גודל גידול חציוני 59 מ"ל, 85% מהסריקות אחרי ניתוח, ול-73% יש כמה חלקים נפרדים. הגידולים מתחלקים שווה בערך בין צד שמאל (48%) לימין (47%).</a:t>
            </a:r>
          </a:p>
          <a:p>
            <a:r>
              <a:t>מפת החום מראה איפה נמצאים מרכזי הגידולים, במבט מלמעלה, כאשר הצד הימני של המטופל מוצג משמאל, כמו בסריקה בבית חולים.</a:t>
            </a:r>
          </a:p>
          <a:p>
            <a:r>
              <a:t>השתמשנו באפליקציה כדי לבדוק את החלוקה, למצוא מטופלים חריגים, ולראות איפה כל מודל נכשל.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זה כל התהליך.</a:t>
            </a:r>
          </a:p>
          <a:p>
            <a:r>
              <a:t>מתחילים מפרוסות ה-MRI כתמונה צבעונית. YOLO רץ על כל פרוסה ושומר כל צורה עם ביטחון של 0.05 ומעלה.</a:t>
            </a:r>
          </a:p>
          <a:p>
            <a:r>
              <a:t>מהפלט שלו בונים "מפת רמז": ההסתברות לכל פיקסל, מומרת ל-logit ומוכפלת ב-8. בפרוסות ריקות ומחוץ לראש שמים "אין כאן גידול" ברור.</a:t>
            </a:r>
          </a:p>
          <a:p>
            <a:r>
              <a:t>MedSAM2 מתחיל מהפרוסה שבה YOLO הכי בטוח, ואז עובר למעלה ולמטה. בכל פרוסה הוא רואה את התמונה, את הרמז, ואת הזיכרון: פרוסת ההתחלה ועוד 6 הפרוסות האחרונות.</a:t>
            </a:r>
          </a:p>
          <a:p>
            <a:r>
              <a:t>בנוסף מריצים את כל המטופל גם בתמונת מראה (שמאל-ימין), הופכים בחזרה וממצעים.</a:t>
            </a:r>
          </a:p>
          <a:p>
            <a:r>
              <a:t>בסוף: מעל 50% = גידול, ומוחקים חתיכות קטנות מ-100 ווקסלים. רק אז משווים למומחה.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שלב 1: אימון YOLO.</a:t>
            </a:r>
          </a:p>
          <a:p>
            <a:r>
              <a:t>לקחנו את yolo11m-seg, שאומן מראש על תמונות יומיומיות, ואימנו אותו ברזולוציה 512 על הפרוסות של 471 סריקות, כולל פרוסות ריקות, כדי שילמד גם מתי לא לצייר כלום.</a:t>
            </a:r>
          </a:p>
          <a:p>
            <a:r>
              <a:t>את הסבב הטוב ביותר בחרנו על הוולידציה, והאימון נעצר מוקדם בסבב 32 מתוך 60.</a:t>
            </a:r>
          </a:p>
          <a:p>
            <a:r>
              <a:t>בזמן חיזוי הוספנו שלושה דברים: ביטחון נמוך של 0.05, מיצוע עם תמונת מראה, והסרת חתיכות קטנות מ-200 ווקסלים. זה הוסיף כ-0.006.</a:t>
            </a:r>
          </a:p>
          <a:p>
            <a:r>
              <a:t>התוצאה על המבחן: 3D Dice של 0.8834, ו-93.8% מפרוסות הגידול נמצאו.</a:t>
            </a:r>
          </a:p>
          <a:p>
            <a:r>
              <a:t>הגרף משמאל מראה שביטחון נמוך יותר, כלומר לצייר יותר, נותן תוצאה טובה יותר.</a:t>
            </a:r>
          </a:p>
          <a:p>
            <a:r>
              <a:t>מסר: זה בסיס חזק מאוד למודל דו-ממדי.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שלב 2: איך הפלט של YOLO הופך לרמז ל-MedSAM2.</a:t>
            </a:r>
          </a:p>
          <a:p>
            <a:r>
              <a:t>הרמז הוא ההסתברות של YOLO לכל פיקסל, מכל הצורות עם ביטחון 0.05 ומעלה. זה נותן ל-MedSAM2 יותר מידע, כולל ניחושים חלשים.</a:t>
            </a:r>
          </a:p>
          <a:p>
            <a:r>
              <a:t>ממירים את ההסתברות ל-logit, הסולם ש-MedSAM2 עצמו משתמש בו, שבו 0 הוא 50%. הלוגיט מדגיש את הקצוות: הוא מבדיל בין "די בטוח" ל"בטוח מאוד". אחרי כפל ב-8 הטווח הוא בערך מינוס 44 עד 44.</a:t>
            </a:r>
          </a:p>
          <a:p>
            <a:r>
              <a:t>בפרוסות ש-YOLO לא מצא בהן כלום ומחוץ לראש שמים מינוס 20: "אין כאן כלום".</a:t>
            </a:r>
          </a:p>
          <a:p>
            <a:r>
              <a:t>בתמונה, משמאל לימין: התמונה, הרמז, המסכה של YOLO עצמו, והתשובה של MedSAM2. שימו לב ש-MedSAM2 תיקן חלק מהאזורים שבהם YOLO טעה.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איך מאמנים את MedSAM2 לתקן ולא להעתיק.</a:t>
            </a:r>
          </a:p>
          <a:p>
            <a:r>
              <a:t>התאמנו על 500 סריקות, בקטעים של 8 פרוסות, במשך 15 סבבים. אחרי כל סבב בדקנו על 80 סריקות ולידציה ושמרנו את הטוב ביותר.</a:t>
            </a:r>
          </a:p>
          <a:p>
            <a:r>
              <a:t>אימנו רק את החלקים הקטנים: מפענח המסכה ומקודד הרמז בקצב 1e-4, והזיכרון בקצב איטי יותר, 1e-5. בסך הכול 11.7 מיליון משקלים, 30% מהמודל.</a:t>
            </a:r>
          </a:p>
          <a:p>
            <a:r>
              <a:t>את מקודד התמונה הגדול השארנו קפוא. ניסינו לאמן גם אותו, וזה לא שיפר.</a:t>
            </a:r>
          </a:p>
          <a:p>
            <a:r>
              <a:t>הטריק החשוב: ב-30% מהדוגמאות קלקלנו את הרמז בכוונה (הסרנו, הזזנו, הגדלנו, הקטנו), בזמן שהתשובה נשארת המסכה של המומחה. כך המודל לומד לתקן את YOLO ולא סתם להעתיק אותו.</a:t>
            </a:r>
          </a:p>
          <a:p>
            <a:r>
              <a:t>בגרפים רואים שהציון מתייצב בערך מסבב 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התוצאות על קבוצת המבחן, 324 מטופלים שאף מודל לא ראה.</a:t>
            </a:r>
          </a:p>
          <a:p>
            <a:r>
              <a:t>MedSAM2 הגיע ל-0.8988, מול 0.8834 של הגרסה הכי טובה של YOLO.</a:t>
            </a:r>
          </a:p>
          <a:p>
            <a:r>
              <a:t>השיפור הוא 0.0154, עם רווח סמך של 95% בין 0.012 ל-0.019. מבחן Wilcoxon נותן p קטן מאוד, כך שזה לא מקרי.</a:t>
            </a:r>
          </a:p>
          <a:p>
            <a:r>
              <a:t>185 מטופלים השתפרו ביותר מ-0.01, ורק 18 הורעו.</a:t>
            </a:r>
          </a:p>
          <a:p>
            <a:r>
              <a:t>MedSAM2 מצא 96.9% מפרוסות הגידול, והשאיר ריקות 96.4% מהפרוסות הריקות.</a:t>
            </a:r>
          </a:p>
          <a:p>
            <a:r>
              <a:t>חשוב: את כל ההגדרות בחרנו על הוולידציה, ואת המבחן הרצנו פעם אחת.</a:t>
            </a:r>
          </a:p>
          <a:p>
            <a:r>
              <a:t>מסר: השיפור עקבי וברור סטטיסטית, גם מול YOLO הכי טוב.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איפה זה עובד ואיפה פחות.</a:t>
            </a:r>
          </a:p>
          <a:p>
            <a:r>
              <a:t>בטבלה למעלה: הציון הממוצע לפי צד (שורות) וגודל גידול (עמודות). n הוא מספר המטופלים בכל משבצת.</a:t>
            </a:r>
          </a:p>
          <a:p>
            <a:r>
              <a:t>גודל הגידול קובע הרבה יותר מהצד: בגידולים קטנים מ-10 מ"ל הציון בערך 0.67 עד 0.73, ובגידולים מעל 100 מ"ל בערך 0.93. שמאל וימין כמעט זהים.</a:t>
            </a:r>
          </a:p>
          <a:p>
            <a:r>
              <a:t>דווקא בגידולים הקטנים MedSAM2 משפר הכי הרבה ביחס ל-YOLO.</a:t>
            </a:r>
          </a:p>
          <a:p>
            <a:r>
              <a:t>הגרף למטה מראה מטופל אחד פרוסה אחר פרוסה: MedSAM2 עוקב אחרי הגידול בעזרת הזיכרון, ודוחה התראות שווא בודדות של YOLO.</a:t>
            </a:r>
          </a:p>
          <a:p>
            <a:r>
              <a:t>הסתייגות: בחלק מהמשבצות יש מעט מאוד מטופלים, למשל בשורה "שני הצדדים" (17 בסך הכול), ולכן הן לא אמינות.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מה ניסינו ומה למדנו.</a:t>
            </a:r>
          </a:p>
          <a:p>
            <a:r>
              <a:t>התכנון הראשון שלנו נתן רמז רק לפרוסת ההתחלה, עם סבבי תיקון נוספים, והוא היה גרוע יותר מ-YOLO: 0.856 מול 0.864 על הוולידציה. כשעברנו לתת רמז בכל פרוסה, זה תוקן.</a:t>
            </a:r>
          </a:p>
          <a:p>
            <a:r>
              <a:t>אחר כך בדקנו הגדרות: אילו חלקים לאמן, עוצמת הרמז, ערך "אין כאן כלום". כמעט כל שינוי הזיז את התוצאה ב-0.001 או פחות. רק "אין כאן כלום" חזק יותר (מינוס 20) היה שיפור אמיתי סטטיסטית, הירוק בגרף.</a:t>
            </a:r>
          </a:p>
          <a:p>
            <a:r>
              <a:t>למה השיפורים קטנים? כי 96% מהטעויות שנשארו הן בשולי הגידול, ולא במציאת הגידול עצמו.</a:t>
            </a:r>
          </a:p>
          <a:p>
            <a:r>
              <a:t>מסר: התכנון היה חשוב הרבה יותר מכיוונון ההגדרות, ומה שנשאר לשפר הוא דיוק הגבולות.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עבודה עתידית, בשלושה כיוונים.</a:t>
            </a:r>
          </a:p>
          <a:p>
            <a:r>
              <a:t>גבולות חדים יותר: למצע כמה מודלי MedSAM2 שכבר אימנו (אנסמבל), בלי אימון חדש; פונקציית הפסד שמתמקדת בגבולות; ורזולוציית פלט גבוהה יותר.</a:t>
            </a:r>
          </a:p>
          <a:p>
            <a:r>
              <a:t>רמזים טובים יותר וגידולים קטנים: לשקלל כל פיקסל ברמז לפי הביטחון של הצורה; לתת ל-YOLO הקשר תלת-ממדי; ולהתמקד בגידולים מתחת ל-10 מ"ל.</a:t>
            </a:r>
          </a:p>
          <a:p>
            <a:r>
              <a:t>מעבר לפרויקט: לסמן גם את חלקי הגידול (ET, NETC, SNFH) ולא רק את כולו; לבדוק על סריקות מבתי חולים אחרים; להסיר את החפיפה של אנשים בין המבחן לאימון; ולמדוד מהירות.</a:t>
            </a:r>
          </a:p>
          <a:p>
            <a:r>
              <a:t>חשוב לזכור שגם מומחים לא מסכימים ביניהם לגמרי, ולכן השיפורים מכאן יהיו קטנים.</a:t>
            </a:r>
          </a:p>
          <a:p>
            <a:r>
              <a:t>תודה רבה, אשמח לשאלות.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2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06A2E"/>
                </a:solidFill>
                <a:latin typeface="Segoe UI"/>
              </a:rPr>
              <a:t>CLASS PROJECT · OCTOBER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25880"/>
            <a:ext cx="1051560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0">
                <a:solidFill>
                  <a:srgbClr val="E8EAF2"/>
                </a:solidFill>
                <a:latin typeface="Segoe UI"/>
              </a:rPr>
              <a:t>Brain Tumour Segmentation on MRI with YOLO + MedSAM2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2608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9AA0B8"/>
                </a:solidFill>
                <a:latin typeface="Segoe UI"/>
              </a:rPr>
              <a:t>A fast 2D detector finds the tumour; a promptable video model refines it in 3D. BraTS 2024 adult glioma, 1,621 MRI scans.</a:t>
            </a:r>
          </a:p>
        </p:txBody>
      </p:sp>
      <p:pic>
        <p:nvPicPr>
          <p:cNvPr id="5" name="Picture 4" descr="ms_pan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5848" y="3886200"/>
            <a:ext cx="7509824" cy="2194560"/>
          </a:xfrm>
          <a:prstGeom prst="rect">
            <a:avLst/>
          </a:prstGeom>
          <a:ln w="9525">
            <a:solidFill>
              <a:srgbClr val="2A2F47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2325848" y="6117336"/>
            <a:ext cx="7509824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9AA0B8"/>
                </a:solidFill>
                <a:latin typeface="Segoe UI"/>
              </a:rPr>
              <a:t>One slice: the MRI picture · YOLO's hint · YOLO's own mask · MedSAM2's answer (green = found, red = extra)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0B8"/>
                </a:solidFill>
                <a:latin typeface="Segoe UI"/>
              </a:rPr>
              <a:t>Presented by: ______________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E06A2E"/>
                </a:solidFill>
                <a:latin typeface="Segoe UI"/>
              </a:rPr>
              <a:t>BACKGROUND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0">
                <a:solidFill>
                  <a:srgbClr val="E8EAF2"/>
                </a:solidFill>
                <a:latin typeface="Segoe UI"/>
              </a:rPr>
              <a:t>Why segment brain tumours automatically?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9AA0B8"/>
                </a:solidFill>
                <a:latin typeface="Segoe UI"/>
              </a:rPr>
              <a:t>2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6583680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>
                <a:solidFill>
                  <a:srgbClr val="E8EAF2"/>
                </a:solidFill>
                <a:latin typeface="Segoe UI"/>
              </a:rPr>
              <a:t>•  </a:t>
            </a:r>
            <a:r>
              <a:rPr sz="1800" b="1">
                <a:solidFill>
                  <a:srgbClr val="E8EAF2"/>
                </a:solidFill>
                <a:latin typeface="Segoe UI"/>
              </a:rPr>
              <a:t>Gliomas</a:t>
            </a:r>
            <a:r>
              <a:rPr sz="1800" b="0">
                <a:solidFill>
                  <a:srgbClr val="E8EAF2"/>
                </a:solidFill>
                <a:latin typeface="Segoe UI"/>
              </a:rPr>
              <a:t> are the most common malignant primary brain tumours in adults.</a:t>
            </a:r>
          </a:p>
          <a:p>
            <a:pPr algn="l">
              <a:spcAft>
                <a:spcPts val="1200"/>
              </a:spcAft>
            </a:pPr>
            <a:r>
              <a:rPr sz="1800" b="0">
                <a:solidFill>
                  <a:srgbClr val="E8EAF2"/>
                </a:solidFill>
                <a:latin typeface="Segoe UI"/>
              </a:rPr>
              <a:t>•  Doctors outline the tumour on MRI to </a:t>
            </a:r>
            <a:r>
              <a:rPr sz="1800" b="1">
                <a:solidFill>
                  <a:srgbClr val="E8EAF2"/>
                </a:solidFill>
                <a:latin typeface="Segoe UI"/>
              </a:rPr>
              <a:t>plan surgery and radiotherapy</a:t>
            </a:r>
            <a:r>
              <a:rPr sz="1800" b="0">
                <a:solidFill>
                  <a:srgbClr val="E8EAF2"/>
                </a:solidFill>
                <a:latin typeface="Segoe UI"/>
              </a:rPr>
              <a:t> and to </a:t>
            </a:r>
            <a:r>
              <a:rPr sz="1800" b="1">
                <a:solidFill>
                  <a:srgbClr val="E8EAF2"/>
                </a:solidFill>
                <a:latin typeface="Segoe UI"/>
              </a:rPr>
              <a:t>track change</a:t>
            </a:r>
            <a:r>
              <a:rPr sz="1800" b="0">
                <a:solidFill>
                  <a:srgbClr val="E8EAF2"/>
                </a:solidFill>
                <a:latin typeface="Segoe UI"/>
              </a:rPr>
              <a:t> between scans.</a:t>
            </a:r>
          </a:p>
          <a:p>
            <a:pPr algn="l">
              <a:spcAft>
                <a:spcPts val="1200"/>
              </a:spcAft>
            </a:pPr>
            <a:r>
              <a:rPr sz="1800" b="0">
                <a:solidFill>
                  <a:srgbClr val="E8EAF2"/>
                </a:solidFill>
                <a:latin typeface="Segoe UI"/>
              </a:rPr>
              <a:t>•  Outlining by hand is </a:t>
            </a:r>
            <a:r>
              <a:rPr sz="1800" b="1">
                <a:solidFill>
                  <a:srgbClr val="E8EAF2"/>
                </a:solidFill>
                <a:latin typeface="Segoe UI"/>
              </a:rPr>
              <a:t>slow</a:t>
            </a:r>
            <a:r>
              <a:rPr sz="1800" b="0">
                <a:solidFill>
                  <a:srgbClr val="E8EAF2"/>
                </a:solidFill>
                <a:latin typeface="Segoe UI"/>
              </a:rPr>
              <a:t>: a scan has well over a hundred slices, each drawn separately.</a:t>
            </a:r>
          </a:p>
          <a:p>
            <a:pPr algn="l">
              <a:spcAft>
                <a:spcPts val="1200"/>
              </a:spcAft>
            </a:pPr>
            <a:r>
              <a:rPr sz="1800" b="0">
                <a:solidFill>
                  <a:srgbClr val="E8EAF2"/>
                </a:solidFill>
                <a:latin typeface="Segoe UI"/>
              </a:rPr>
              <a:t>•  Experts </a:t>
            </a:r>
            <a:r>
              <a:rPr sz="1800" b="1">
                <a:solidFill>
                  <a:srgbClr val="E8EAF2"/>
                </a:solidFill>
                <a:latin typeface="Segoe UI"/>
              </a:rPr>
              <a:t>don't agree perfectly</a:t>
            </a:r>
            <a:r>
              <a:rPr sz="1800" b="0">
                <a:solidFill>
                  <a:srgbClr val="E8EAF2"/>
                </a:solidFill>
                <a:latin typeface="Segoe UI"/>
              </a:rPr>
              <a:t> with each other, so outlines vary between readers.</a:t>
            </a:r>
          </a:p>
          <a:p>
            <a:pPr algn="l">
              <a:spcAft>
                <a:spcPts val="1200"/>
              </a:spcAft>
            </a:pPr>
            <a:r>
              <a:rPr sz="1800" b="0">
                <a:solidFill>
                  <a:srgbClr val="E8EAF2"/>
                </a:solidFill>
                <a:latin typeface="Segoe UI"/>
              </a:rPr>
              <a:t>•  Automation goal: a </a:t>
            </a:r>
            <a:r>
              <a:rPr sz="1800" b="1">
                <a:solidFill>
                  <a:srgbClr val="E8EAF2"/>
                </a:solidFill>
                <a:latin typeface="Segoe UI"/>
              </a:rPr>
              <a:t>fast, consistent 3D outline</a:t>
            </a:r>
            <a:r>
              <a:rPr sz="1800" b="0">
                <a:solidFill>
                  <a:srgbClr val="E8EAF2"/>
                </a:solidFill>
                <a:latin typeface="Segoe UI"/>
              </a:rPr>
              <a:t> a doctor only needs to check.</a:t>
            </a:r>
          </a:p>
        </p:txBody>
      </p:sp>
      <p:pic>
        <p:nvPicPr>
          <p:cNvPr id="6" name="Picture 5" descr="mri_flair_se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1917" y="1417320"/>
            <a:ext cx="3158565" cy="3749039"/>
          </a:xfrm>
          <a:prstGeom prst="rect">
            <a:avLst/>
          </a:prstGeom>
          <a:ln w="9525">
            <a:solidFill>
              <a:srgbClr val="2A2F47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021917" y="5202935"/>
            <a:ext cx="3158565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9AA0B8"/>
                </a:solidFill>
                <a:latin typeface="Segoe UI"/>
              </a:rPr>
              <a:t>An expert outline on FLAIR (green = swelling, yellow = surgery cavity)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806440"/>
            <a:ext cx="11064240" cy="566928"/>
          </a:xfrm>
          <a:prstGeom prst="roundRect">
            <a:avLst>
              <a:gd name="adj" fmla="val 15000"/>
            </a:avLst>
          </a:prstGeom>
          <a:solidFill>
            <a:srgbClr val="1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806440"/>
            <a:ext cx="10744200" cy="5669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E8EAF2"/>
                </a:solidFill>
                <a:latin typeface="Segoe UI"/>
              </a:rPr>
              <a:t>Key takeaway:</a:t>
            </a:r>
            <a:r>
              <a:rPr sz="1600" b="0">
                <a:solidFill>
                  <a:srgbClr val="E8EAF2"/>
                </a:solidFill>
                <a:latin typeface="Segoe UI"/>
              </a:rPr>
              <a:t> Automatic 3D segmentation saves expert time and makes tumour measurements consistent.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E06A2E"/>
                </a:solidFill>
                <a:latin typeface="Segoe UI"/>
              </a:rPr>
              <a:t>BACKGROUND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0">
                <a:solidFill>
                  <a:srgbClr val="E8EAF2"/>
                </a:solidFill>
                <a:latin typeface="Segoe UI"/>
              </a:rPr>
              <a:t>MRI sequences and the BraTS 2024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9AA0B8"/>
                </a:solidFill>
                <a:latin typeface="Segoe UI"/>
              </a:rPr>
              <a:t>3 / 15</a:t>
            </a:r>
          </a:p>
        </p:txBody>
      </p:sp>
      <p:pic>
        <p:nvPicPr>
          <p:cNvPr id="5" name="Picture 4" descr="mri_t1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83526"/>
            <a:ext cx="1737360" cy="2062148"/>
          </a:xfrm>
          <a:prstGeom prst="rect">
            <a:avLst/>
          </a:prstGeom>
          <a:ln w="9525">
            <a:solidFill>
              <a:srgbClr val="2A2F47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48640" y="3582250"/>
            <a:ext cx="17373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9AA0B8"/>
                </a:solidFill>
                <a:latin typeface="Segoe UI"/>
              </a:rPr>
              <a:t>T1C (with contrast)</a:t>
            </a:r>
          </a:p>
        </p:txBody>
      </p:sp>
      <p:pic>
        <p:nvPicPr>
          <p:cNvPr id="7" name="Picture 6" descr="mri_t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60" y="1483526"/>
            <a:ext cx="1737360" cy="2062148"/>
          </a:xfrm>
          <a:prstGeom prst="rect">
            <a:avLst/>
          </a:prstGeom>
          <a:ln w="9525">
            <a:solidFill>
              <a:srgbClr val="2A2F47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2423160" y="3582250"/>
            <a:ext cx="17373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9AA0B8"/>
                </a:solidFill>
                <a:latin typeface="Segoe UI"/>
              </a:rPr>
              <a:t>T2</a:t>
            </a:r>
          </a:p>
        </p:txBody>
      </p:sp>
      <p:pic>
        <p:nvPicPr>
          <p:cNvPr id="9" name="Picture 8" descr="mri_flai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79" y="1483526"/>
            <a:ext cx="1737360" cy="2062148"/>
          </a:xfrm>
          <a:prstGeom prst="rect">
            <a:avLst/>
          </a:prstGeom>
          <a:ln w="9525">
            <a:solidFill>
              <a:srgbClr val="2A2F47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4297679" y="3582250"/>
            <a:ext cx="17373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9AA0B8"/>
                </a:solidFill>
                <a:latin typeface="Segoe UI"/>
              </a:rPr>
              <a:t>FLAIR</a:t>
            </a:r>
          </a:p>
        </p:txBody>
      </p:sp>
      <p:pic>
        <p:nvPicPr>
          <p:cNvPr id="11" name="Picture 10" descr="mri_flair_se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199" y="1483526"/>
            <a:ext cx="1737360" cy="2062148"/>
          </a:xfrm>
          <a:prstGeom prst="rect">
            <a:avLst/>
          </a:prstGeom>
          <a:ln w="9525">
            <a:solidFill>
              <a:srgbClr val="2A2F47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6172199" y="3582250"/>
            <a:ext cx="17373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9AA0B8"/>
                </a:solidFill>
                <a:latin typeface="Segoe UI"/>
              </a:rPr>
              <a:t>FLAIR + expert labels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977639"/>
            <a:ext cx="7498079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Each scan: 4 MRI sequences, 182 × 218 × 182 voxels of 1 mm³ (1,000 voxels = 1 mL).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Experts label 4 parts: </a:t>
            </a:r>
            <a:r>
              <a:rPr sz="1600" b="1">
                <a:solidFill>
                  <a:srgbClr val="E8EAF2"/>
                </a:solidFill>
                <a:latin typeface="Segoe UI"/>
              </a:rPr>
              <a:t>NETC</a:t>
            </a:r>
            <a:r>
              <a:rPr sz="1600" b="0">
                <a:solidFill>
                  <a:srgbClr val="E8EAF2"/>
                </a:solidFill>
                <a:latin typeface="Segoe UI"/>
              </a:rPr>
              <a:t> dead core, </a:t>
            </a:r>
            <a:r>
              <a:rPr sz="1600" b="1">
                <a:solidFill>
                  <a:srgbClr val="E8EAF2"/>
                </a:solidFill>
                <a:latin typeface="Segoe UI"/>
              </a:rPr>
              <a:t>SNFH</a:t>
            </a:r>
            <a:r>
              <a:rPr sz="1600" b="0">
                <a:solidFill>
                  <a:srgbClr val="E8EAF2"/>
                </a:solidFill>
                <a:latin typeface="Segoe UI"/>
              </a:rPr>
              <a:t> swelling, </a:t>
            </a:r>
            <a:r>
              <a:rPr sz="1600" b="1">
                <a:solidFill>
                  <a:srgbClr val="E8EAF2"/>
                </a:solidFill>
                <a:latin typeface="Segoe UI"/>
              </a:rPr>
              <a:t>ET</a:t>
            </a:r>
            <a:r>
              <a:rPr sz="1600" b="0">
                <a:solidFill>
                  <a:srgbClr val="E8EAF2"/>
                </a:solidFill>
                <a:latin typeface="Segoe UI"/>
              </a:rPr>
              <a:t> enhancing tumour, </a:t>
            </a:r>
            <a:r>
              <a:rPr sz="1600" b="1">
                <a:solidFill>
                  <a:srgbClr val="E8EAF2"/>
                </a:solidFill>
                <a:latin typeface="Segoe UI"/>
              </a:rPr>
              <a:t>RC</a:t>
            </a:r>
            <a:r>
              <a:rPr sz="1600" b="0">
                <a:solidFill>
                  <a:srgbClr val="E8EAF2"/>
                </a:solidFill>
                <a:latin typeface="Segoe UI"/>
              </a:rPr>
              <a:t> surgery cavity.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Our target: the </a:t>
            </a:r>
            <a:r>
              <a:rPr sz="1600" b="1">
                <a:solidFill>
                  <a:srgbClr val="E8EAF2"/>
                </a:solidFill>
                <a:latin typeface="Segoe UI"/>
              </a:rPr>
              <a:t>whole tumour</a:t>
            </a:r>
            <a:r>
              <a:rPr sz="1600" b="0">
                <a:solidFill>
                  <a:srgbClr val="E8EAF2"/>
                </a:solidFill>
                <a:latin typeface="Segoe UI"/>
              </a:rPr>
              <a:t> = all labelled parts together.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1463040"/>
            <a:ext cx="3383280" cy="4114800"/>
          </a:xfrm>
          <a:prstGeom prst="rect">
            <a:avLst/>
          </a:prstGeom>
          <a:solidFill>
            <a:srgbClr val="1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1600200"/>
            <a:ext cx="310896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>
                <a:solidFill>
                  <a:srgbClr val="E8EAF2"/>
                </a:solidFill>
                <a:latin typeface="Segoe UI"/>
              </a:rPr>
              <a:t>How we score: 3D Dice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8EAF2"/>
                </a:solidFill>
                <a:latin typeface="Segoe UI"/>
              </a:rPr>
              <a:t>Dice = 2 × overlap ÷ (model + expert)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8EAF2"/>
                </a:solidFill>
                <a:latin typeface="Segoe UI"/>
              </a:rPr>
              <a:t>0 = no overlap, 1 = perfect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8EAF2"/>
                </a:solidFill>
                <a:latin typeface="Segoe UI"/>
              </a:rPr>
              <a:t>Computed per patient over the whole 3D volume, then averaged.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8EAF2"/>
                </a:solidFill>
                <a:latin typeface="Segoe UI"/>
              </a:rPr>
              <a:t>Each sequence shows the tumour differently, so we feed three of them (T1C, T2, FLAIR) as one colour picture.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806440"/>
            <a:ext cx="11064240" cy="566928"/>
          </a:xfrm>
          <a:prstGeom prst="roundRect">
            <a:avLst>
              <a:gd name="adj" fmla="val 15000"/>
            </a:avLst>
          </a:prstGeom>
          <a:solidFill>
            <a:srgbClr val="1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806440"/>
            <a:ext cx="10744200" cy="5669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E8EAF2"/>
                </a:solidFill>
                <a:latin typeface="Segoe UI"/>
              </a:rPr>
              <a:t>Key takeaway:</a:t>
            </a:r>
            <a:r>
              <a:rPr sz="1600" b="0">
                <a:solidFill>
                  <a:srgbClr val="E8EAF2"/>
                </a:solidFill>
                <a:latin typeface="Segoe UI"/>
              </a:rPr>
              <a:t> Different MRI sequences show different tumour parts; we score the whole-tumour outline with 3D Dice.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E06A2E"/>
                </a:solidFill>
                <a:latin typeface="Segoe UI"/>
              </a:rPr>
              <a:t>BACKGROUND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0">
                <a:solidFill>
                  <a:srgbClr val="E8EAF2"/>
                </a:solidFill>
                <a:latin typeface="Segoe UI"/>
              </a:rPr>
              <a:t>Two models with different strengths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9AA0B8"/>
                </a:solidFill>
                <a:latin typeface="Segoe UI"/>
              </a:rPr>
              <a:t>4 / 15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5440680" cy="4114800"/>
          </a:xfrm>
          <a:prstGeom prst="rect">
            <a:avLst/>
          </a:prstGeom>
          <a:solidFill>
            <a:srgbClr val="1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64592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3987E5"/>
                </a:solidFill>
                <a:latin typeface="Segoe UI"/>
              </a:rPr>
              <a:t>YOLO11-seg  (Ultralytics)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40280"/>
            <a:ext cx="5029200" cy="3291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Fast object detector that also draws a mask for each shape it finds.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Works on </a:t>
            </a:r>
            <a:r>
              <a:rPr sz="1600" b="1">
                <a:solidFill>
                  <a:srgbClr val="E8EAF2"/>
                </a:solidFill>
                <a:latin typeface="Segoe UI"/>
              </a:rPr>
              <a:t>one 2D slice at a time</a:t>
            </a:r>
            <a:r>
              <a:rPr sz="1600" b="0">
                <a:solidFill>
                  <a:srgbClr val="E8EAF2"/>
                </a:solidFill>
                <a:latin typeface="Segoe UI"/>
              </a:rPr>
              <a:t>, no knowledge of neighbouring slices.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Gives a </a:t>
            </a:r>
            <a:r>
              <a:rPr sz="1600" b="1">
                <a:solidFill>
                  <a:srgbClr val="E8EAF2"/>
                </a:solidFill>
                <a:latin typeface="Segoe UI"/>
              </a:rPr>
              <a:t>confidence</a:t>
            </a:r>
            <a:r>
              <a:rPr sz="1600" b="0">
                <a:solidFill>
                  <a:srgbClr val="E8EAF2"/>
                </a:solidFill>
                <a:latin typeface="Segoe UI"/>
              </a:rPr>
              <a:t> for every shape (0–1).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We use the medium model (yolo11m-seg), pretrained on everyday photos.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200" y="1463040"/>
            <a:ext cx="5440680" cy="4114800"/>
          </a:xfrm>
          <a:prstGeom prst="rect">
            <a:avLst/>
          </a:prstGeom>
          <a:solidFill>
            <a:srgbClr val="1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64592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E06A2E"/>
                </a:solidFill>
                <a:latin typeface="Segoe UI"/>
              </a:rPr>
              <a:t>SAM2 → MedSAM2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240280"/>
            <a:ext cx="5029200" cy="3291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</a:t>
            </a:r>
            <a:r>
              <a:rPr sz="1600" b="1">
                <a:solidFill>
                  <a:srgbClr val="E8EAF2"/>
                </a:solidFill>
                <a:latin typeface="Segoe UI"/>
              </a:rPr>
              <a:t>Segment Anything 2</a:t>
            </a:r>
            <a:r>
              <a:rPr sz="1600" b="0">
                <a:solidFill>
                  <a:srgbClr val="E8EAF2"/>
                </a:solidFill>
                <a:latin typeface="Segoe UI"/>
              </a:rPr>
              <a:t> (Meta): outlines an object from a </a:t>
            </a:r>
            <a:r>
              <a:rPr sz="1600" b="1">
                <a:solidFill>
                  <a:srgbClr val="E8EAF2"/>
                </a:solidFill>
                <a:latin typeface="Segoe UI"/>
              </a:rPr>
              <a:t>prompt</a:t>
            </a:r>
            <a:r>
              <a:rPr sz="1600" b="0">
                <a:solidFill>
                  <a:srgbClr val="E8EAF2"/>
                </a:solidFill>
                <a:latin typeface="Segoe UI"/>
              </a:rPr>
              <a:t> (point, box or mask).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Treats a 3D scan </a:t>
            </a:r>
            <a:r>
              <a:rPr sz="1600" b="1">
                <a:solidFill>
                  <a:srgbClr val="E8EAF2"/>
                </a:solidFill>
                <a:latin typeface="Segoe UI"/>
              </a:rPr>
              <a:t>like a video</a:t>
            </a:r>
            <a:r>
              <a:rPr sz="1600" b="0">
                <a:solidFill>
                  <a:srgbClr val="E8EAF2"/>
                </a:solidFill>
                <a:latin typeface="Segoe UI"/>
              </a:rPr>
              <a:t>: remembers the slices it already did.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</a:t>
            </a:r>
            <a:r>
              <a:rPr sz="1600" b="1">
                <a:solidFill>
                  <a:srgbClr val="E8EAF2"/>
                </a:solidFill>
                <a:latin typeface="Segoe UI"/>
              </a:rPr>
              <a:t>MedSAM2</a:t>
            </a:r>
            <a:r>
              <a:rPr sz="1600" b="0">
                <a:solidFill>
                  <a:srgbClr val="E8EAF2"/>
                </a:solidFill>
                <a:latin typeface="Segoe UI"/>
              </a:rPr>
              <a:t> = SAM2 further trained on medical images and scans.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39 M weights: image encoder 70%, memory 19%, mask decoder 11%, prompt encoder &lt;0.1%.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806440"/>
            <a:ext cx="11064240" cy="566928"/>
          </a:xfrm>
          <a:prstGeom prst="roundRect">
            <a:avLst>
              <a:gd name="adj" fmla="val 15000"/>
            </a:avLst>
          </a:prstGeom>
          <a:solidFill>
            <a:srgbClr val="1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806440"/>
            <a:ext cx="10744200" cy="5669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E8EAF2"/>
                </a:solidFill>
                <a:latin typeface="Segoe UI"/>
              </a:rPr>
              <a:t>Key takeaway:</a:t>
            </a:r>
            <a:r>
              <a:rPr sz="1600" b="0">
                <a:solidFill>
                  <a:srgbClr val="E8EAF2"/>
                </a:solidFill>
                <a:latin typeface="Segoe UI"/>
              </a:rPr>
              <a:t> YOLO is good at finding the tumour on a slice; MedSAM2 can refine it using the slices around 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E06A2E"/>
                </a:solidFill>
                <a:latin typeface="Segoe UI"/>
              </a:rPr>
              <a:t>THE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0">
                <a:solidFill>
                  <a:srgbClr val="E8EAF2"/>
                </a:solidFill>
                <a:latin typeface="Segoe UI"/>
              </a:rPr>
              <a:t>Research question and ground rules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9AA0B8"/>
                </a:solidFill>
                <a:latin typeface="Segoe UI"/>
              </a:rPr>
              <a:t>5 / 15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11064240" cy="1005840"/>
          </a:xfrm>
          <a:prstGeom prst="rect">
            <a:avLst/>
          </a:prstGeom>
          <a:solidFill>
            <a:srgbClr val="1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0607040" cy="1005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0">
                <a:solidFill>
                  <a:srgbClr val="E8EAF2"/>
                </a:solidFill>
                <a:latin typeface="Segoe UI"/>
              </a:rPr>
              <a:t>Can MedSAM2, prompted by YOLO on every slice, outline the whole tumour </a:t>
            </a:r>
            <a:r>
              <a:rPr sz="2100" b="1">
                <a:solidFill>
                  <a:srgbClr val="E8EAF2"/>
                </a:solidFill>
                <a:latin typeface="Segoe UI"/>
              </a:rPr>
              <a:t>better than YOLO alone</a:t>
            </a:r>
            <a:r>
              <a:rPr sz="2100" b="0">
                <a:solidFill>
                  <a:srgbClr val="E8EAF2"/>
                </a:solidFill>
                <a:latin typeface="Segoe UI"/>
              </a:rPr>
              <a:t> (3D Dice)?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743200"/>
            <a:ext cx="5486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E06A2E"/>
                </a:solidFill>
                <a:latin typeface="Segoe UI"/>
              </a:rPr>
              <a:t>Ground rules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00400"/>
            <a:ext cx="5486400" cy="2468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The expert mask is never shown to a model when it predicts.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Settings are chosen on validation pools; test is scored once.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Patients are split by person, never by scan.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We compare against </a:t>
            </a:r>
            <a:r>
              <a:rPr sz="1600" b="1">
                <a:solidFill>
                  <a:srgbClr val="E8EAF2"/>
                </a:solidFill>
                <a:latin typeface="Segoe UI"/>
              </a:rPr>
              <a:t>YOLO's own best setup</a:t>
            </a:r>
            <a:r>
              <a:rPr sz="1600" b="0">
                <a:solidFill>
                  <a:srgbClr val="E8EAF2"/>
                </a:solidFill>
                <a:latin typeface="Segoe UI"/>
              </a:rPr>
              <a:t>, not a weak baseline.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2743200"/>
            <a:ext cx="53035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3987E5"/>
                </a:solidFill>
                <a:latin typeface="Segoe UI"/>
              </a:rPr>
              <a:t>What we built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3200400"/>
            <a:ext cx="5303520" cy="2468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A fine-tuned YOLO (stage 1).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A fine-tuned MedSAM2 that reads YOLO's hints (stage 2).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An interactive web app to explore the data and every result.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806440"/>
            <a:ext cx="11064240" cy="566928"/>
          </a:xfrm>
          <a:prstGeom prst="roundRect">
            <a:avLst>
              <a:gd name="adj" fmla="val 15000"/>
            </a:avLst>
          </a:prstGeom>
          <a:solidFill>
            <a:srgbClr val="1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806440"/>
            <a:ext cx="10744200" cy="5669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E8EAF2"/>
                </a:solidFill>
                <a:latin typeface="Segoe UI"/>
              </a:rPr>
              <a:t>Key takeaway:</a:t>
            </a:r>
            <a:r>
              <a:rPr sz="1600" b="0">
                <a:solidFill>
                  <a:srgbClr val="E8EAF2"/>
                </a:solidFill>
                <a:latin typeface="Segoe UI"/>
              </a:rPr>
              <a:t> A fair two-stage test: does adding MedSAM2 beat the best YOLO we could build?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E06A2E"/>
                </a:solidFill>
                <a:latin typeface="Segoe UI"/>
              </a:rP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0">
                <a:solidFill>
                  <a:srgbClr val="E8EAF2"/>
                </a:solidFill>
                <a:latin typeface="Segoe UI"/>
              </a:rPr>
              <a:t>Data: 1,621 scans from 731 people, split by person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9AA0B8"/>
                </a:solidFill>
                <a:latin typeface="Segoe UI"/>
              </a:rPr>
              <a:t>6 / 15</a:t>
            </a:r>
          </a:p>
        </p:txBody>
      </p:sp>
      <p:pic>
        <p:nvPicPr>
          <p:cNvPr id="5" name="Picture 4" descr="an_manif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8826" y="1417320"/>
            <a:ext cx="4500268" cy="4206240"/>
          </a:xfrm>
          <a:prstGeom prst="rect">
            <a:avLst/>
          </a:prstGeom>
          <a:ln w="9525">
            <a:solidFill>
              <a:srgbClr val="2A2F47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943600" y="1463040"/>
            <a:ext cx="5669280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Five pools: YOLO train 471 · YOLO val 81 · MedSAM2 train 500 · MedSAM2 val 245 · </a:t>
            </a:r>
            <a:r>
              <a:rPr sz="1600" b="1">
                <a:solidFill>
                  <a:srgbClr val="E8EAF2"/>
                </a:solidFill>
                <a:latin typeface="Segoe UI"/>
              </a:rPr>
              <a:t>test 324</a:t>
            </a:r>
            <a:r>
              <a:rPr sz="1600" b="0">
                <a:solidFill>
                  <a:srgbClr val="E8EAF2"/>
                </a:solidFill>
                <a:latin typeface="Segoe UI"/>
              </a:rPr>
              <a:t> scans.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</a:t>
            </a:r>
            <a:r>
              <a:rPr sz="1600" b="1">
                <a:solidFill>
                  <a:srgbClr val="E8EAF2"/>
                </a:solidFill>
                <a:latin typeface="Segoe UI"/>
              </a:rPr>
              <a:t>No person is in both a YOLO pool and a MedSAM2 pool</a:t>
            </a:r>
            <a:r>
              <a:rPr sz="1600" b="0">
                <a:solidFill>
                  <a:srgbClr val="E8EAF2"/>
                </a:solidFill>
                <a:latin typeface="Segoe UI"/>
              </a:rPr>
              <a:t>, so MedSAM2 trains on hints YOLO made for people it never saw, like real use.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Pool sizes set by learning curves: MedSAM2 barely improved past 500 patients (250 → 500 → 721: 0.884 → 0.886 → 0.886), while YOLO still gained from more data.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Caveat: test shares some people (other scans) with training pools, from the original split; kept so all test scores stay comparable.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5806440"/>
            <a:ext cx="11064240" cy="566928"/>
          </a:xfrm>
          <a:prstGeom prst="roundRect">
            <a:avLst>
              <a:gd name="adj" fmla="val 15000"/>
            </a:avLst>
          </a:prstGeom>
          <a:solidFill>
            <a:srgbClr val="1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806440"/>
            <a:ext cx="10744200" cy="5669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E8EAF2"/>
                </a:solidFill>
                <a:latin typeface="Segoe UI"/>
              </a:rPr>
              <a:t>Key takeaway:</a:t>
            </a:r>
            <a:r>
              <a:rPr sz="1600" b="0">
                <a:solidFill>
                  <a:srgbClr val="E8EAF2"/>
                </a:solidFill>
                <a:latin typeface="Segoe UI"/>
              </a:rPr>
              <a:t> Keeping the two models' people apart makes MedSAM2's training hints realistic.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E06A2E"/>
                </a:solidFill>
                <a:latin typeface="Segoe UI"/>
              </a:rP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0">
                <a:solidFill>
                  <a:srgbClr val="E8EAF2"/>
                </a:solidFill>
                <a:latin typeface="Segoe UI"/>
              </a:rPr>
              <a:t>Knowing the data: an interactive analytics 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9AA0B8"/>
                </a:solidFill>
                <a:latin typeface="Segoe UI"/>
              </a:rPr>
              <a:t>7 / 15</a:t>
            </a:r>
          </a:p>
        </p:txBody>
      </p:sp>
      <p:pic>
        <p:nvPicPr>
          <p:cNvPr id="5" name="Picture 4" descr="an_kp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6851" y="1371600"/>
            <a:ext cx="10307818" cy="1737360"/>
          </a:xfrm>
          <a:prstGeom prst="rect">
            <a:avLst/>
          </a:prstGeom>
          <a:ln w="9525">
            <a:solidFill>
              <a:srgbClr val="2A2F47"/>
            </a:solidFill>
          </a:ln>
        </p:spPr>
      </p:pic>
      <p:pic>
        <p:nvPicPr>
          <p:cNvPr id="6" name="Picture 5" descr="an_hea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5365" y="3200400"/>
            <a:ext cx="2724150" cy="2514600"/>
          </a:xfrm>
          <a:prstGeom prst="rect">
            <a:avLst/>
          </a:prstGeom>
          <a:ln w="9525">
            <a:solidFill>
              <a:srgbClr val="2A2F47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480560" y="3246120"/>
            <a:ext cx="7132320" cy="2468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9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4 pages: </a:t>
            </a:r>
            <a:r>
              <a:rPr sz="1600" b="1">
                <a:solidFill>
                  <a:srgbClr val="E8EAF2"/>
                </a:solidFill>
                <a:latin typeface="Segoe UI"/>
              </a:rPr>
              <a:t>Analytics</a:t>
            </a:r>
            <a:r>
              <a:rPr sz="1600" b="0">
                <a:solidFill>
                  <a:srgbClr val="E8EAF2"/>
                </a:solidFill>
                <a:latin typeface="Segoe UI"/>
              </a:rPr>
              <a:t>, </a:t>
            </a:r>
            <a:r>
              <a:rPr sz="1600" b="1">
                <a:solidFill>
                  <a:srgbClr val="E8EAF2"/>
                </a:solidFill>
                <a:latin typeface="Segoe UI"/>
              </a:rPr>
              <a:t>Results</a:t>
            </a:r>
            <a:r>
              <a:rPr sz="1600" b="0">
                <a:solidFill>
                  <a:srgbClr val="E8EAF2"/>
                </a:solidFill>
                <a:latin typeface="Segoe UI"/>
              </a:rPr>
              <a:t>, </a:t>
            </a:r>
            <a:r>
              <a:rPr sz="1600" b="1">
                <a:solidFill>
                  <a:srgbClr val="E8EAF2"/>
                </a:solidFill>
                <a:latin typeface="Segoe UI"/>
              </a:rPr>
              <a:t>YOLO</a:t>
            </a:r>
            <a:r>
              <a:rPr sz="1600" b="0">
                <a:solidFill>
                  <a:srgbClr val="E8EAF2"/>
                </a:solidFill>
                <a:latin typeface="Segoe UI"/>
              </a:rPr>
              <a:t>, </a:t>
            </a:r>
            <a:r>
              <a:rPr sz="1600" b="1">
                <a:solidFill>
                  <a:srgbClr val="E8EAF2"/>
                </a:solidFill>
                <a:latin typeface="Segoe UI"/>
              </a:rPr>
              <a:t>MedSAM2</a:t>
            </a:r>
            <a:r>
              <a:rPr sz="1600" b="0">
                <a:solidFill>
                  <a:srgbClr val="E8EAF2"/>
                </a:solidFill>
                <a:latin typeface="Segoe UI"/>
              </a:rPr>
              <a:t>; every chart filters the others.</a:t>
            </a:r>
          </a:p>
          <a:p>
            <a:pPr algn="l">
              <a:spcAft>
                <a:spcPts val="9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Median tumour 59 mL; </a:t>
            </a:r>
            <a:r>
              <a:rPr sz="1600" b="1">
                <a:solidFill>
                  <a:srgbClr val="E8EAF2"/>
                </a:solidFill>
                <a:latin typeface="Segoe UI"/>
              </a:rPr>
              <a:t>85%</a:t>
            </a:r>
            <a:r>
              <a:rPr sz="1600" b="0">
                <a:solidFill>
                  <a:srgbClr val="E8EAF2"/>
                </a:solidFill>
                <a:latin typeface="Segoe UI"/>
              </a:rPr>
              <a:t> of scans are after surgery; </a:t>
            </a:r>
            <a:r>
              <a:rPr sz="1600" b="1">
                <a:solidFill>
                  <a:srgbClr val="E8EAF2"/>
                </a:solidFill>
                <a:latin typeface="Segoe UI"/>
              </a:rPr>
              <a:t>73%</a:t>
            </a:r>
            <a:r>
              <a:rPr sz="1600" b="0">
                <a:solidFill>
                  <a:srgbClr val="E8EAF2"/>
                </a:solidFill>
                <a:latin typeface="Segoe UI"/>
              </a:rPr>
              <a:t> have several separate pieces.</a:t>
            </a:r>
          </a:p>
          <a:p>
            <a:pPr algn="l">
              <a:spcAft>
                <a:spcPts val="9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Tumours split evenly between the left (48%) and right (47%) brain.</a:t>
            </a:r>
          </a:p>
          <a:p>
            <a:pPr algn="l">
              <a:spcAft>
                <a:spcPts val="9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Used to check the split, find unusual patients and see where each model fails.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806440"/>
            <a:ext cx="11064240" cy="566928"/>
          </a:xfrm>
          <a:prstGeom prst="roundRect">
            <a:avLst>
              <a:gd name="adj" fmla="val 15000"/>
            </a:avLst>
          </a:prstGeom>
          <a:solidFill>
            <a:srgbClr val="1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806440"/>
            <a:ext cx="10744200" cy="5669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E8EAF2"/>
                </a:solidFill>
                <a:latin typeface="Segoe UI"/>
              </a:rPr>
              <a:t>Key takeaway:</a:t>
            </a:r>
            <a:r>
              <a:rPr sz="1600" b="0">
                <a:solidFill>
                  <a:srgbClr val="E8EAF2"/>
                </a:solidFill>
                <a:latin typeface="Segoe UI"/>
              </a:rPr>
              <a:t> Understanding sizes, sides and pieces explained where the models struggle.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E06A2E"/>
                </a:solidFill>
                <a:latin typeface="Segoe UI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0">
                <a:solidFill>
                  <a:srgbClr val="E8EAF2"/>
                </a:solidFill>
                <a:latin typeface="Segoe UI"/>
              </a:rPr>
              <a:t>The pipeline: YOLO finds, MedSAM2 refines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9AA0B8"/>
                </a:solidFill>
                <a:latin typeface="Segoe UI"/>
              </a:rPr>
              <a:t>8 / 15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1627632" cy="1737360"/>
          </a:xfrm>
          <a:prstGeom prst="roundRect">
            <a:avLst>
              <a:gd name="adj" fmla="val 8000"/>
            </a:avLst>
          </a:prstGeom>
          <a:solidFill>
            <a:srgbClr val="1A1F33"/>
          </a:solidFill>
          <a:ln w="12700">
            <a:solidFill>
              <a:srgbClr val="2A2F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1965960"/>
            <a:ext cx="1481328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E8EAF2"/>
                </a:solidFill>
                <a:latin typeface="Segoe UI"/>
              </a:rPr>
              <a:t>MRI slices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2468880"/>
            <a:ext cx="1481328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E8EAF2"/>
                </a:solidFill>
                <a:latin typeface="Segoe UI"/>
              </a:rPr>
              <a:t>T1C · T2 · FLAIR
as one picture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203704" y="2569464"/>
            <a:ext cx="210312" cy="256032"/>
          </a:xfrm>
          <a:prstGeom prst="rightArrow">
            <a:avLst/>
          </a:prstGeom>
          <a:solidFill>
            <a:srgbClr val="9AA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441448" y="1828800"/>
            <a:ext cx="1627632" cy="1737360"/>
          </a:xfrm>
          <a:prstGeom prst="roundRect">
            <a:avLst>
              <a:gd name="adj" fmla="val 8000"/>
            </a:avLst>
          </a:prstGeom>
          <a:solidFill>
            <a:srgbClr val="3987E5"/>
          </a:solidFill>
          <a:ln w="12700">
            <a:solidFill>
              <a:srgbClr val="2A2F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14600" y="1965960"/>
            <a:ext cx="1481328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YOLO11-seg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14600" y="2468880"/>
            <a:ext cx="1481328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FFFFFF"/>
                </a:solidFill>
                <a:latin typeface="Segoe UI"/>
              </a:rPr>
              <a:t>every slice
confidence ≥ 0.05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096512" y="2569464"/>
            <a:ext cx="210312" cy="256032"/>
          </a:xfrm>
          <a:prstGeom prst="rightArrow">
            <a:avLst/>
          </a:prstGeom>
          <a:solidFill>
            <a:srgbClr val="9AA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34256" y="1828800"/>
            <a:ext cx="1627632" cy="1737360"/>
          </a:xfrm>
          <a:prstGeom prst="roundRect">
            <a:avLst>
              <a:gd name="adj" fmla="val 8000"/>
            </a:avLst>
          </a:prstGeom>
          <a:solidFill>
            <a:srgbClr val="1A1F33"/>
          </a:solidFill>
          <a:ln w="12700">
            <a:solidFill>
              <a:srgbClr val="2A2F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07408" y="1965960"/>
            <a:ext cx="1481328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E8EAF2"/>
                </a:solidFill>
                <a:latin typeface="Segoe UI"/>
              </a:rPr>
              <a:t>Hint map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07408" y="2468880"/>
            <a:ext cx="1481328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E8EAF2"/>
                </a:solidFill>
                <a:latin typeface="Segoe UI"/>
              </a:rPr>
              <a:t>logit × 8
empty = 'no'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989320" y="2569464"/>
            <a:ext cx="210312" cy="256032"/>
          </a:xfrm>
          <a:prstGeom prst="rightArrow">
            <a:avLst/>
          </a:prstGeom>
          <a:solidFill>
            <a:srgbClr val="9AA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27064" y="1828800"/>
            <a:ext cx="1627632" cy="1737360"/>
          </a:xfrm>
          <a:prstGeom prst="roundRect">
            <a:avLst>
              <a:gd name="adj" fmla="val 8000"/>
            </a:avLst>
          </a:prstGeom>
          <a:solidFill>
            <a:srgbClr val="E06A2E"/>
          </a:solidFill>
          <a:ln w="12700">
            <a:solidFill>
              <a:srgbClr val="2A2F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965960"/>
            <a:ext cx="1481328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MedSAM2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2468880"/>
            <a:ext cx="1481328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FFFFFF"/>
                </a:solidFill>
                <a:latin typeface="Segoe UI"/>
              </a:rPr>
              <a:t>up &amp; down from start
memory: start + 6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7882128" y="2569464"/>
            <a:ext cx="210312" cy="256032"/>
          </a:xfrm>
          <a:prstGeom prst="rightArrow">
            <a:avLst/>
          </a:prstGeom>
          <a:solidFill>
            <a:srgbClr val="9AA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119872" y="1828800"/>
            <a:ext cx="1627632" cy="1737360"/>
          </a:xfrm>
          <a:prstGeom prst="roundRect">
            <a:avLst>
              <a:gd name="adj" fmla="val 8000"/>
            </a:avLst>
          </a:prstGeom>
          <a:solidFill>
            <a:srgbClr val="1A1F33"/>
          </a:solidFill>
          <a:ln w="12700">
            <a:solidFill>
              <a:srgbClr val="2A2F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93024" y="1965960"/>
            <a:ext cx="1481328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E8EAF2"/>
                </a:solidFill>
                <a:latin typeface="Segoe UI"/>
              </a:rPr>
              <a:t>Mirror check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93024" y="2468880"/>
            <a:ext cx="1481328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E8EAF2"/>
                </a:solidFill>
                <a:latin typeface="Segoe UI"/>
              </a:rPr>
              <a:t>mirror patient
and average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9774936" y="2569464"/>
            <a:ext cx="210312" cy="256032"/>
          </a:xfrm>
          <a:prstGeom prst="rightArrow">
            <a:avLst/>
          </a:prstGeom>
          <a:solidFill>
            <a:srgbClr val="9AA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012680" y="1828800"/>
            <a:ext cx="1627632" cy="1737360"/>
          </a:xfrm>
          <a:prstGeom prst="roundRect">
            <a:avLst>
              <a:gd name="adj" fmla="val 8000"/>
            </a:avLst>
          </a:prstGeom>
          <a:solidFill>
            <a:srgbClr val="1A1F33"/>
          </a:solidFill>
          <a:ln w="12700">
            <a:solidFill>
              <a:srgbClr val="2A2F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85832" y="1965960"/>
            <a:ext cx="1481328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E8EAF2"/>
                </a:solidFill>
                <a:latin typeface="Segoe UI"/>
              </a:rPr>
              <a:t>Final 3D mask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85832" y="2468880"/>
            <a:ext cx="1481328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E8EAF2"/>
                </a:solidFill>
                <a:latin typeface="Segoe UI"/>
              </a:rPr>
              <a:t>&gt; 50% = tumour
no pieces &lt; 100 vox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3886200"/>
            <a:ext cx="110642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E8EAF2"/>
                </a:solidFill>
                <a:latin typeface="Segoe UI"/>
              </a:rPr>
              <a:t>•  </a:t>
            </a:r>
            <a:r>
              <a:rPr sz="1700" b="1">
                <a:solidFill>
                  <a:srgbClr val="E8EAF2"/>
                </a:solidFill>
                <a:latin typeface="Segoe UI"/>
              </a:rPr>
              <a:t>Stage 1 (YOLO)</a:t>
            </a:r>
            <a:r>
              <a:rPr sz="1700" b="0">
                <a:solidFill>
                  <a:srgbClr val="E8EAF2"/>
                </a:solidFill>
                <a:latin typeface="Segoe UI"/>
              </a:rPr>
              <a:t> runs once per patient; its hint maps are saved.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E8EAF2"/>
                </a:solidFill>
                <a:latin typeface="Segoe UI"/>
              </a:rPr>
              <a:t>•  </a:t>
            </a:r>
            <a:r>
              <a:rPr sz="1700" b="1">
                <a:solidFill>
                  <a:srgbClr val="E8EAF2"/>
                </a:solidFill>
                <a:latin typeface="Segoe UI"/>
              </a:rPr>
              <a:t>Stage 2 (MedSAM2)</a:t>
            </a:r>
            <a:r>
              <a:rPr sz="1700" b="0">
                <a:solidFill>
                  <a:srgbClr val="E8EAF2"/>
                </a:solidFill>
                <a:latin typeface="Segoe UI"/>
              </a:rPr>
              <a:t> gets the picture </a:t>
            </a:r>
            <a:r>
              <a:rPr sz="1700" b="1">
                <a:solidFill>
                  <a:srgbClr val="E8EAF2"/>
                </a:solidFill>
                <a:latin typeface="Segoe UI"/>
              </a:rPr>
              <a:t>and</a:t>
            </a:r>
            <a:r>
              <a:rPr sz="1700" b="0">
                <a:solidFill>
                  <a:srgbClr val="E8EAF2"/>
                </a:solidFill>
                <a:latin typeface="Segoe UI"/>
              </a:rPr>
              <a:t> YOLO's hint on every slice, plus its memory of the slices it just did.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E8EAF2"/>
                </a:solidFill>
                <a:latin typeface="Segoe UI"/>
              </a:rPr>
              <a:t>•  Only at the very end is the 3D mask compared with the expert's (3D Dice).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5806440"/>
            <a:ext cx="11064240" cy="566928"/>
          </a:xfrm>
          <a:prstGeom prst="roundRect">
            <a:avLst>
              <a:gd name="adj" fmla="val 15000"/>
            </a:avLst>
          </a:prstGeom>
          <a:solidFill>
            <a:srgbClr val="1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5806440"/>
            <a:ext cx="10744200" cy="5669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E8EAF2"/>
                </a:solidFill>
                <a:latin typeface="Segoe UI"/>
              </a:rPr>
              <a:t>Key takeaway:</a:t>
            </a:r>
            <a:r>
              <a:rPr sz="1600" b="0">
                <a:solidFill>
                  <a:srgbClr val="E8EAF2"/>
                </a:solidFill>
                <a:latin typeface="Segoe UI"/>
              </a:rPr>
              <a:t> MedSAM2 doesn't search from scratch; it corrects YOLO's guess using the neighbouring slices.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E06A2E"/>
                </a:solidFill>
                <a:latin typeface="Segoe UI"/>
              </a:rPr>
              <a:t>METHOD ·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0">
                <a:solidFill>
                  <a:srgbClr val="E8EAF2"/>
                </a:solidFill>
                <a:latin typeface="Segoe UI"/>
              </a:rPr>
              <a:t>Stage 1: fine-tuning YOLO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9AA0B8"/>
                </a:solidFill>
                <a:latin typeface="Segoe UI"/>
              </a:rPr>
              <a:t>9 / 15</a:t>
            </a:r>
          </a:p>
        </p:txBody>
      </p:sp>
      <p:pic>
        <p:nvPicPr>
          <p:cNvPr id="5" name="Picture 4" descr="yo_eval_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3518" y="1325880"/>
            <a:ext cx="8274483" cy="3063240"/>
          </a:xfrm>
          <a:prstGeom prst="rect">
            <a:avLst/>
          </a:prstGeom>
          <a:ln w="9525">
            <a:solidFill>
              <a:srgbClr val="2A2F47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48640" y="4526280"/>
            <a:ext cx="5486400" cy="1234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E8EAF2"/>
                </a:solidFill>
                <a:latin typeface="Segoe UI"/>
              </a:rPr>
              <a:t>•  yolo11m-seg at 512 px, trained on the slices of 471 scans, </a:t>
            </a:r>
            <a:r>
              <a:rPr sz="1500" b="1">
                <a:solidFill>
                  <a:srgbClr val="E8EAF2"/>
                </a:solidFill>
                <a:latin typeface="Segoe UI"/>
              </a:rPr>
              <a:t>including empty ones</a:t>
            </a:r>
            <a:r>
              <a:rPr sz="1500" b="0">
                <a:solidFill>
                  <a:srgbClr val="E8EAF2"/>
                </a:solidFill>
                <a:latin typeface="Segoe UI"/>
              </a:rPr>
              <a:t>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E8EAF2"/>
                </a:solidFill>
                <a:latin typeface="Segoe UI"/>
              </a:rPr>
              <a:t>•  Best round picked on YOLO val; stopped early at round 32 of 60.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4526280"/>
            <a:ext cx="5394960" cy="1234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E8EAF2"/>
                </a:solidFill>
                <a:latin typeface="Segoe UI"/>
              </a:rPr>
              <a:t>•  Extras: confidence 0.05, mirror averaging, drop pieces &lt; 200 voxels (+0.006 val).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E8EAF2"/>
                </a:solidFill>
                <a:latin typeface="Segoe UI"/>
              </a:rPr>
              <a:t>•  </a:t>
            </a:r>
            <a:r>
              <a:rPr sz="1500" b="1">
                <a:solidFill>
                  <a:srgbClr val="E8EAF2"/>
                </a:solidFill>
                <a:latin typeface="Segoe UI"/>
              </a:rPr>
              <a:t>Test 3D Dice 0.8834</a:t>
            </a:r>
            <a:r>
              <a:rPr sz="1500" b="0">
                <a:solidFill>
                  <a:srgbClr val="E8EAF2"/>
                </a:solidFill>
                <a:latin typeface="Segoe UI"/>
              </a:rPr>
              <a:t> (median 0.909); found 93.8% of tumour slices.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806440"/>
            <a:ext cx="11064240" cy="566928"/>
          </a:xfrm>
          <a:prstGeom prst="roundRect">
            <a:avLst>
              <a:gd name="adj" fmla="val 15000"/>
            </a:avLst>
          </a:prstGeom>
          <a:solidFill>
            <a:srgbClr val="1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806440"/>
            <a:ext cx="10744200" cy="5669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E8EAF2"/>
                </a:solidFill>
                <a:latin typeface="Segoe UI"/>
              </a:rPr>
              <a:t>Key takeaway:</a:t>
            </a:r>
            <a:r>
              <a:rPr sz="1600" b="0">
                <a:solidFill>
                  <a:srgbClr val="E8EAF2"/>
                </a:solidFill>
                <a:latin typeface="Segoe UI"/>
              </a:rPr>
              <a:t> A strong 2D baseline: 0.883 3D Dice on 324 unseen test patients.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E06A2E"/>
                </a:solidFill>
                <a:latin typeface="Segoe UI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0">
                <a:solidFill>
                  <a:srgbClr val="E8EAF2"/>
                </a:solidFill>
                <a:latin typeface="Segoe UI"/>
              </a:rPr>
              <a:t>Stage 2: turning YOLO's output into a MedSAM2 hint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9AA0B8"/>
                </a:solidFill>
                <a:latin typeface="Segoe UI"/>
              </a:rPr>
              <a:t>10 / 15</a:t>
            </a:r>
          </a:p>
        </p:txBody>
      </p:sp>
      <p:pic>
        <p:nvPicPr>
          <p:cNvPr id="5" name="Picture 4" descr="ms_view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9402" y="1371600"/>
            <a:ext cx="8742716" cy="2743200"/>
          </a:xfrm>
          <a:prstGeom prst="rect">
            <a:avLst/>
          </a:prstGeom>
          <a:ln w="9525">
            <a:solidFill>
              <a:srgbClr val="2A2F47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48640" y="4206240"/>
            <a:ext cx="5486400" cy="1554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Hint = YOLO's </a:t>
            </a:r>
            <a:r>
              <a:rPr sz="1600" b="1">
                <a:solidFill>
                  <a:srgbClr val="E8EAF2"/>
                </a:solidFill>
                <a:latin typeface="Segoe UI"/>
              </a:rPr>
              <a:t>probability per pixel</a:t>
            </a:r>
            <a:r>
              <a:rPr sz="1600" b="0">
                <a:solidFill>
                  <a:srgbClr val="E8EAF2"/>
                </a:solidFill>
                <a:latin typeface="Segoe UI"/>
              </a:rPr>
              <a:t> from every shape at confidence ≥ 0.05.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Turned into a </a:t>
            </a:r>
            <a:r>
              <a:rPr sz="1600" b="1">
                <a:solidFill>
                  <a:srgbClr val="E8EAF2"/>
                </a:solidFill>
                <a:latin typeface="Segoe UI"/>
              </a:rPr>
              <a:t>logit × 8</a:t>
            </a:r>
            <a:r>
              <a:rPr sz="1600" b="0">
                <a:solidFill>
                  <a:srgbClr val="E8EAF2"/>
                </a:solidFill>
                <a:latin typeface="Segoe UI"/>
              </a:rPr>
              <a:t> (−44 … +44): MedSAM2's own scale, where 0 = 50%.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4206240"/>
            <a:ext cx="5394960" cy="1554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Empty slices and outside the head get a firm </a:t>
            </a:r>
            <a:r>
              <a:rPr sz="1600" b="1">
                <a:solidFill>
                  <a:srgbClr val="E8EAF2"/>
                </a:solidFill>
                <a:latin typeface="Segoe UI"/>
              </a:rPr>
              <a:t>'nothing here'</a:t>
            </a:r>
            <a:r>
              <a:rPr sz="1600" b="0">
                <a:solidFill>
                  <a:srgbClr val="E8EAF2"/>
                </a:solidFill>
                <a:latin typeface="Segoe UI"/>
              </a:rPr>
              <a:t> (−20).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Every slice is hinted; memory carries the start slice + the last 6 slices.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806440"/>
            <a:ext cx="11064240" cy="566928"/>
          </a:xfrm>
          <a:prstGeom prst="roundRect">
            <a:avLst>
              <a:gd name="adj" fmla="val 15000"/>
            </a:avLst>
          </a:prstGeom>
          <a:solidFill>
            <a:srgbClr val="1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806440"/>
            <a:ext cx="10744200" cy="5669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E8EAF2"/>
                </a:solidFill>
                <a:latin typeface="Segoe UI"/>
              </a:rPr>
              <a:t>Key takeaway:</a:t>
            </a:r>
            <a:r>
              <a:rPr sz="1600" b="0">
                <a:solidFill>
                  <a:srgbClr val="E8EAF2"/>
                </a:solidFill>
                <a:latin typeface="Segoe UI"/>
              </a:rPr>
              <a:t> YOLO's soft guess plus 3D memory lets MedSAM2 fix single-slice mistakes.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E06A2E"/>
                </a:solidFill>
                <a:latin typeface="Segoe UI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0">
                <a:solidFill>
                  <a:srgbClr val="E8EAF2"/>
                </a:solidFill>
                <a:latin typeface="Segoe UI"/>
              </a:rPr>
              <a:t>Training MedSAM2 to fix, not copy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9AA0B8"/>
                </a:solidFill>
                <a:latin typeface="Segoe UI"/>
              </a:rPr>
              <a:t>11 / 15</a:t>
            </a:r>
          </a:p>
        </p:txBody>
      </p:sp>
      <p:pic>
        <p:nvPicPr>
          <p:cNvPr id="5" name="Picture 4" descr="ms_training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16879"/>
            <a:ext cx="6400800" cy="4007122"/>
          </a:xfrm>
          <a:prstGeom prst="rect">
            <a:avLst/>
          </a:prstGeom>
          <a:ln w="9525">
            <a:solidFill>
              <a:srgbClr val="2A2F47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7223760" y="1463040"/>
            <a:ext cx="4389120" cy="4297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AF2"/>
                </a:solidFill>
                <a:latin typeface="Segoe UI"/>
              </a:rPr>
              <a:t>•  500 training scans, clips of 8 slices, 15 rounds; best round checked on 80 val scans.</a:t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AF2"/>
                </a:solidFill>
                <a:latin typeface="Segoe UI"/>
              </a:rPr>
              <a:t>•  </a:t>
            </a:r>
            <a:r>
              <a:rPr sz="1500" b="1">
                <a:solidFill>
                  <a:srgbClr val="E8EAF2"/>
                </a:solidFill>
                <a:latin typeface="Segoe UI"/>
              </a:rPr>
              <a:t>Trained:</a:t>
            </a:r>
            <a:r>
              <a:rPr sz="1500" b="0">
                <a:solidFill>
                  <a:srgbClr val="E8EAF2"/>
                </a:solidFill>
                <a:latin typeface="Segoe UI"/>
              </a:rPr>
              <a:t> mask decoder + prompt encoder (lr 1e-4) and memory (1e-5) = 11.7 M weights (30%).</a:t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AF2"/>
                </a:solidFill>
                <a:latin typeface="Segoe UI"/>
              </a:rPr>
              <a:t>•  </a:t>
            </a:r>
            <a:r>
              <a:rPr sz="1500" b="1">
                <a:solidFill>
                  <a:srgbClr val="E8EAF2"/>
                </a:solidFill>
                <a:latin typeface="Segoe UI"/>
              </a:rPr>
              <a:t>Frozen:</a:t>
            </a:r>
            <a:r>
              <a:rPr sz="1500" b="0">
                <a:solidFill>
                  <a:srgbClr val="E8EAF2"/>
                </a:solidFill>
                <a:latin typeface="Segoe UI"/>
              </a:rPr>
              <a:t> the image encoder (70% of weights); training it too gave no gain.</a:t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AF2"/>
                </a:solidFill>
                <a:latin typeface="Segoe UI"/>
              </a:rPr>
              <a:t>•  </a:t>
            </a:r>
            <a:r>
              <a:rPr sz="1500" b="1">
                <a:solidFill>
                  <a:srgbClr val="E8EAF2"/>
                </a:solidFill>
                <a:latin typeface="Segoe UI"/>
              </a:rPr>
              <a:t>30% of training hints damaged on purpose</a:t>
            </a:r>
            <a:r>
              <a:rPr sz="1500" b="0">
                <a:solidFill>
                  <a:srgbClr val="E8EAF2"/>
                </a:solidFill>
                <a:latin typeface="Segoe UI"/>
              </a:rPr>
              <a:t> (dropped, shifted, grown, shrunk) while the answer stays the expert's.</a:t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AF2"/>
                </a:solidFill>
                <a:latin typeface="Segoe UI"/>
              </a:rPr>
              <a:t>•  Loss: Dice + cross-entropy (+ small IoU and object terms).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5806440"/>
            <a:ext cx="11064240" cy="566928"/>
          </a:xfrm>
          <a:prstGeom prst="roundRect">
            <a:avLst>
              <a:gd name="adj" fmla="val 15000"/>
            </a:avLst>
          </a:prstGeom>
          <a:solidFill>
            <a:srgbClr val="1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806440"/>
            <a:ext cx="10744200" cy="5669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E8EAF2"/>
                </a:solidFill>
                <a:latin typeface="Segoe UI"/>
              </a:rPr>
              <a:t>Key takeaway:</a:t>
            </a:r>
            <a:r>
              <a:rPr sz="1600" b="0">
                <a:solidFill>
                  <a:srgbClr val="E8EAF2"/>
                </a:solidFill>
                <a:latin typeface="Segoe UI"/>
              </a:rPr>
              <a:t> Train only the small parts that read the hint and carry memory; keep the big image encoder frozen.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E06A2E"/>
                </a:solidFill>
                <a:latin typeface="Segoe UI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0">
                <a:solidFill>
                  <a:srgbClr val="E8EAF2"/>
                </a:solidFill>
                <a:latin typeface="Segoe UI"/>
              </a:rPr>
              <a:t>Results: MedSAM2 beats YOLO's best on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9AA0B8"/>
                </a:solidFill>
                <a:latin typeface="Segoe UI"/>
              </a:rPr>
              <a:t>12 / 15</a:t>
            </a:r>
          </a:p>
        </p:txBody>
      </p:sp>
      <p:pic>
        <p:nvPicPr>
          <p:cNvPr id="5" name="Picture 4" descr="chart_fina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71930"/>
            <a:ext cx="6035039" cy="3697020"/>
          </a:xfrm>
          <a:prstGeom prst="rect">
            <a:avLst/>
          </a:prstGeom>
          <a:ln w="9525">
            <a:solidFill>
              <a:srgbClr val="2A2F47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858000" y="1463040"/>
            <a:ext cx="4754880" cy="4297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</a:t>
            </a:r>
            <a:r>
              <a:rPr sz="1600" b="1">
                <a:solidFill>
                  <a:srgbClr val="E8EAF2"/>
                </a:solidFill>
                <a:latin typeface="Segoe UI"/>
              </a:rPr>
              <a:t>0.8988</a:t>
            </a:r>
            <a:r>
              <a:rPr sz="1600" b="0">
                <a:solidFill>
                  <a:srgbClr val="E8EAF2"/>
                </a:solidFill>
                <a:latin typeface="Segoe UI"/>
              </a:rPr>
              <a:t> vs </a:t>
            </a:r>
            <a:r>
              <a:rPr sz="1600" b="1">
                <a:solidFill>
                  <a:srgbClr val="E8EAF2"/>
                </a:solidFill>
                <a:latin typeface="Segoe UI"/>
              </a:rPr>
              <a:t>0.8834</a:t>
            </a:r>
            <a:r>
              <a:rPr sz="1600" b="0">
                <a:solidFill>
                  <a:srgbClr val="E8EAF2"/>
                </a:solidFill>
                <a:latin typeface="Segoe UI"/>
              </a:rPr>
              <a:t> mean 3D Dice on the same 324 test patients.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Gain </a:t>
            </a:r>
            <a:r>
              <a:rPr sz="1600" b="1">
                <a:solidFill>
                  <a:srgbClr val="E8EAF2"/>
                </a:solidFill>
                <a:latin typeface="Segoe UI"/>
              </a:rPr>
              <a:t>+0.0154</a:t>
            </a:r>
            <a:r>
              <a:rPr sz="1600" b="0">
                <a:solidFill>
                  <a:srgbClr val="E8EAF2"/>
                </a:solidFill>
                <a:latin typeface="Segoe UI"/>
              </a:rPr>
              <a:t> (95% CI +0.012 … +0.019); Wilcoxon p &lt; 10⁻³³.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</a:t>
            </a:r>
            <a:r>
              <a:rPr sz="1600" b="1">
                <a:solidFill>
                  <a:srgbClr val="E8EAF2"/>
                </a:solidFill>
                <a:latin typeface="Segoe UI"/>
              </a:rPr>
              <a:t>185 patients better, 18 worse</a:t>
            </a:r>
            <a:r>
              <a:rPr sz="1600" b="0">
                <a:solidFill>
                  <a:srgbClr val="E8EAF2"/>
                </a:solidFill>
                <a:latin typeface="Segoe UI"/>
              </a:rPr>
              <a:t> (by more than 0.01); the rest about the same.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Found 96.9% of tumour slices and kept 96.4% of empty slices empty.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Settings were picked on val; test was scored once.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5806440"/>
            <a:ext cx="11064240" cy="566928"/>
          </a:xfrm>
          <a:prstGeom prst="roundRect">
            <a:avLst>
              <a:gd name="adj" fmla="val 15000"/>
            </a:avLst>
          </a:prstGeom>
          <a:solidFill>
            <a:srgbClr val="1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806440"/>
            <a:ext cx="10744200" cy="5669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E8EAF2"/>
                </a:solidFill>
                <a:latin typeface="Segoe UI"/>
              </a:rPr>
              <a:t>Key takeaway:</a:t>
            </a:r>
            <a:r>
              <a:rPr sz="1600" b="0">
                <a:solidFill>
                  <a:srgbClr val="E8EAF2"/>
                </a:solidFill>
                <a:latin typeface="Segoe UI"/>
              </a:rPr>
              <a:t> Adding MedSAM2 gives a consistent, statistically clear gain over the best YOLO.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E06A2E"/>
                </a:solidFill>
                <a:latin typeface="Segoe UI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0">
                <a:solidFill>
                  <a:srgbClr val="E8EAF2"/>
                </a:solidFill>
                <a:latin typeface="Segoe UI"/>
              </a:rPr>
              <a:t>Where it works, and where it struggles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9AA0B8"/>
                </a:solidFill>
                <a:latin typeface="Segoe UI"/>
              </a:rPr>
              <a:t>13 / 15</a:t>
            </a:r>
          </a:p>
        </p:txBody>
      </p:sp>
      <p:pic>
        <p:nvPicPr>
          <p:cNvPr id="5" name="Picture 4" descr="chart_side_si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9429" y="1325880"/>
            <a:ext cx="5667782" cy="2697480"/>
          </a:xfrm>
          <a:prstGeom prst="rect">
            <a:avLst/>
          </a:prstGeom>
          <a:ln w="9525">
            <a:solidFill>
              <a:srgbClr val="2A2F47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869429" y="4059936"/>
            <a:ext cx="5667782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9AA0B8"/>
                </a:solidFill>
                <a:latin typeface="Segoe UI"/>
              </a:rPr>
              <a:t>Mean MedSAM2 3D Dice by side (rows) and tumour size (columns), test</a:t>
            </a:r>
          </a:p>
        </p:txBody>
      </p:sp>
      <p:pic>
        <p:nvPicPr>
          <p:cNvPr id="7" name="Picture 6" descr="ms_patient_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480" y="4389120"/>
            <a:ext cx="5339680" cy="1325880"/>
          </a:xfrm>
          <a:prstGeom prst="rect">
            <a:avLst/>
          </a:prstGeom>
          <a:ln w="9525">
            <a:solidFill>
              <a:srgbClr val="2A2F47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132320" y="1463040"/>
            <a:ext cx="4480560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8EAF2"/>
                </a:solidFill>
                <a:latin typeface="Segoe UI"/>
              </a:rPr>
              <a:t>•  </a:t>
            </a:r>
            <a:r>
              <a:rPr sz="1500" b="1">
                <a:solidFill>
                  <a:srgbClr val="E8EAF2"/>
                </a:solidFill>
                <a:latin typeface="Segoe UI"/>
              </a:rPr>
              <a:t>Size matters, side doesn't:</a:t>
            </a:r>
            <a:r>
              <a:rPr sz="1500" b="0">
                <a:solidFill>
                  <a:srgbClr val="E8EAF2"/>
                </a:solidFill>
                <a:latin typeface="Segoe UI"/>
              </a:rPr>
              <a:t> about 0.67–0.73 for tumours under 10 mL vs about 0.93 for 100 mL and up; left ≈ right.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8EAF2"/>
                </a:solidFill>
                <a:latin typeface="Segoe UI"/>
              </a:rPr>
              <a:t>•  The </a:t>
            </a:r>
            <a:r>
              <a:rPr sz="1500" b="1">
                <a:solidFill>
                  <a:srgbClr val="E8EAF2"/>
                </a:solidFill>
                <a:latin typeface="Segoe UI"/>
              </a:rPr>
              <a:t>biggest gains</a:t>
            </a:r>
            <a:r>
              <a:rPr sz="1500" b="0">
                <a:solidFill>
                  <a:srgbClr val="E8EAF2"/>
                </a:solidFill>
                <a:latin typeface="Segoe UI"/>
              </a:rPr>
              <a:t> over YOLO are on </a:t>
            </a:r>
            <a:r>
              <a:rPr sz="1500" b="1">
                <a:solidFill>
                  <a:srgbClr val="E8EAF2"/>
                </a:solidFill>
                <a:latin typeface="Segoe UI"/>
              </a:rPr>
              <a:t>small tumours</a:t>
            </a:r>
            <a:r>
              <a:rPr sz="1500" b="0">
                <a:solidFill>
                  <a:srgbClr val="E8EAF2"/>
                </a:solidFill>
                <a:latin typeface="Segoe UI"/>
              </a:rPr>
              <a:t>.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8EAF2"/>
                </a:solidFill>
                <a:latin typeface="Segoe UI"/>
              </a:rPr>
              <a:t>•  Slice by slice (bottom): MedSAM2 follows the tumour through memory and </a:t>
            </a:r>
            <a:r>
              <a:rPr sz="1500" b="1">
                <a:solidFill>
                  <a:srgbClr val="E8EAF2"/>
                </a:solidFill>
                <a:latin typeface="Segoe UI"/>
              </a:rPr>
              <a:t>rejects YOLO's isolated false alarms</a:t>
            </a:r>
            <a:r>
              <a:rPr sz="1500" b="0">
                <a:solidFill>
                  <a:srgbClr val="E8EAF2"/>
                </a:solidFill>
                <a:latin typeface="Segoe UI"/>
              </a:rPr>
              <a:t>.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8EAF2"/>
                </a:solidFill>
                <a:latin typeface="Segoe UI"/>
              </a:rPr>
              <a:t>•  Few patients in some groups (e.g. 'both sides': 17), so those squares are noisy.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5806440"/>
            <a:ext cx="11064240" cy="566928"/>
          </a:xfrm>
          <a:prstGeom prst="roundRect">
            <a:avLst>
              <a:gd name="adj" fmla="val 15000"/>
            </a:avLst>
          </a:prstGeom>
          <a:solidFill>
            <a:srgbClr val="1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806440"/>
            <a:ext cx="10744200" cy="5669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E8EAF2"/>
                </a:solidFill>
                <a:latin typeface="Segoe UI"/>
              </a:rPr>
              <a:t>Key takeaway:</a:t>
            </a:r>
            <a:r>
              <a:rPr sz="1600" b="0">
                <a:solidFill>
                  <a:srgbClr val="E8EAF2"/>
                </a:solidFill>
                <a:latin typeface="Segoe UI"/>
              </a:rPr>
              <a:t> Tiny tumours remain the weak spot, and they are where MedSAM2 helps most.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E06A2E"/>
                </a:solidFill>
                <a:latin typeface="Segoe UI"/>
              </a:rPr>
              <a:t>EXPERIMENTS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0">
                <a:solidFill>
                  <a:srgbClr val="E8EAF2"/>
                </a:solidFill>
                <a:latin typeface="Segoe UI"/>
              </a:rPr>
              <a:t>What we tried and what we learned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9AA0B8"/>
                </a:solidFill>
                <a:latin typeface="Segoe UI"/>
              </a:rPr>
              <a:t>14 / 15</a:t>
            </a:r>
          </a:p>
        </p:txBody>
      </p:sp>
      <p:pic>
        <p:nvPicPr>
          <p:cNvPr id="5" name="Picture 4" descr="chart_experim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13017"/>
            <a:ext cx="5669280" cy="2934686"/>
          </a:xfrm>
          <a:prstGeom prst="rect">
            <a:avLst/>
          </a:prstGeom>
          <a:ln w="9525">
            <a:solidFill>
              <a:srgbClr val="2A2F47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48640" y="4384279"/>
            <a:ext cx="56692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9AA0B8"/>
                </a:solidFill>
                <a:latin typeface="Segoe UI"/>
              </a:rPr>
              <a:t>Settings experiments (val): only the green change was statistically real</a:t>
            </a:r>
          </a:p>
        </p:txBody>
      </p:sp>
      <p:pic>
        <p:nvPicPr>
          <p:cNvPr id="7" name="Picture 6" descr="chart_erro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776625"/>
            <a:ext cx="5212080" cy="2207469"/>
          </a:xfrm>
          <a:prstGeom prst="rect">
            <a:avLst/>
          </a:prstGeom>
          <a:ln w="9525">
            <a:solidFill>
              <a:srgbClr val="2A2F47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400800" y="4020670"/>
            <a:ext cx="52120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9AA0B8"/>
                </a:solidFill>
                <a:latin typeface="Segoe UI"/>
              </a:rPr>
              <a:t>Where the remaining wrong voxels are (val)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709160"/>
            <a:ext cx="11064240" cy="1051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E8EAF2"/>
                </a:solidFill>
                <a:latin typeface="Segoe UI"/>
              </a:rPr>
              <a:t>•  First design (only the start slice prompted, plus extra correction rounds) made things </a:t>
            </a:r>
            <a:r>
              <a:rPr sz="1500" b="1">
                <a:solidFill>
                  <a:srgbClr val="E8EAF2"/>
                </a:solidFill>
                <a:latin typeface="Segoe UI"/>
              </a:rPr>
              <a:t>worse</a:t>
            </a:r>
            <a:r>
              <a:rPr sz="1500" b="0">
                <a:solidFill>
                  <a:srgbClr val="E8EAF2"/>
                </a:solidFill>
                <a:latin typeface="Segoe UI"/>
              </a:rPr>
              <a:t> than YOLO (0.856 vs 0.864, val); hinting </a:t>
            </a:r>
            <a:r>
              <a:rPr sz="1500" b="1">
                <a:solidFill>
                  <a:srgbClr val="E8EAF2"/>
                </a:solidFill>
                <a:latin typeface="Segoe UI"/>
              </a:rPr>
              <a:t>every</a:t>
            </a:r>
            <a:r>
              <a:rPr sz="1500" b="0">
                <a:solidFill>
                  <a:srgbClr val="E8EAF2"/>
                </a:solidFill>
                <a:latin typeface="Segoe UI"/>
              </a:rPr>
              <a:t> slice fixed it.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E8EAF2"/>
                </a:solidFill>
                <a:latin typeface="Segoe UI"/>
              </a:rPr>
              <a:t>•  Most settings changes moved Dice by ≤ 0.001: </a:t>
            </a:r>
            <a:r>
              <a:rPr sz="1500" b="1">
                <a:solidFill>
                  <a:srgbClr val="E8EAF2"/>
                </a:solidFill>
                <a:latin typeface="Segoe UI"/>
              </a:rPr>
              <a:t>96% of the remaining error is at the tumour edge</a:t>
            </a:r>
            <a:r>
              <a:rPr sz="1500" b="0">
                <a:solidFill>
                  <a:srgbClr val="E8EAF2"/>
                </a:solidFill>
                <a:latin typeface="Segoe UI"/>
              </a:rPr>
              <a:t>, not in finding the tumour.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5806440"/>
            <a:ext cx="11064240" cy="566928"/>
          </a:xfrm>
          <a:prstGeom prst="roundRect">
            <a:avLst>
              <a:gd name="adj" fmla="val 15000"/>
            </a:avLst>
          </a:prstGeom>
          <a:solidFill>
            <a:srgbClr val="1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806440"/>
            <a:ext cx="10744200" cy="5669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E8EAF2"/>
                </a:solidFill>
                <a:latin typeface="Segoe UI"/>
              </a:rPr>
              <a:t>Key takeaway:</a:t>
            </a:r>
            <a:r>
              <a:rPr sz="1600" b="0">
                <a:solidFill>
                  <a:srgbClr val="E8EAF2"/>
                </a:solidFill>
                <a:latin typeface="Segoe UI"/>
              </a:rPr>
              <a:t> Design mattered more than tuning; what's left to win is edge precision.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E06A2E"/>
                </a:solidFill>
                <a:latin typeface="Segoe UI"/>
              </a:rPr>
              <a:t>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0">
                <a:solidFill>
                  <a:srgbClr val="E8EAF2"/>
                </a:solidFill>
                <a:latin typeface="Segoe UI"/>
              </a:rPr>
              <a:t>Future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9AA0B8"/>
                </a:solidFill>
                <a:latin typeface="Segoe UI"/>
              </a:rPr>
              <a:t>15 / 15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3566160" cy="4023360"/>
          </a:xfrm>
          <a:prstGeom prst="rect">
            <a:avLst/>
          </a:prstGeom>
          <a:solidFill>
            <a:srgbClr val="1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E06A2E"/>
                </a:solidFill>
                <a:latin typeface="Segoe UI"/>
              </a:rPr>
              <a:t>Sharper edges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240280"/>
            <a:ext cx="3200400" cy="3200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Average several trained MedSAM2 runs (an ensemble), with no new training.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Edge-focused training loss.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Finer output: scans are 182 × 218, the model works at 512 × 512.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79" y="1463040"/>
            <a:ext cx="3566160" cy="4023360"/>
          </a:xfrm>
          <a:prstGeom prst="rect">
            <a:avLst/>
          </a:prstGeom>
          <a:solidFill>
            <a:srgbClr val="1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59" y="164592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3987E5"/>
                </a:solidFill>
                <a:latin typeface="Segoe UI"/>
              </a:rPr>
              <a:t>Hints &amp; small tumours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59" y="2240280"/>
            <a:ext cx="3200400" cy="3200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Weigh hint pixels by shape confidence ('max_weighted').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Give YOLO 3D context (neighbouring slices).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Train more on tumours under 10 mL.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19" y="1463040"/>
            <a:ext cx="3566160" cy="4023360"/>
          </a:xfrm>
          <a:prstGeom prst="rect">
            <a:avLst/>
          </a:prstGeom>
          <a:solidFill>
            <a:srgbClr val="1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599" y="164592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2FB35C"/>
                </a:solidFill>
                <a:latin typeface="Segoe UI"/>
              </a:rPr>
              <a:t>Beyond this project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9" y="2240280"/>
            <a:ext cx="3200400" cy="3200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Predict the tumour parts (ET, NETC, SNFH), not only the whole tumour.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Test on other hospitals' scans.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E8EAF2"/>
                </a:solidFill>
                <a:latin typeface="Segoe UI"/>
              </a:rPr>
              <a:t>•  Remove the test/train people overlap; measure speed.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5806440"/>
            <a:ext cx="11064240" cy="566928"/>
          </a:xfrm>
          <a:prstGeom prst="roundRect">
            <a:avLst>
              <a:gd name="adj" fmla="val 15000"/>
            </a:avLst>
          </a:prstGeom>
          <a:solidFill>
            <a:srgbClr val="1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5806440"/>
            <a:ext cx="10744200" cy="5669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E8EAF2"/>
                </a:solidFill>
                <a:latin typeface="Segoe UI"/>
              </a:rPr>
              <a:t>Key takeaway:</a:t>
            </a:r>
            <a:r>
              <a:rPr sz="1600" b="0">
                <a:solidFill>
                  <a:srgbClr val="E8EAF2"/>
                </a:solidFill>
                <a:latin typeface="Segoe UI"/>
              </a:rPr>
              <a:t> Next gains come from sharper edges and small tumours, then proving it on outside data.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